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Greet the panel, introduce yourself, and state the project name and one-line purpose: 'EasyBus Pro is a bus ticket booking web application built during my internship at DayLearner Private Limited using Python, Flask and SQLite3.' Keep this slide on screen for under 30 seconds.</a:t>
            </a:r>
          </a:p>
          <a:p/>
          <a:p>
            <a:r>
              <a:t>ANIMATION SUGGESTION: Fade-in the title text, then a subtle wipe-in for the detail rows (top to bottom, 0.2s stagger).</a:t>
            </a:r>
          </a:p>
          <a:p>
            <a:r>
              <a:t>TRANSITION SUGGESTION: Morph or Fade into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Briefly explain the internship structure — 8 weeks at DayLearner Private Limited, working under weekly milestone reviews. Mention that the objective was to learn the full web development cycle (not just theory) by building one complete project end-to-end.</a:t>
            </a:r>
          </a:p>
          <a:p/>
          <a:p>
            <a:r>
              <a:t>ANIMATION SUGGESTION: Animate the four info cards with a 'Fly in from bottom' effect (staggered 0.15s each), then animate the timeline dots left-to-right with 'Appear'.</a:t>
            </a:r>
          </a:p>
          <a:p>
            <a:r>
              <a:t>TRANSITION SUGGESTION: Push (left) from Slide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State the real-world problem in one sentence, then pivot to what the project achieves. Keep the tone practical — this is the 'why' slide before you show 'how'.</a:t>
            </a:r>
          </a:p>
          <a:p/>
          <a:p>
            <a:r>
              <a:t>ANIMATION SUGGESTION: Left card content 'Fade' in as one block; right stat cards 'Fly in from right' staggered.</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Walk through the manual process quickly (5 steps), then highlight the four problem cards. Use a real example if asked: 'I had to call three operators separately to compare fares before a trip.'</a:t>
            </a:r>
          </a:p>
          <a:p/>
          <a:p>
            <a:r>
              <a:t>ANIMATION SUGGESTION: Animate the 5-step flow left-to-right with connecting arrows using 'Wipe' entrance; problem cards 'Fly in from bottom' staggered.</a:t>
            </a:r>
          </a:p>
          <a:p>
            <a:r>
              <a:t>TRANSITION SUGGESTION: Push (left).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Mirror the structure of the previous slide so the panel sees a direct before/after contrast. Emphasize that every advantage maps to a limitation just shown.</a:t>
            </a:r>
          </a:p>
          <a:p/>
          <a:p>
            <a:r>
              <a:t>ANIMATION SUGGESTION: Flow boxes animate with 'Zoom' one after another; advantage cards use 'Fade' staggered.</a:t>
            </a:r>
          </a:p>
          <a:p>
            <a:r>
              <a:t>TRANSITION SUGGESTION: Morph (to visually connect from Slide 4's flow into this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For each technology, give ONE reason it was chosen (already written on-card). If asked 'why not Django/Bootstrap?', explain the internship goal was to learn fundamentals directly (raw SQL, hand-written CSS) rather than rely on an abstraction layer.</a:t>
            </a:r>
          </a:p>
          <a:p/>
          <a:p>
            <a:r>
              <a:t>ANIMATION SUGGESTION: Grid cards 'Wipe' in row by row.</a:t>
            </a:r>
          </a:p>
          <a:p>
            <a:r>
              <a:t>TRANSITION SUGGESTION: Push (left).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Explain this as the request-response cycle. Point out that the browser NEVER talks to the database directly — Flask is the only layer allowed to do that. This is the three-tier architecture (presentation / application / data).</a:t>
            </a:r>
          </a:p>
          <a:p/>
          <a:p>
            <a:r>
              <a:t>ANIMATION SUGGESTION: Reveal each layer box top-to-bottom with 'Fade', arrows appearing right after each box; right-hand steps appear in sync with each layer.</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Point at BOOKINGS in the middle and explain it is the 'linking' table — one user can have many bookings, one bus can appear in many bookings. This is exactly the 1:N relationship pattern taught in DBMS.</a:t>
            </a:r>
          </a:p>
          <a:p/>
          <a:p>
            <a:r>
              <a:t>ANIMATION SUGGESTION: USERS and BUS tables 'Fly in' from left/right respectively, BOOKINGS 'Fades' in the centre, then both relationship arrows 'Wipe' in.</a:t>
            </a:r>
          </a:p>
          <a:p>
            <a:r>
              <a:t>TRANSITION SUGGESTION: Push (left).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Walk through the numbered path exactly as a real user would experience it. Mention that state (login session) and journey data (route/seats/amount) travel forward through this entire chain until the booking is written to the database.</a:t>
            </a:r>
          </a:p>
          <a:p/>
          <a:p>
            <a:r>
              <a:t>ANIMATION SUGGESTION: Reveal boxes 1-8 in numeric order using 'Appear', arrows drawing in between each ('Wipe').</a:t>
            </a:r>
          </a:p>
          <a:p>
            <a:r>
              <a:t>TRANSITION SUGGESTION: Push (left).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Do not read every card aloud — summarise: 'The application has 12 functional modules covering the complete journey from registration to logout, each backed by its own Flask route and template.' Point to 2-3 cards only (e.g. Seat Selection, Booking Confirmation).</a:t>
            </a:r>
          </a:p>
          <a:p/>
          <a:p>
            <a:r>
              <a:t>ANIMATION SUGGESTION: Grid 'Wipe' in row by row, fast (0.05s stagger) since there are 12 cards.</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These are live screenshots captured directly from the running application (same set used in the written internship report). Briefly narrate each screen in the order shown — 15-20 seconds total, since the live demo slide covers this in more depth.</a:t>
            </a:r>
          </a:p>
          <a:p/>
          <a:p>
            <a:r>
              <a:t>ANIMATION SUGGESTION: Screenshot cards 'Fade' in row by row.</a:t>
            </a:r>
          </a:p>
          <a:p>
            <a:r>
              <a:t>TRANSITION SUGGESTION: Push (left).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Emphasize that all SQL statements use ? placeholders (parameterised queries), which prevents SQL injection — demonstrated live during testing. Mention that UPDATE/DELETE are listed under Future Enhancements (profile edit, cancellation).</a:t>
            </a:r>
          </a:p>
          <a:p/>
          <a:p>
            <a:r>
              <a:t>ANIMATION SUGGESTION: Rows 'Fly in from left' top to bottom, 0.1s stagger.</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Pick 2-3 of these to narrate in detail if time-limited (the 'from' keyword issue is a good technical talking point — shows genuine debugging depth). State that every fix came from reading the actual error message, not guessing.</a:t>
            </a:r>
          </a:p>
          <a:p/>
          <a:p>
            <a:r>
              <a:t>ANIMATION SUGGESTION: Cards 'Fade' in two-by-two (row by row).</a:t>
            </a:r>
          </a:p>
          <a:p>
            <a:r>
              <a:t>TRANSITION SUGGESTION: Push (left).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State that testing was manual (unit + functional + integration + user acceptance) and reference the test-case tables in the written report (Tables 4.13-4.15). Mention automated testing with pytest as a noted gap / future improvement.</a:t>
            </a:r>
          </a:p>
          <a:p/>
          <a:p>
            <a:r>
              <a:t>ANIMATION SUGGESTION: Checkmarks 'Appear' one by one top to bottom with a short pause, like a checklist being ticked off live.</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This is a reflection slide — speak personally here rather than reading bullets. Give one concrete example per column (e.g. 'I learned to read a traceback bottom-up instead of guessing fixes').</a:t>
            </a:r>
          </a:p>
          <a:p/>
          <a:p>
            <a:r>
              <a:t>ANIMATION SUGGESTION: Left panel 'Fade', right panel 'Fly in from right'.</a:t>
            </a:r>
          </a:p>
          <a:p>
            <a:r>
              <a:t>TRANSITION SUGGESTION: Push (left).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Present this as a realistic roadmap, not a wish-list — mention that these arise directly from limitations documented during testing (e.g. plain-text passwords → hashing).</a:t>
            </a:r>
          </a:p>
          <a:p/>
          <a:p>
            <a:r>
              <a:t>ANIMATION SUGGESTION: Grid tiles 'Wipe' in row by row, quick stagger.</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Switch to the live application (or a recorded screen capture as backup) here. Follow the six steps in order. Keep narration short — let the working software speak for itself. Have the DB Browser for SQLite open in a second window to show the row appearing live.</a:t>
            </a:r>
          </a:p>
          <a:p/>
          <a:p>
            <a:r>
              <a:t>ANIMATION SUGGESTION: None needed — this slide is a launch pad into the live demo, keep it static so you can switch windows without a distracting animation mid-flow.</a:t>
            </a:r>
          </a:p>
          <a:p>
            <a:r>
              <a:t>TRANSITION SUGGESTION: Cut / None (minimise distraction before switching to the live app).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Close the technical narrative here. Speak in first person and be genuine rather than reading verbatim — this slide should feel like a personal summary, not a repeat of earlier slides.</a:t>
            </a:r>
          </a:p>
          <a:p/>
          <a:p>
            <a:r>
              <a:t>ANIMATION SUGGESTION: Rows 'Fade' in one at a time, slower pace (0.3s) to let the panel absorb each point.</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Read the names out if slide is being shown to the actual mentor/HOD/faculty in the room — fill in the mentor's actual name before presenting (currently a placeholder in the written report too).</a:t>
            </a:r>
          </a:p>
          <a:p/>
          <a:p>
            <a:r>
              <a:t>ANIMATION SUGGESTION: Cards 'Fly in from bottom' staggered.</a:t>
            </a:r>
          </a:p>
          <a:p>
            <a:r>
              <a:t>TRANSITION SUGGESTION: Fade.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Stop talking once this slide is shown — pause, smile, and invite questions. Have the live application still open in a background tab in case the panel wants to see a specific screen again.</a:t>
            </a:r>
          </a:p>
          <a:p/>
          <a:p>
            <a:r>
              <a:t>ANIMATION SUGGESTION: Icon badge 'Zoom' in, title 'Fade' in after, subtitle lines follow with a gentle stagger.</a:t>
            </a:r>
          </a:p>
          <a:p>
            <a:r>
              <a:t>TRANSITION SUGGESTION: Fade to black (end of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F"/>
        </a:solidFill>
        <a:effectLst/>
      </p:bgPr>
    </p:bg>
    <p:spTree>
      <p:nvGrpSpPr>
        <p:cNvPr id="1" name=""/>
        <p:cNvGrpSpPr/>
        <p:nvPr/>
      </p:nvGrpSpPr>
      <p:grpSpPr/>
      <p:sp>
        <p:nvSpPr>
          <p:cNvPr id="2" name="Rectangle 1"/>
          <p:cNvSpPr/>
          <p:nvPr/>
        </p:nvSpPr>
        <p:spPr>
          <a:xfrm>
            <a:off x="0" y="0"/>
            <a:ext cx="4206240" cy="6858000"/>
          </a:xfrm>
          <a:prstGeom prst="rect">
            <a:avLst/>
          </a:prstGeom>
          <a:solidFill>
            <a:srgbClr val="112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0" y="0"/>
            <a:ext cx="38100"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1188720"/>
            <a:ext cx="3291840" cy="329184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91840" y="5120640"/>
            <a:ext cx="2011680" cy="201168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502920"/>
            <a:ext cx="3200400" cy="2011680"/>
          </a:xfrm>
          <a:prstGeom prst="roundRect">
            <a:avLst>
              <a:gd name="adj" fmla="val 8000"/>
            </a:avLst>
          </a:prstGeom>
          <a:solidFill>
            <a:srgbClr val="0B1F3F"/>
          </a:solidFill>
          <a:ln w="15875">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051560"/>
            <a:ext cx="2834640" cy="1005840"/>
          </a:xfrm>
          <a:prstGeom prst="rect">
            <a:avLst/>
          </a:prstGeom>
          <a:noFill/>
        </p:spPr>
        <p:txBody>
          <a:bodyPr wrap="square" anchor="ctr" lIns="0" rIns="0" tIns="0" bIns="0">
            <a:spAutoFit/>
          </a:bodyPr>
          <a:lstStyle/>
          <a:p>
            <a:pPr algn="ctr"/>
            <a:r>
              <a:rPr sz="1150" b="0" i="1">
                <a:solidFill>
                  <a:srgbClr val="33A7E0"/>
                </a:solidFill>
                <a:latin typeface="Segoe UI"/>
              </a:rPr>
              <a:t>[ Suggested visual: flat-style bus / road</a:t>
            </a:r>
          </a:p>
          <a:p>
            <a:pPr algn="ctr"/>
            <a:r>
              <a:rPr sz="1150" b="0" i="1">
                <a:solidFill>
                  <a:srgbClr val="33A7E0"/>
                </a:solidFill>
                <a:latin typeface="Segoe UI"/>
              </a:rPr>
              <a:t>illustration or EasyBus Pro logo mark ]</a:t>
            </a:r>
          </a:p>
        </p:txBody>
      </p:sp>
      <p:sp>
        <p:nvSpPr>
          <p:cNvPr id="8" name="Oval 7"/>
          <p:cNvSpPr/>
          <p:nvPr/>
        </p:nvSpPr>
        <p:spPr>
          <a:xfrm>
            <a:off x="4777740" y="891540"/>
            <a:ext cx="685800" cy="6858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77740" y="8915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10" name="TextBox 9"/>
          <p:cNvSpPr txBox="1"/>
          <p:nvPr/>
        </p:nvSpPr>
        <p:spPr>
          <a:xfrm>
            <a:off x="4709160" y="2423160"/>
            <a:ext cx="6949440" cy="1188720"/>
          </a:xfrm>
          <a:prstGeom prst="rect">
            <a:avLst/>
          </a:prstGeom>
          <a:noFill/>
        </p:spPr>
        <p:txBody>
          <a:bodyPr wrap="square" anchor="t" lIns="0" rIns="0" tIns="0" bIns="0">
            <a:spAutoFit/>
          </a:bodyPr>
          <a:lstStyle/>
          <a:p>
            <a:pPr algn="l"/>
            <a:r>
              <a:rPr sz="5400" b="1" i="0">
                <a:solidFill>
                  <a:srgbClr val="FFFFFF"/>
                </a:solidFill>
                <a:latin typeface="Segoe UI"/>
              </a:rPr>
              <a:t>EasyBus Pro</a:t>
            </a:r>
          </a:p>
        </p:txBody>
      </p:sp>
      <p:sp>
        <p:nvSpPr>
          <p:cNvPr id="11" name="TextBox 10"/>
          <p:cNvSpPr txBox="1"/>
          <p:nvPr/>
        </p:nvSpPr>
        <p:spPr>
          <a:xfrm>
            <a:off x="4736592" y="3246120"/>
            <a:ext cx="6858000" cy="548640"/>
          </a:xfrm>
          <a:prstGeom prst="rect">
            <a:avLst/>
          </a:prstGeom>
          <a:noFill/>
        </p:spPr>
        <p:txBody>
          <a:bodyPr wrap="square" anchor="t" lIns="0" rIns="0" tIns="0" bIns="0">
            <a:spAutoFit/>
          </a:bodyPr>
          <a:lstStyle/>
          <a:p>
            <a:pPr algn="l"/>
            <a:r>
              <a:rPr sz="2200" b="0" i="0">
                <a:solidFill>
                  <a:srgbClr val="33A7E0"/>
                </a:solidFill>
                <a:latin typeface="Segoe UI"/>
              </a:rPr>
              <a:t>Bus Ticket Booking System</a:t>
            </a:r>
          </a:p>
        </p:txBody>
      </p:sp>
      <p:sp>
        <p:nvSpPr>
          <p:cNvPr id="12" name="Rectangle 11"/>
          <p:cNvSpPr/>
          <p:nvPr/>
        </p:nvSpPr>
        <p:spPr>
          <a:xfrm>
            <a:off x="4754880" y="3886200"/>
            <a:ext cx="1463040" cy="381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4160520"/>
            <a:ext cx="6766560" cy="365760"/>
          </a:xfrm>
          <a:prstGeom prst="rect">
            <a:avLst/>
          </a:prstGeom>
          <a:noFill/>
        </p:spPr>
        <p:txBody>
          <a:bodyPr wrap="square" anchor="t" lIns="0" rIns="0" tIns="0" bIns="0">
            <a:spAutoFit/>
          </a:bodyPr>
          <a:lstStyle/>
          <a:p>
            <a:pPr algn="l"/>
            <a:r>
              <a:rPr sz="1500" b="1" i="0">
                <a:solidFill>
                  <a:srgbClr val="FFFFFF"/>
                </a:solidFill>
                <a:latin typeface="Segoe UI"/>
              </a:rPr>
              <a:t>Internship Project Presentation</a:t>
            </a:r>
          </a:p>
        </p:txBody>
      </p:sp>
      <p:sp>
        <p:nvSpPr>
          <p:cNvPr id="14" name="TextBox 13"/>
          <p:cNvSpPr txBox="1"/>
          <p:nvPr/>
        </p:nvSpPr>
        <p:spPr>
          <a:xfrm>
            <a:off x="4754880" y="4617720"/>
            <a:ext cx="1920240" cy="292608"/>
          </a:xfrm>
          <a:prstGeom prst="rect">
            <a:avLst/>
          </a:prstGeom>
          <a:noFill/>
        </p:spPr>
        <p:txBody>
          <a:bodyPr wrap="square" anchor="t" lIns="0" rIns="0" tIns="0" bIns="0">
            <a:spAutoFit/>
          </a:bodyPr>
          <a:lstStyle/>
          <a:p>
            <a:pPr algn="l"/>
            <a:r>
              <a:rPr sz="1250" b="1" i="0">
                <a:solidFill>
                  <a:srgbClr val="33A7E0"/>
                </a:solidFill>
                <a:latin typeface="Segoe UI"/>
              </a:rPr>
              <a:t>Student</a:t>
            </a:r>
          </a:p>
        </p:txBody>
      </p:sp>
      <p:sp>
        <p:nvSpPr>
          <p:cNvPr id="15" name="TextBox 14"/>
          <p:cNvSpPr txBox="1"/>
          <p:nvPr/>
        </p:nvSpPr>
        <p:spPr>
          <a:xfrm>
            <a:off x="6537960" y="4617720"/>
            <a:ext cx="4937760" cy="292608"/>
          </a:xfrm>
          <a:prstGeom prst="rect">
            <a:avLst/>
          </a:prstGeom>
          <a:noFill/>
        </p:spPr>
        <p:txBody>
          <a:bodyPr wrap="square" anchor="t" lIns="0" rIns="0" tIns="0" bIns="0">
            <a:spAutoFit/>
          </a:bodyPr>
          <a:lstStyle/>
          <a:p>
            <a:pPr algn="l"/>
            <a:r>
              <a:rPr sz="1250" b="0" i="0">
                <a:solidFill>
                  <a:srgbClr val="FFFFFF"/>
                </a:solidFill>
                <a:latin typeface="Segoe UI"/>
              </a:rPr>
              <a:t>S. Sowmya  |  2023003449</a:t>
            </a:r>
          </a:p>
        </p:txBody>
      </p:sp>
      <p:sp>
        <p:nvSpPr>
          <p:cNvPr id="16" name="TextBox 15"/>
          <p:cNvSpPr txBox="1"/>
          <p:nvPr/>
        </p:nvSpPr>
        <p:spPr>
          <a:xfrm>
            <a:off x="4754880" y="4946904"/>
            <a:ext cx="1920240" cy="292608"/>
          </a:xfrm>
          <a:prstGeom prst="rect">
            <a:avLst/>
          </a:prstGeom>
          <a:noFill/>
        </p:spPr>
        <p:txBody>
          <a:bodyPr wrap="square" anchor="t" lIns="0" rIns="0" tIns="0" bIns="0">
            <a:spAutoFit/>
          </a:bodyPr>
          <a:lstStyle/>
          <a:p>
            <a:pPr algn="l"/>
            <a:r>
              <a:rPr sz="1250" b="1" i="0">
                <a:solidFill>
                  <a:srgbClr val="33A7E0"/>
                </a:solidFill>
                <a:latin typeface="Segoe UI"/>
              </a:rPr>
              <a:t>College</a:t>
            </a:r>
          </a:p>
        </p:txBody>
      </p:sp>
      <p:sp>
        <p:nvSpPr>
          <p:cNvPr id="17" name="TextBox 16"/>
          <p:cNvSpPr txBox="1"/>
          <p:nvPr/>
        </p:nvSpPr>
        <p:spPr>
          <a:xfrm>
            <a:off x="6537960" y="4946904"/>
            <a:ext cx="4937760" cy="292608"/>
          </a:xfrm>
          <a:prstGeom prst="rect">
            <a:avLst/>
          </a:prstGeom>
          <a:noFill/>
        </p:spPr>
        <p:txBody>
          <a:bodyPr wrap="square" anchor="t" lIns="0" rIns="0" tIns="0" bIns="0">
            <a:spAutoFit/>
          </a:bodyPr>
          <a:lstStyle/>
          <a:p>
            <a:pPr algn="l"/>
            <a:r>
              <a:rPr sz="1250" b="0" i="0">
                <a:solidFill>
                  <a:srgbClr val="FFFFFF"/>
                </a:solidFill>
                <a:latin typeface="Segoe UI"/>
              </a:rPr>
              <a:t>GITAM (Deemed to be University), Hyderabad</a:t>
            </a:r>
          </a:p>
        </p:txBody>
      </p:sp>
      <p:sp>
        <p:nvSpPr>
          <p:cNvPr id="18" name="TextBox 17"/>
          <p:cNvSpPr txBox="1"/>
          <p:nvPr/>
        </p:nvSpPr>
        <p:spPr>
          <a:xfrm>
            <a:off x="4754880" y="5276088"/>
            <a:ext cx="1920240" cy="292608"/>
          </a:xfrm>
          <a:prstGeom prst="rect">
            <a:avLst/>
          </a:prstGeom>
          <a:noFill/>
        </p:spPr>
        <p:txBody>
          <a:bodyPr wrap="square" anchor="t" lIns="0" rIns="0" tIns="0" bIns="0">
            <a:spAutoFit/>
          </a:bodyPr>
          <a:lstStyle/>
          <a:p>
            <a:pPr algn="l"/>
            <a:r>
              <a:rPr sz="1250" b="1" i="0">
                <a:solidFill>
                  <a:srgbClr val="33A7E0"/>
                </a:solidFill>
                <a:latin typeface="Segoe UI"/>
              </a:rPr>
              <a:t>Department</a:t>
            </a:r>
          </a:p>
        </p:txBody>
      </p:sp>
      <p:sp>
        <p:nvSpPr>
          <p:cNvPr id="19" name="TextBox 18"/>
          <p:cNvSpPr txBox="1"/>
          <p:nvPr/>
        </p:nvSpPr>
        <p:spPr>
          <a:xfrm>
            <a:off x="6537960" y="5276088"/>
            <a:ext cx="4937760" cy="292608"/>
          </a:xfrm>
          <a:prstGeom prst="rect">
            <a:avLst/>
          </a:prstGeom>
          <a:noFill/>
        </p:spPr>
        <p:txBody>
          <a:bodyPr wrap="square" anchor="t" lIns="0" rIns="0" tIns="0" bIns="0">
            <a:spAutoFit/>
          </a:bodyPr>
          <a:lstStyle/>
          <a:p>
            <a:pPr algn="l"/>
            <a:r>
              <a:rPr sz="1250" b="0" i="0">
                <a:solidFill>
                  <a:srgbClr val="FFFFFF"/>
                </a:solidFill>
                <a:latin typeface="Segoe UI"/>
              </a:rPr>
              <a:t>Computer Science and Engineering</a:t>
            </a:r>
          </a:p>
        </p:txBody>
      </p:sp>
      <p:sp>
        <p:nvSpPr>
          <p:cNvPr id="20" name="TextBox 19"/>
          <p:cNvSpPr txBox="1"/>
          <p:nvPr/>
        </p:nvSpPr>
        <p:spPr>
          <a:xfrm>
            <a:off x="4754880" y="5605272"/>
            <a:ext cx="1920240" cy="292608"/>
          </a:xfrm>
          <a:prstGeom prst="rect">
            <a:avLst/>
          </a:prstGeom>
          <a:noFill/>
        </p:spPr>
        <p:txBody>
          <a:bodyPr wrap="square" anchor="t" lIns="0" rIns="0" tIns="0" bIns="0">
            <a:spAutoFit/>
          </a:bodyPr>
          <a:lstStyle/>
          <a:p>
            <a:pPr algn="l"/>
            <a:r>
              <a:rPr sz="1250" b="1" i="0">
                <a:solidFill>
                  <a:srgbClr val="33A7E0"/>
                </a:solidFill>
                <a:latin typeface="Segoe UI"/>
              </a:rPr>
              <a:t>Company</a:t>
            </a:r>
          </a:p>
        </p:txBody>
      </p:sp>
      <p:sp>
        <p:nvSpPr>
          <p:cNvPr id="21" name="TextBox 20"/>
          <p:cNvSpPr txBox="1"/>
          <p:nvPr/>
        </p:nvSpPr>
        <p:spPr>
          <a:xfrm>
            <a:off x="6537960" y="5605272"/>
            <a:ext cx="4937760" cy="292608"/>
          </a:xfrm>
          <a:prstGeom prst="rect">
            <a:avLst/>
          </a:prstGeom>
          <a:noFill/>
        </p:spPr>
        <p:txBody>
          <a:bodyPr wrap="square" anchor="t" lIns="0" rIns="0" tIns="0" bIns="0">
            <a:spAutoFit/>
          </a:bodyPr>
          <a:lstStyle/>
          <a:p>
            <a:pPr algn="l"/>
            <a:r>
              <a:rPr sz="1250" b="0" i="0">
                <a:solidFill>
                  <a:srgbClr val="FFFFFF"/>
                </a:solidFill>
                <a:latin typeface="Segoe UI"/>
              </a:rPr>
              <a:t>DayLearner Private Limited, Kakinada</a:t>
            </a:r>
          </a:p>
        </p:txBody>
      </p:sp>
      <p:sp>
        <p:nvSpPr>
          <p:cNvPr id="22" name="TextBox 21"/>
          <p:cNvSpPr txBox="1"/>
          <p:nvPr/>
        </p:nvSpPr>
        <p:spPr>
          <a:xfrm>
            <a:off x="4754880" y="5934456"/>
            <a:ext cx="1920240" cy="292608"/>
          </a:xfrm>
          <a:prstGeom prst="rect">
            <a:avLst/>
          </a:prstGeom>
          <a:noFill/>
        </p:spPr>
        <p:txBody>
          <a:bodyPr wrap="square" anchor="t" lIns="0" rIns="0" tIns="0" bIns="0">
            <a:spAutoFit/>
          </a:bodyPr>
          <a:lstStyle/>
          <a:p>
            <a:pPr algn="l"/>
            <a:r>
              <a:rPr sz="1250" b="1" i="0">
                <a:solidFill>
                  <a:srgbClr val="33A7E0"/>
                </a:solidFill>
                <a:latin typeface="Segoe UI"/>
              </a:rPr>
              <a:t>Mentor</a:t>
            </a:r>
          </a:p>
        </p:txBody>
      </p:sp>
      <p:sp>
        <p:nvSpPr>
          <p:cNvPr id="23" name="TextBox 22"/>
          <p:cNvSpPr txBox="1"/>
          <p:nvPr/>
        </p:nvSpPr>
        <p:spPr>
          <a:xfrm>
            <a:off x="6537960" y="5934456"/>
            <a:ext cx="4937760" cy="292608"/>
          </a:xfrm>
          <a:prstGeom prst="rect">
            <a:avLst/>
          </a:prstGeom>
          <a:noFill/>
        </p:spPr>
        <p:txBody>
          <a:bodyPr wrap="square" anchor="t" lIns="0" rIns="0" tIns="0" bIns="0">
            <a:spAutoFit/>
          </a:bodyPr>
          <a:lstStyle/>
          <a:p>
            <a:pPr algn="l"/>
            <a:r>
              <a:rPr sz="1250" b="0" i="0">
                <a:solidFill>
                  <a:srgbClr val="FFFFFF"/>
                </a:solidFill>
                <a:latin typeface="Segoe UI"/>
              </a:rPr>
              <a:t>&lt;&lt; Mentor Name &gt;&gt;</a:t>
            </a:r>
          </a:p>
        </p:txBody>
      </p:sp>
      <p:sp>
        <p:nvSpPr>
          <p:cNvPr id="24" name="TextBox 23"/>
          <p:cNvSpPr txBox="1"/>
          <p:nvPr/>
        </p:nvSpPr>
        <p:spPr>
          <a:xfrm>
            <a:off x="4754880" y="6263640"/>
            <a:ext cx="1920240" cy="292608"/>
          </a:xfrm>
          <a:prstGeom prst="rect">
            <a:avLst/>
          </a:prstGeom>
          <a:noFill/>
        </p:spPr>
        <p:txBody>
          <a:bodyPr wrap="square" anchor="t" lIns="0" rIns="0" tIns="0" bIns="0">
            <a:spAutoFit/>
          </a:bodyPr>
          <a:lstStyle/>
          <a:p>
            <a:pPr algn="l"/>
            <a:r>
              <a:rPr sz="1250" b="1" i="0">
                <a:solidFill>
                  <a:srgbClr val="33A7E0"/>
                </a:solidFill>
                <a:latin typeface="Segoe UI"/>
              </a:rPr>
              <a:t>Academic Year</a:t>
            </a:r>
          </a:p>
        </p:txBody>
      </p:sp>
      <p:sp>
        <p:nvSpPr>
          <p:cNvPr id="25" name="TextBox 24"/>
          <p:cNvSpPr txBox="1"/>
          <p:nvPr/>
        </p:nvSpPr>
        <p:spPr>
          <a:xfrm>
            <a:off x="6537960" y="6263640"/>
            <a:ext cx="4937760" cy="292608"/>
          </a:xfrm>
          <a:prstGeom prst="rect">
            <a:avLst/>
          </a:prstGeom>
          <a:noFill/>
        </p:spPr>
        <p:txBody>
          <a:bodyPr wrap="square" anchor="t" lIns="0" rIns="0" tIns="0" bIns="0">
            <a:spAutoFit/>
          </a:bodyPr>
          <a:lstStyle/>
          <a:p>
            <a:pPr algn="l"/>
            <a:r>
              <a:rPr sz="1250" b="0" i="0">
                <a:solidFill>
                  <a:srgbClr val="FFFFFF"/>
                </a:solidFill>
                <a:latin typeface="Segoe UI"/>
              </a:rPr>
              <a:t>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INTERNSHIP OVERVIEW</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About the Internship</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2697480" cy="1417320"/>
          </a:xfrm>
          <a:prstGeom prst="roundRect">
            <a:avLst>
              <a:gd name="adj" fmla="val 7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76656" y="154533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45336"/>
            <a:ext cx="566928" cy="566928"/>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9" name="TextBox 8"/>
          <p:cNvSpPr txBox="1"/>
          <p:nvPr/>
        </p:nvSpPr>
        <p:spPr>
          <a:xfrm>
            <a:off x="667512" y="2194560"/>
            <a:ext cx="2368296" cy="274320"/>
          </a:xfrm>
          <a:prstGeom prst="rect">
            <a:avLst/>
          </a:prstGeom>
          <a:noFill/>
        </p:spPr>
        <p:txBody>
          <a:bodyPr wrap="square" anchor="t" lIns="0" rIns="0" tIns="0" bIns="0">
            <a:spAutoFit/>
          </a:bodyPr>
          <a:lstStyle/>
          <a:p>
            <a:pPr algn="ctr"/>
            <a:r>
              <a:rPr sz="1100" b="1" i="0">
                <a:solidFill>
                  <a:srgbClr val="F28C28"/>
                </a:solidFill>
                <a:latin typeface="Segoe UI"/>
              </a:rPr>
              <a:t>ORGANIZATION</a:t>
            </a:r>
          </a:p>
        </p:txBody>
      </p:sp>
      <p:sp>
        <p:nvSpPr>
          <p:cNvPr id="10" name="TextBox 9"/>
          <p:cNvSpPr txBox="1"/>
          <p:nvPr/>
        </p:nvSpPr>
        <p:spPr>
          <a:xfrm>
            <a:off x="640080" y="2450591"/>
            <a:ext cx="2423160" cy="411480"/>
          </a:xfrm>
          <a:prstGeom prst="rect">
            <a:avLst/>
          </a:prstGeom>
          <a:noFill/>
        </p:spPr>
        <p:txBody>
          <a:bodyPr wrap="square" anchor="t" lIns="0" rIns="0" tIns="0" bIns="0">
            <a:spAutoFit/>
          </a:bodyPr>
          <a:lstStyle/>
          <a:p>
            <a:pPr algn="ctr"/>
            <a:r>
              <a:rPr sz="1050" b="0" i="0">
                <a:solidFill>
                  <a:srgbClr val="202838"/>
                </a:solidFill>
                <a:latin typeface="Segoe UI"/>
              </a:rPr>
              <a:t>DayLearner Private Limited, Kakinada</a:t>
            </a:r>
          </a:p>
        </p:txBody>
      </p:sp>
      <p:sp>
        <p:nvSpPr>
          <p:cNvPr id="11" name="Rounded Rectangle 10"/>
          <p:cNvSpPr/>
          <p:nvPr/>
        </p:nvSpPr>
        <p:spPr>
          <a:xfrm>
            <a:off x="3364992" y="1417320"/>
            <a:ext cx="2697480" cy="1417320"/>
          </a:xfrm>
          <a:prstGeom prst="roundRect">
            <a:avLst>
              <a:gd name="adj" fmla="val 7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38728" y="154533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8728" y="1545336"/>
            <a:ext cx="566928" cy="566928"/>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4" name="TextBox 13"/>
          <p:cNvSpPr txBox="1"/>
          <p:nvPr/>
        </p:nvSpPr>
        <p:spPr>
          <a:xfrm>
            <a:off x="3529584" y="2194560"/>
            <a:ext cx="2368296" cy="274320"/>
          </a:xfrm>
          <a:prstGeom prst="rect">
            <a:avLst/>
          </a:prstGeom>
          <a:noFill/>
        </p:spPr>
        <p:txBody>
          <a:bodyPr wrap="square" anchor="t" lIns="0" rIns="0" tIns="0" bIns="0">
            <a:spAutoFit/>
          </a:bodyPr>
          <a:lstStyle/>
          <a:p>
            <a:pPr algn="ctr"/>
            <a:r>
              <a:rPr sz="1100" b="1" i="0">
                <a:solidFill>
                  <a:srgbClr val="F28C28"/>
                </a:solidFill>
                <a:latin typeface="Segoe UI"/>
              </a:rPr>
              <a:t>DURATION</a:t>
            </a:r>
          </a:p>
        </p:txBody>
      </p:sp>
      <p:sp>
        <p:nvSpPr>
          <p:cNvPr id="15" name="TextBox 14"/>
          <p:cNvSpPr txBox="1"/>
          <p:nvPr/>
        </p:nvSpPr>
        <p:spPr>
          <a:xfrm>
            <a:off x="3502152" y="2450591"/>
            <a:ext cx="2423160" cy="411480"/>
          </a:xfrm>
          <a:prstGeom prst="rect">
            <a:avLst/>
          </a:prstGeom>
          <a:noFill/>
        </p:spPr>
        <p:txBody>
          <a:bodyPr wrap="square" anchor="t" lIns="0" rIns="0" tIns="0" bIns="0">
            <a:spAutoFit/>
          </a:bodyPr>
          <a:lstStyle/>
          <a:p>
            <a:pPr algn="ctr"/>
            <a:r>
              <a:rPr sz="1050" b="0" i="0">
                <a:solidFill>
                  <a:srgbClr val="202838"/>
                </a:solidFill>
                <a:latin typeface="Segoe UI"/>
              </a:rPr>
              <a:t>8 weeks (2 months) — 25 May to 25 Jul 2026</a:t>
            </a:r>
          </a:p>
        </p:txBody>
      </p:sp>
      <p:sp>
        <p:nvSpPr>
          <p:cNvPr id="16" name="Rounded Rectangle 15"/>
          <p:cNvSpPr/>
          <p:nvPr/>
        </p:nvSpPr>
        <p:spPr>
          <a:xfrm>
            <a:off x="6227064" y="1417320"/>
            <a:ext cx="2697480" cy="1417320"/>
          </a:xfrm>
          <a:prstGeom prst="roundRect">
            <a:avLst>
              <a:gd name="adj" fmla="val 7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0" y="154533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545336"/>
            <a:ext cx="566928" cy="566928"/>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9" name="TextBox 18"/>
          <p:cNvSpPr txBox="1"/>
          <p:nvPr/>
        </p:nvSpPr>
        <p:spPr>
          <a:xfrm>
            <a:off x="6391656" y="2194560"/>
            <a:ext cx="2368296" cy="274320"/>
          </a:xfrm>
          <a:prstGeom prst="rect">
            <a:avLst/>
          </a:prstGeom>
          <a:noFill/>
        </p:spPr>
        <p:txBody>
          <a:bodyPr wrap="square" anchor="t" lIns="0" rIns="0" tIns="0" bIns="0">
            <a:spAutoFit/>
          </a:bodyPr>
          <a:lstStyle/>
          <a:p>
            <a:pPr algn="ctr"/>
            <a:r>
              <a:rPr sz="1100" b="1" i="0">
                <a:solidFill>
                  <a:srgbClr val="F28C28"/>
                </a:solidFill>
                <a:latin typeface="Segoe UI"/>
              </a:rPr>
              <a:t>DOMAIN</a:t>
            </a:r>
          </a:p>
        </p:txBody>
      </p:sp>
      <p:sp>
        <p:nvSpPr>
          <p:cNvPr id="20" name="TextBox 19"/>
          <p:cNvSpPr txBox="1"/>
          <p:nvPr/>
        </p:nvSpPr>
        <p:spPr>
          <a:xfrm>
            <a:off x="6364224" y="2450591"/>
            <a:ext cx="2423160" cy="411480"/>
          </a:xfrm>
          <a:prstGeom prst="rect">
            <a:avLst/>
          </a:prstGeom>
          <a:noFill/>
        </p:spPr>
        <p:txBody>
          <a:bodyPr wrap="square" anchor="t" lIns="0" rIns="0" tIns="0" bIns="0">
            <a:spAutoFit/>
          </a:bodyPr>
          <a:lstStyle/>
          <a:p>
            <a:pPr algn="ctr"/>
            <a:r>
              <a:rPr sz="1050" b="0" i="0">
                <a:solidFill>
                  <a:srgbClr val="202838"/>
                </a:solidFill>
                <a:latin typeface="Segoe UI"/>
              </a:rPr>
              <a:t>Python Full-Stack Web Development with AI &amp; Prompt Engineering</a:t>
            </a:r>
          </a:p>
        </p:txBody>
      </p:sp>
      <p:sp>
        <p:nvSpPr>
          <p:cNvPr id="21" name="Rounded Rectangle 20"/>
          <p:cNvSpPr/>
          <p:nvPr/>
        </p:nvSpPr>
        <p:spPr>
          <a:xfrm>
            <a:off x="9089136" y="1417320"/>
            <a:ext cx="2697480" cy="1417320"/>
          </a:xfrm>
          <a:prstGeom prst="roundRect">
            <a:avLst>
              <a:gd name="adj" fmla="val 7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62872" y="154533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2872" y="1545336"/>
            <a:ext cx="566928" cy="566928"/>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4" name="TextBox 23"/>
          <p:cNvSpPr txBox="1"/>
          <p:nvPr/>
        </p:nvSpPr>
        <p:spPr>
          <a:xfrm>
            <a:off x="9253728" y="2194560"/>
            <a:ext cx="2368296" cy="274320"/>
          </a:xfrm>
          <a:prstGeom prst="rect">
            <a:avLst/>
          </a:prstGeom>
          <a:noFill/>
        </p:spPr>
        <p:txBody>
          <a:bodyPr wrap="square" anchor="t" lIns="0" rIns="0" tIns="0" bIns="0">
            <a:spAutoFit/>
          </a:bodyPr>
          <a:lstStyle/>
          <a:p>
            <a:pPr algn="ctr"/>
            <a:r>
              <a:rPr sz="1100" b="1" i="0">
                <a:solidFill>
                  <a:srgbClr val="F28C28"/>
                </a:solidFill>
                <a:latin typeface="Segoe UI"/>
              </a:rPr>
              <a:t>PROJECT ASSIGNED</a:t>
            </a:r>
          </a:p>
        </p:txBody>
      </p:sp>
      <p:sp>
        <p:nvSpPr>
          <p:cNvPr id="25" name="TextBox 24"/>
          <p:cNvSpPr txBox="1"/>
          <p:nvPr/>
        </p:nvSpPr>
        <p:spPr>
          <a:xfrm>
            <a:off x="9226296" y="2450591"/>
            <a:ext cx="2423160" cy="411480"/>
          </a:xfrm>
          <a:prstGeom prst="rect">
            <a:avLst/>
          </a:prstGeom>
          <a:noFill/>
        </p:spPr>
        <p:txBody>
          <a:bodyPr wrap="square" anchor="t" lIns="0" rIns="0" tIns="0" bIns="0">
            <a:spAutoFit/>
          </a:bodyPr>
          <a:lstStyle/>
          <a:p>
            <a:pPr algn="ctr"/>
            <a:r>
              <a:rPr sz="1050" b="0" i="0">
                <a:solidFill>
                  <a:srgbClr val="202838"/>
                </a:solidFill>
                <a:latin typeface="Segoe UI"/>
              </a:rPr>
              <a:t>Design &amp; build a working bus ticket booking web app</a:t>
            </a:r>
          </a:p>
        </p:txBody>
      </p:sp>
      <p:sp>
        <p:nvSpPr>
          <p:cNvPr id="26" name="TextBox 25"/>
          <p:cNvSpPr txBox="1"/>
          <p:nvPr/>
        </p:nvSpPr>
        <p:spPr>
          <a:xfrm>
            <a:off x="502920" y="3246120"/>
            <a:ext cx="5486400" cy="365760"/>
          </a:xfrm>
          <a:prstGeom prst="rect">
            <a:avLst/>
          </a:prstGeom>
          <a:noFill/>
        </p:spPr>
        <p:txBody>
          <a:bodyPr wrap="square" anchor="t" lIns="0" rIns="0" tIns="0" bIns="0">
            <a:spAutoFit/>
          </a:bodyPr>
          <a:lstStyle/>
          <a:p>
            <a:pPr algn="l"/>
            <a:r>
              <a:rPr sz="1600" b="1" i="0">
                <a:solidFill>
                  <a:srgbClr val="0B1F3F"/>
                </a:solidFill>
                <a:latin typeface="Segoe UI"/>
              </a:rPr>
              <a:t>Responsibilities Timeline</a:t>
            </a:r>
          </a:p>
        </p:txBody>
      </p:sp>
      <p:sp>
        <p:nvSpPr>
          <p:cNvPr id="27" name="Rectangle 26"/>
          <p:cNvSpPr/>
          <p:nvPr/>
        </p:nvSpPr>
        <p:spPr>
          <a:xfrm>
            <a:off x="685800" y="3977639"/>
            <a:ext cx="10789920" cy="38100"/>
          </a:xfrm>
          <a:prstGeom prst="rect">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33956" y="3904487"/>
            <a:ext cx="201168" cy="201168"/>
          </a:xfrm>
          <a:prstGeom prst="ellipse">
            <a:avLst/>
          </a:prstGeom>
          <a:solidFill>
            <a:srgbClr val="33A7E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0100" y="4206239"/>
            <a:ext cx="2468880" cy="320040"/>
          </a:xfrm>
          <a:prstGeom prst="rect">
            <a:avLst/>
          </a:prstGeom>
          <a:noFill/>
        </p:spPr>
        <p:txBody>
          <a:bodyPr wrap="square" anchor="t" lIns="0" rIns="0" tIns="0" bIns="0">
            <a:spAutoFit/>
          </a:bodyPr>
          <a:lstStyle/>
          <a:p>
            <a:pPr algn="ctr"/>
            <a:r>
              <a:rPr sz="1300" b="1" i="0">
                <a:solidFill>
                  <a:srgbClr val="0B1F3F"/>
                </a:solidFill>
                <a:latin typeface="Segoe UI"/>
              </a:rPr>
              <a:t>W1-2</a:t>
            </a:r>
          </a:p>
        </p:txBody>
      </p:sp>
      <p:sp>
        <p:nvSpPr>
          <p:cNvPr id="30" name="TextBox 29"/>
          <p:cNvSpPr txBox="1"/>
          <p:nvPr/>
        </p:nvSpPr>
        <p:spPr>
          <a:xfrm>
            <a:off x="800100" y="4544567"/>
            <a:ext cx="2468880" cy="822960"/>
          </a:xfrm>
          <a:prstGeom prst="rect">
            <a:avLst/>
          </a:prstGeom>
          <a:noFill/>
        </p:spPr>
        <p:txBody>
          <a:bodyPr wrap="square" anchor="t" lIns="0" rIns="0" tIns="0" bIns="0">
            <a:spAutoFit/>
          </a:bodyPr>
          <a:lstStyle/>
          <a:p>
            <a:pPr algn="ctr"/>
            <a:r>
              <a:rPr sz="1050" b="0" i="0">
                <a:solidFill>
                  <a:srgbClr val="5A6474"/>
                </a:solidFill>
                <a:latin typeface="Segoe UI"/>
              </a:rPr>
              <a:t>Orientation, Python/Flask setup,</a:t>
            </a:r>
          </a:p>
          <a:p>
            <a:pPr algn="ctr"/>
            <a:r>
              <a:rPr sz="1050" b="0" i="0">
                <a:solidFill>
                  <a:srgbClr val="5A6474"/>
                </a:solidFill>
                <a:latin typeface="Segoe UI"/>
              </a:rPr>
              <a:t>database design</a:t>
            </a:r>
          </a:p>
        </p:txBody>
      </p:sp>
      <p:sp>
        <p:nvSpPr>
          <p:cNvPr id="31" name="Oval 30"/>
          <p:cNvSpPr/>
          <p:nvPr/>
        </p:nvSpPr>
        <p:spPr>
          <a:xfrm>
            <a:off x="4631436" y="3904487"/>
            <a:ext cx="201168" cy="201168"/>
          </a:xfrm>
          <a:prstGeom prst="ellipse">
            <a:avLst/>
          </a:prstGeom>
          <a:solidFill>
            <a:srgbClr val="F28C2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97580" y="4206239"/>
            <a:ext cx="2468880" cy="320040"/>
          </a:xfrm>
          <a:prstGeom prst="rect">
            <a:avLst/>
          </a:prstGeom>
          <a:noFill/>
        </p:spPr>
        <p:txBody>
          <a:bodyPr wrap="square" anchor="t" lIns="0" rIns="0" tIns="0" bIns="0">
            <a:spAutoFit/>
          </a:bodyPr>
          <a:lstStyle/>
          <a:p>
            <a:pPr algn="ctr"/>
            <a:r>
              <a:rPr sz="1300" b="1" i="0">
                <a:solidFill>
                  <a:srgbClr val="0B1F3F"/>
                </a:solidFill>
                <a:latin typeface="Segoe UI"/>
              </a:rPr>
              <a:t>W3-4</a:t>
            </a:r>
          </a:p>
        </p:txBody>
      </p:sp>
      <p:sp>
        <p:nvSpPr>
          <p:cNvPr id="33" name="TextBox 32"/>
          <p:cNvSpPr txBox="1"/>
          <p:nvPr/>
        </p:nvSpPr>
        <p:spPr>
          <a:xfrm>
            <a:off x="3497580" y="4544567"/>
            <a:ext cx="2468880" cy="822960"/>
          </a:xfrm>
          <a:prstGeom prst="rect">
            <a:avLst/>
          </a:prstGeom>
          <a:noFill/>
        </p:spPr>
        <p:txBody>
          <a:bodyPr wrap="square" anchor="t" lIns="0" rIns="0" tIns="0" bIns="0">
            <a:spAutoFit/>
          </a:bodyPr>
          <a:lstStyle/>
          <a:p>
            <a:pPr algn="ctr"/>
            <a:r>
              <a:rPr sz="1050" b="0" i="0">
                <a:solidFill>
                  <a:srgbClr val="5A6474"/>
                </a:solidFill>
                <a:latin typeface="Segoe UI"/>
              </a:rPr>
              <a:t>Landing page, registration,</a:t>
            </a:r>
          </a:p>
          <a:p>
            <a:pPr algn="ctr"/>
            <a:r>
              <a:rPr sz="1050" b="0" i="0">
                <a:solidFill>
                  <a:srgbClr val="5A6474"/>
                </a:solidFill>
                <a:latin typeface="Segoe UI"/>
              </a:rPr>
              <a:t>login, sessions</a:t>
            </a:r>
          </a:p>
        </p:txBody>
      </p:sp>
      <p:sp>
        <p:nvSpPr>
          <p:cNvPr id="34" name="Oval 33"/>
          <p:cNvSpPr/>
          <p:nvPr/>
        </p:nvSpPr>
        <p:spPr>
          <a:xfrm>
            <a:off x="7328916" y="3904487"/>
            <a:ext cx="201168" cy="201168"/>
          </a:xfrm>
          <a:prstGeom prst="ellipse">
            <a:avLst/>
          </a:prstGeom>
          <a:solidFill>
            <a:srgbClr val="33A7E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5060" y="4206239"/>
            <a:ext cx="2468880" cy="320040"/>
          </a:xfrm>
          <a:prstGeom prst="rect">
            <a:avLst/>
          </a:prstGeom>
          <a:noFill/>
        </p:spPr>
        <p:txBody>
          <a:bodyPr wrap="square" anchor="t" lIns="0" rIns="0" tIns="0" bIns="0">
            <a:spAutoFit/>
          </a:bodyPr>
          <a:lstStyle/>
          <a:p>
            <a:pPr algn="ctr"/>
            <a:r>
              <a:rPr sz="1300" b="1" i="0">
                <a:solidFill>
                  <a:srgbClr val="0B1F3F"/>
                </a:solidFill>
                <a:latin typeface="Segoe UI"/>
              </a:rPr>
              <a:t>W5-6</a:t>
            </a:r>
          </a:p>
        </p:txBody>
      </p:sp>
      <p:sp>
        <p:nvSpPr>
          <p:cNvPr id="36" name="TextBox 35"/>
          <p:cNvSpPr txBox="1"/>
          <p:nvPr/>
        </p:nvSpPr>
        <p:spPr>
          <a:xfrm>
            <a:off x="6195060" y="4544567"/>
            <a:ext cx="2468880" cy="822960"/>
          </a:xfrm>
          <a:prstGeom prst="rect">
            <a:avLst/>
          </a:prstGeom>
          <a:noFill/>
        </p:spPr>
        <p:txBody>
          <a:bodyPr wrap="square" anchor="t" lIns="0" rIns="0" tIns="0" bIns="0">
            <a:spAutoFit/>
          </a:bodyPr>
          <a:lstStyle/>
          <a:p>
            <a:pPr algn="ctr"/>
            <a:r>
              <a:rPr sz="1050" b="0" i="0">
                <a:solidFill>
                  <a:srgbClr val="5A6474"/>
                </a:solidFill>
                <a:latin typeface="Segoe UI"/>
              </a:rPr>
              <a:t>Search, results, seat</a:t>
            </a:r>
          </a:p>
          <a:p>
            <a:pPr algn="ctr"/>
            <a:r>
              <a:rPr sz="1050" b="0" i="0">
                <a:solidFill>
                  <a:srgbClr val="5A6474"/>
                </a:solidFill>
                <a:latin typeface="Segoe UI"/>
              </a:rPr>
              <a:t>selection, payment UI</a:t>
            </a:r>
          </a:p>
        </p:txBody>
      </p:sp>
      <p:sp>
        <p:nvSpPr>
          <p:cNvPr id="37" name="Oval 36"/>
          <p:cNvSpPr/>
          <p:nvPr/>
        </p:nvSpPr>
        <p:spPr>
          <a:xfrm>
            <a:off x="10026396" y="3904487"/>
            <a:ext cx="201168" cy="201168"/>
          </a:xfrm>
          <a:prstGeom prst="ellipse">
            <a:avLst/>
          </a:prstGeom>
          <a:solidFill>
            <a:srgbClr val="F28C2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92540" y="4206239"/>
            <a:ext cx="2468880" cy="320040"/>
          </a:xfrm>
          <a:prstGeom prst="rect">
            <a:avLst/>
          </a:prstGeom>
          <a:noFill/>
        </p:spPr>
        <p:txBody>
          <a:bodyPr wrap="square" anchor="t" lIns="0" rIns="0" tIns="0" bIns="0">
            <a:spAutoFit/>
          </a:bodyPr>
          <a:lstStyle/>
          <a:p>
            <a:pPr algn="ctr"/>
            <a:r>
              <a:rPr sz="1300" b="1" i="0">
                <a:solidFill>
                  <a:srgbClr val="0B1F3F"/>
                </a:solidFill>
                <a:latin typeface="Segoe UI"/>
              </a:rPr>
              <a:t>W7-8</a:t>
            </a:r>
          </a:p>
        </p:txBody>
      </p:sp>
      <p:sp>
        <p:nvSpPr>
          <p:cNvPr id="39" name="TextBox 38"/>
          <p:cNvSpPr txBox="1"/>
          <p:nvPr/>
        </p:nvSpPr>
        <p:spPr>
          <a:xfrm>
            <a:off x="8892540" y="4544567"/>
            <a:ext cx="2468880" cy="822960"/>
          </a:xfrm>
          <a:prstGeom prst="rect">
            <a:avLst/>
          </a:prstGeom>
          <a:noFill/>
        </p:spPr>
        <p:txBody>
          <a:bodyPr wrap="square" anchor="t" lIns="0" rIns="0" tIns="0" bIns="0">
            <a:spAutoFit/>
          </a:bodyPr>
          <a:lstStyle/>
          <a:p>
            <a:pPr algn="ctr"/>
            <a:r>
              <a:rPr sz="1050" b="0" i="0">
                <a:solidFill>
                  <a:srgbClr val="5A6474"/>
                </a:solidFill>
                <a:latin typeface="Segoe UI"/>
              </a:rPr>
              <a:t>Booking confirmation, testing,</a:t>
            </a:r>
          </a:p>
          <a:p>
            <a:pPr algn="ctr"/>
            <a:r>
              <a:rPr sz="1050" b="0" i="0">
                <a:solidFill>
                  <a:srgbClr val="5A6474"/>
                </a:solidFill>
                <a:latin typeface="Segoe UI"/>
              </a:rPr>
              <a:t>documentation, demo</a:t>
            </a:r>
          </a:p>
        </p:txBody>
      </p:sp>
      <p:sp>
        <p:nvSpPr>
          <p:cNvPr id="40" name="TextBox 39"/>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2</a:t>
            </a:r>
          </a:p>
        </p:txBody>
      </p:sp>
      <p:sp>
        <p:nvSpPr>
          <p:cNvPr id="41" name="TextBox 40"/>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PROJECT INTRODUCTION</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Why EasyBus Pro?</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71600"/>
            <a:ext cx="5486400" cy="4892040"/>
          </a:xfrm>
          <a:prstGeom prst="roundRect">
            <a:avLst>
              <a:gd name="adj" fmla="val 5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4937760" cy="365760"/>
          </a:xfrm>
          <a:prstGeom prst="rect">
            <a:avLst/>
          </a:prstGeom>
          <a:noFill/>
        </p:spPr>
        <p:txBody>
          <a:bodyPr wrap="square" anchor="t" lIns="0" rIns="0" tIns="0" bIns="0">
            <a:spAutoFit/>
          </a:bodyPr>
          <a:lstStyle/>
          <a:p>
            <a:pPr algn="l"/>
            <a:r>
              <a:rPr sz="1600" b="1" i="0">
                <a:solidFill>
                  <a:srgbClr val="0B1F3F"/>
                </a:solidFill>
                <a:latin typeface="Segoe UI"/>
              </a:rPr>
              <a:t>Problem Statement</a:t>
            </a:r>
          </a:p>
        </p:txBody>
      </p:sp>
      <p:sp>
        <p:nvSpPr>
          <p:cNvPr id="8" name="TextBox 7"/>
          <p:cNvSpPr txBox="1"/>
          <p:nvPr/>
        </p:nvSpPr>
        <p:spPr>
          <a:xfrm>
            <a:off x="777240" y="2011680"/>
            <a:ext cx="4937760" cy="1737360"/>
          </a:xfrm>
          <a:prstGeom prst="rect">
            <a:avLst/>
          </a:prstGeom>
          <a:noFill/>
        </p:spPr>
        <p:txBody>
          <a:bodyPr wrap="square" anchor="t" lIns="0" rIns="0" tIns="0" bIns="0">
            <a:spAutoFit/>
          </a:bodyPr>
          <a:lstStyle/>
          <a:p>
            <a:pPr algn="l">
              <a:lnSpc>
                <a:spcPct val="125000"/>
              </a:lnSpc>
            </a:pPr>
            <a:r>
              <a:rPr sz="1350" b="0" i="0">
                <a:solidFill>
                  <a:srgbClr val="5A6474"/>
                </a:solidFill>
                <a:latin typeface="Segoe UI"/>
              </a:rPr>
              <a:t>Most small &amp; medium bus operators still rely on counter or phone-based booking. Passengers cannot compare operators, cannot see seat layouts, and get only a paper slip as proof — with no digital record of their journey.</a:t>
            </a:r>
          </a:p>
        </p:txBody>
      </p:sp>
      <p:sp>
        <p:nvSpPr>
          <p:cNvPr id="9" name="TextBox 8"/>
          <p:cNvSpPr txBox="1"/>
          <p:nvPr/>
        </p:nvSpPr>
        <p:spPr>
          <a:xfrm>
            <a:off x="777240" y="3794760"/>
            <a:ext cx="4937760" cy="365760"/>
          </a:xfrm>
          <a:prstGeom prst="rect">
            <a:avLst/>
          </a:prstGeom>
          <a:noFill/>
        </p:spPr>
        <p:txBody>
          <a:bodyPr wrap="square" anchor="t" lIns="0" rIns="0" tIns="0" bIns="0">
            <a:spAutoFit/>
          </a:bodyPr>
          <a:lstStyle/>
          <a:p>
            <a:pPr algn="l"/>
            <a:r>
              <a:rPr sz="1600" b="1" i="0">
                <a:solidFill>
                  <a:srgbClr val="0B1F3F"/>
                </a:solidFill>
                <a:latin typeface="Segoe UI"/>
              </a:rPr>
              <a:t>Objective</a:t>
            </a:r>
          </a:p>
        </p:txBody>
      </p:sp>
      <p:sp>
        <p:nvSpPr>
          <p:cNvPr id="10" name="TextBox 9"/>
          <p:cNvSpPr txBox="1"/>
          <p:nvPr/>
        </p:nvSpPr>
        <p:spPr>
          <a:xfrm>
            <a:off x="777240" y="4206240"/>
            <a:ext cx="4937760" cy="1920240"/>
          </a:xfrm>
          <a:prstGeom prst="rect">
            <a:avLst/>
          </a:prstGeom>
          <a:noFill/>
        </p:spPr>
        <p:txBody>
          <a:bodyPr wrap="square">
            <a:spAutoFit/>
          </a:bodyPr>
          <a:lstStyle/>
          <a:p>
            <a:pPr>
              <a:lnSpc>
                <a:spcPct val="112000"/>
              </a:lnSpc>
              <a:spcAft>
                <a:spcPts val="1000"/>
              </a:spcAft>
            </a:pPr>
            <a:r>
              <a:rPr sz="1350" b="0">
                <a:solidFill>
                  <a:srgbClr val="202838"/>
                </a:solidFill>
                <a:latin typeface="Segoe UI"/>
              </a:rPr>
              <a:t>■  Build a working, database-driven booking web app</a:t>
            </a:r>
          </a:p>
          <a:p>
            <a:pPr>
              <a:lnSpc>
                <a:spcPct val="112000"/>
              </a:lnSpc>
              <a:spcAft>
                <a:spcPts val="1000"/>
              </a:spcAft>
            </a:pPr>
            <a:r>
              <a:rPr sz="1350" b="0">
                <a:solidFill>
                  <a:srgbClr val="202838"/>
                </a:solidFill>
                <a:latin typeface="Segoe UI"/>
              </a:rPr>
              <a:t>■  Cover the full cycle: search → select → pay → confirm</a:t>
            </a:r>
          </a:p>
          <a:p>
            <a:pPr>
              <a:lnSpc>
                <a:spcPct val="112000"/>
              </a:lnSpc>
              <a:spcAft>
                <a:spcPts val="1000"/>
              </a:spcAft>
            </a:pPr>
            <a:r>
              <a:rPr sz="1350" b="0">
                <a:solidFill>
                  <a:srgbClr val="202838"/>
                </a:solidFill>
                <a:latin typeface="Segoe UI"/>
              </a:rPr>
              <a:t>■  Apply Flask, SQLite and web fundamentals practically</a:t>
            </a:r>
          </a:p>
        </p:txBody>
      </p:sp>
      <p:sp>
        <p:nvSpPr>
          <p:cNvPr id="11" name="Rounded Rectangle 10"/>
          <p:cNvSpPr/>
          <p:nvPr/>
        </p:nvSpPr>
        <p:spPr>
          <a:xfrm>
            <a:off x="6263640" y="1371600"/>
            <a:ext cx="5394960" cy="1508760"/>
          </a:xfrm>
          <a:prstGeom prst="roundRect">
            <a:avLst>
              <a:gd name="adj" fmla="val 9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0" y="1664208"/>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64208"/>
            <a:ext cx="914400" cy="914400"/>
          </a:xfrm>
          <a:prstGeom prst="rect">
            <a:avLst/>
          </a:prstGeom>
          <a:noFill/>
        </p:spPr>
        <p:txBody>
          <a:bodyPr wrap="none" anchor="ctr" lIns="0" rIns="0" tIns="0" bIns="0">
            <a:spAutoFit/>
          </a:bodyPr>
          <a:lstStyle/>
          <a:p>
            <a:pPr algn="ctr"/>
            <a:r>
              <a:rPr sz="3000">
                <a:solidFill>
                  <a:srgbClr val="FFFFFF"/>
                </a:solidFill>
                <a:latin typeface="Segoe UI Emoji"/>
              </a:rPr>
              <a:t>🎫</a:t>
            </a:r>
          </a:p>
        </p:txBody>
      </p:sp>
      <p:sp>
        <p:nvSpPr>
          <p:cNvPr id="14" name="TextBox 13"/>
          <p:cNvSpPr txBox="1"/>
          <p:nvPr/>
        </p:nvSpPr>
        <p:spPr>
          <a:xfrm>
            <a:off x="7680960" y="1554480"/>
            <a:ext cx="914400" cy="731520"/>
          </a:xfrm>
          <a:prstGeom prst="rect">
            <a:avLst/>
          </a:prstGeom>
          <a:noFill/>
        </p:spPr>
        <p:txBody>
          <a:bodyPr wrap="square" anchor="t" lIns="0" rIns="0" tIns="0" bIns="0">
            <a:spAutoFit/>
          </a:bodyPr>
          <a:lstStyle/>
          <a:p>
            <a:pPr algn="l"/>
            <a:r>
              <a:rPr sz="3600" b="1" i="0">
                <a:solidFill>
                  <a:srgbClr val="33A7E0"/>
                </a:solidFill>
                <a:latin typeface="Segoe UI"/>
              </a:rPr>
              <a:t>1</a:t>
            </a:r>
          </a:p>
        </p:txBody>
      </p:sp>
      <p:sp>
        <p:nvSpPr>
          <p:cNvPr id="15" name="TextBox 14"/>
          <p:cNvSpPr txBox="1"/>
          <p:nvPr/>
        </p:nvSpPr>
        <p:spPr>
          <a:xfrm>
            <a:off x="8732520" y="1664208"/>
            <a:ext cx="2743200" cy="914400"/>
          </a:xfrm>
          <a:prstGeom prst="rect">
            <a:avLst/>
          </a:prstGeom>
          <a:noFill/>
        </p:spPr>
        <p:txBody>
          <a:bodyPr wrap="square" anchor="ctr" lIns="0" rIns="0" tIns="0" bIns="0">
            <a:spAutoFit/>
          </a:bodyPr>
          <a:lstStyle/>
          <a:p>
            <a:pPr algn="l"/>
            <a:r>
              <a:rPr sz="1300" b="0" i="0">
                <a:solidFill>
                  <a:srgbClr val="FFFFFF"/>
                </a:solidFill>
                <a:latin typeface="Segoe UI"/>
              </a:rPr>
              <a:t>Single platform to search, compare &amp; book</a:t>
            </a:r>
          </a:p>
        </p:txBody>
      </p:sp>
      <p:sp>
        <p:nvSpPr>
          <p:cNvPr id="16" name="Rounded Rectangle 15"/>
          <p:cNvSpPr/>
          <p:nvPr/>
        </p:nvSpPr>
        <p:spPr>
          <a:xfrm>
            <a:off x="6263640" y="3063240"/>
            <a:ext cx="5394960" cy="1508760"/>
          </a:xfrm>
          <a:prstGeom prst="roundRect">
            <a:avLst>
              <a:gd name="adj" fmla="val 9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0" y="3355848"/>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355848"/>
            <a:ext cx="914400" cy="914400"/>
          </a:xfrm>
          <a:prstGeom prst="rect">
            <a:avLst/>
          </a:prstGeom>
          <a:noFill/>
        </p:spPr>
        <p:txBody>
          <a:bodyPr wrap="none" anchor="ctr" lIns="0" rIns="0" tIns="0" bIns="0">
            <a:spAutoFit/>
          </a:bodyPr>
          <a:lstStyle/>
          <a:p>
            <a:pPr algn="ctr"/>
            <a:r>
              <a:rPr sz="3000">
                <a:solidFill>
                  <a:srgbClr val="FFFFFF"/>
                </a:solidFill>
                <a:latin typeface="Segoe UI Emoji"/>
              </a:rPr>
              <a:t>🗃</a:t>
            </a:r>
          </a:p>
        </p:txBody>
      </p:sp>
      <p:sp>
        <p:nvSpPr>
          <p:cNvPr id="19" name="TextBox 18"/>
          <p:cNvSpPr txBox="1"/>
          <p:nvPr/>
        </p:nvSpPr>
        <p:spPr>
          <a:xfrm>
            <a:off x="7680960" y="3246120"/>
            <a:ext cx="914400" cy="731520"/>
          </a:xfrm>
          <a:prstGeom prst="rect">
            <a:avLst/>
          </a:prstGeom>
          <a:noFill/>
        </p:spPr>
        <p:txBody>
          <a:bodyPr wrap="square" anchor="t" lIns="0" rIns="0" tIns="0" bIns="0">
            <a:spAutoFit/>
          </a:bodyPr>
          <a:lstStyle/>
          <a:p>
            <a:pPr algn="l"/>
            <a:r>
              <a:rPr sz="3600" b="1" i="0">
                <a:solidFill>
                  <a:srgbClr val="33A7E0"/>
                </a:solidFill>
                <a:latin typeface="Segoe UI"/>
              </a:rPr>
              <a:t>3</a:t>
            </a:r>
          </a:p>
        </p:txBody>
      </p:sp>
      <p:sp>
        <p:nvSpPr>
          <p:cNvPr id="20" name="TextBox 19"/>
          <p:cNvSpPr txBox="1"/>
          <p:nvPr/>
        </p:nvSpPr>
        <p:spPr>
          <a:xfrm>
            <a:off x="8732520" y="3355848"/>
            <a:ext cx="2743200" cy="914400"/>
          </a:xfrm>
          <a:prstGeom prst="rect">
            <a:avLst/>
          </a:prstGeom>
          <a:noFill/>
        </p:spPr>
        <p:txBody>
          <a:bodyPr wrap="square" anchor="ctr" lIns="0" rIns="0" tIns="0" bIns="0">
            <a:spAutoFit/>
          </a:bodyPr>
          <a:lstStyle/>
          <a:p>
            <a:pPr algn="l"/>
            <a:r>
              <a:rPr sz="1300" b="0" i="0">
                <a:solidFill>
                  <a:srgbClr val="FFFFFF"/>
                </a:solidFill>
                <a:latin typeface="Segoe UI"/>
              </a:rPr>
              <a:t>Linked database tables (users, bus, bookings)</a:t>
            </a:r>
          </a:p>
        </p:txBody>
      </p:sp>
      <p:sp>
        <p:nvSpPr>
          <p:cNvPr id="21" name="Rounded Rectangle 20"/>
          <p:cNvSpPr/>
          <p:nvPr/>
        </p:nvSpPr>
        <p:spPr>
          <a:xfrm>
            <a:off x="6263640" y="4754880"/>
            <a:ext cx="5394960" cy="1508760"/>
          </a:xfrm>
          <a:prstGeom prst="roundRect">
            <a:avLst>
              <a:gd name="adj" fmla="val 9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0" y="5047488"/>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5047488"/>
            <a:ext cx="914400" cy="914400"/>
          </a:xfrm>
          <a:prstGeom prst="rect">
            <a:avLst/>
          </a:prstGeom>
          <a:noFill/>
        </p:spPr>
        <p:txBody>
          <a:bodyPr wrap="none" anchor="ctr" lIns="0" rIns="0" tIns="0" bIns="0">
            <a:spAutoFit/>
          </a:bodyPr>
          <a:lstStyle/>
          <a:p>
            <a:pPr algn="ctr"/>
            <a:r>
              <a:rPr sz="3000">
                <a:solidFill>
                  <a:srgbClr val="FFFFFF"/>
                </a:solidFill>
                <a:latin typeface="Segoe UI Emoji"/>
              </a:rPr>
              <a:t>⏱</a:t>
            </a:r>
          </a:p>
        </p:txBody>
      </p:sp>
      <p:sp>
        <p:nvSpPr>
          <p:cNvPr id="24" name="TextBox 23"/>
          <p:cNvSpPr txBox="1"/>
          <p:nvPr/>
        </p:nvSpPr>
        <p:spPr>
          <a:xfrm>
            <a:off x="7680960" y="4937760"/>
            <a:ext cx="914400" cy="731520"/>
          </a:xfrm>
          <a:prstGeom prst="rect">
            <a:avLst/>
          </a:prstGeom>
          <a:noFill/>
        </p:spPr>
        <p:txBody>
          <a:bodyPr wrap="square" anchor="t" lIns="0" rIns="0" tIns="0" bIns="0">
            <a:spAutoFit/>
          </a:bodyPr>
          <a:lstStyle/>
          <a:p>
            <a:pPr algn="l"/>
            <a:r>
              <a:rPr sz="3600" b="1" i="0">
                <a:solidFill>
                  <a:srgbClr val="33A7E0"/>
                </a:solidFill>
                <a:latin typeface="Segoe UI"/>
              </a:rPr>
              <a:t>8</a:t>
            </a:r>
          </a:p>
        </p:txBody>
      </p:sp>
      <p:sp>
        <p:nvSpPr>
          <p:cNvPr id="25" name="TextBox 24"/>
          <p:cNvSpPr txBox="1"/>
          <p:nvPr/>
        </p:nvSpPr>
        <p:spPr>
          <a:xfrm>
            <a:off x="8732520" y="5047488"/>
            <a:ext cx="2743200" cy="914400"/>
          </a:xfrm>
          <a:prstGeom prst="rect">
            <a:avLst/>
          </a:prstGeom>
          <a:noFill/>
        </p:spPr>
        <p:txBody>
          <a:bodyPr wrap="square" anchor="ctr" lIns="0" rIns="0" tIns="0" bIns="0">
            <a:spAutoFit/>
          </a:bodyPr>
          <a:lstStyle/>
          <a:p>
            <a:pPr algn="l"/>
            <a:r>
              <a:rPr sz="1300" b="0" i="0">
                <a:solidFill>
                  <a:srgbClr val="FFFFFF"/>
                </a:solidFill>
                <a:latin typeface="Segoe UI"/>
              </a:rPr>
              <a:t>Weeks to design, build, test &amp; document</a:t>
            </a:r>
          </a:p>
        </p:txBody>
      </p:sp>
      <p:sp>
        <p:nvSpPr>
          <p:cNvPr id="26" name="TextBox 25"/>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3</a:t>
            </a:r>
          </a:p>
        </p:txBody>
      </p:sp>
      <p:sp>
        <p:nvSpPr>
          <p:cNvPr id="27" name="TextBox 26"/>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BACKGROUND</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Existing System &amp; Its Limitations</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25880"/>
            <a:ext cx="10058400" cy="365760"/>
          </a:xfrm>
          <a:prstGeom prst="rect">
            <a:avLst/>
          </a:prstGeom>
          <a:noFill/>
        </p:spPr>
        <p:txBody>
          <a:bodyPr wrap="square" anchor="t" lIns="0" rIns="0" tIns="0" bIns="0">
            <a:spAutoFit/>
          </a:bodyPr>
          <a:lstStyle/>
          <a:p>
            <a:pPr algn="l"/>
            <a:r>
              <a:rPr sz="1600" b="1" i="0">
                <a:solidFill>
                  <a:srgbClr val="0B1F3F"/>
                </a:solidFill>
                <a:latin typeface="Segoe UI"/>
              </a:rPr>
              <a:t>Traditional Counter / Telephone Booking Process</a:t>
            </a:r>
          </a:p>
        </p:txBody>
      </p:sp>
      <p:sp>
        <p:nvSpPr>
          <p:cNvPr id="7" name="Rounded Rectangle 6"/>
          <p:cNvSpPr/>
          <p:nvPr/>
        </p:nvSpPr>
        <p:spPr>
          <a:xfrm>
            <a:off x="502920" y="1828800"/>
            <a:ext cx="2075688" cy="105156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47672"/>
            <a:ext cx="1892808" cy="822960"/>
          </a:xfrm>
          <a:prstGeom prst="rect">
            <a:avLst/>
          </a:prstGeom>
          <a:noFill/>
        </p:spPr>
        <p:txBody>
          <a:bodyPr wrap="square" anchor="ctr" lIns="0" rIns="0" tIns="0" bIns="0">
            <a:spAutoFit/>
          </a:bodyPr>
          <a:lstStyle/>
          <a:p>
            <a:pPr algn="ctr"/>
            <a:r>
              <a:rPr sz="1150" b="0" i="0">
                <a:solidFill>
                  <a:srgbClr val="202838"/>
                </a:solidFill>
                <a:latin typeface="Segoe UI"/>
              </a:rPr>
              <a:t>Passenger</a:t>
            </a:r>
          </a:p>
          <a:p>
            <a:pPr algn="ctr"/>
            <a:r>
              <a:rPr sz="1150" b="0" i="0">
                <a:solidFill>
                  <a:srgbClr val="202838"/>
                </a:solidFill>
                <a:latin typeface="Segoe UI"/>
              </a:rPr>
              <a:t>calls / visits</a:t>
            </a:r>
          </a:p>
          <a:p>
            <a:pPr algn="ctr"/>
            <a:r>
              <a:rPr sz="1150" b="0" i="0">
                <a:solidFill>
                  <a:srgbClr val="202838"/>
                </a:solidFill>
                <a:latin typeface="Segoe UI"/>
              </a:rPr>
              <a:t>counter</a:t>
            </a:r>
          </a:p>
        </p:txBody>
      </p:sp>
      <p:cxnSp>
        <p:nvCxnSpPr>
          <p:cNvPr id="9" name="Connector 8"/>
          <p:cNvCxnSpPr/>
          <p:nvPr/>
        </p:nvCxnSpPr>
        <p:spPr>
          <a:xfrm>
            <a:off x="2596896" y="2350008"/>
            <a:ext cx="137160"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15768" y="1828800"/>
            <a:ext cx="2075688" cy="105156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1947672"/>
            <a:ext cx="1892808" cy="822960"/>
          </a:xfrm>
          <a:prstGeom prst="rect">
            <a:avLst/>
          </a:prstGeom>
          <a:noFill/>
        </p:spPr>
        <p:txBody>
          <a:bodyPr wrap="square" anchor="ctr" lIns="0" rIns="0" tIns="0" bIns="0">
            <a:spAutoFit/>
          </a:bodyPr>
          <a:lstStyle/>
          <a:p>
            <a:pPr algn="ctr"/>
            <a:r>
              <a:rPr sz="1150" b="0" i="0">
                <a:solidFill>
                  <a:srgbClr val="202838"/>
                </a:solidFill>
                <a:latin typeface="Segoe UI"/>
              </a:rPr>
              <a:t>Operator checks</a:t>
            </a:r>
          </a:p>
          <a:p>
            <a:pPr algn="ctr"/>
            <a:r>
              <a:rPr sz="1150" b="0" i="0">
                <a:solidFill>
                  <a:srgbClr val="202838"/>
                </a:solidFill>
                <a:latin typeface="Segoe UI"/>
              </a:rPr>
              <a:t>register for</a:t>
            </a:r>
          </a:p>
          <a:p>
            <a:pPr algn="ctr"/>
            <a:r>
              <a:rPr sz="1150" b="0" i="0">
                <a:solidFill>
                  <a:srgbClr val="202838"/>
                </a:solidFill>
                <a:latin typeface="Segoe UI"/>
              </a:rPr>
              <a:t>availability</a:t>
            </a:r>
          </a:p>
        </p:txBody>
      </p:sp>
      <p:cxnSp>
        <p:nvCxnSpPr>
          <p:cNvPr id="12" name="Connector 11"/>
          <p:cNvCxnSpPr/>
          <p:nvPr/>
        </p:nvCxnSpPr>
        <p:spPr>
          <a:xfrm>
            <a:off x="4809744" y="2350008"/>
            <a:ext cx="137160"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928616" y="1828800"/>
            <a:ext cx="2075688" cy="105156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0056" y="1947672"/>
            <a:ext cx="1892808" cy="822960"/>
          </a:xfrm>
          <a:prstGeom prst="rect">
            <a:avLst/>
          </a:prstGeom>
          <a:noFill/>
        </p:spPr>
        <p:txBody>
          <a:bodyPr wrap="square" anchor="ctr" lIns="0" rIns="0" tIns="0" bIns="0">
            <a:spAutoFit/>
          </a:bodyPr>
          <a:lstStyle/>
          <a:p>
            <a:pPr algn="ctr"/>
            <a:r>
              <a:rPr sz="1150" b="0" i="0">
                <a:solidFill>
                  <a:srgbClr val="202838"/>
                </a:solidFill>
                <a:latin typeface="Segoe UI"/>
              </a:rPr>
              <a:t>Fare &amp; seat</a:t>
            </a:r>
          </a:p>
          <a:p>
            <a:pPr algn="ctr"/>
            <a:r>
              <a:rPr sz="1150" b="0" i="0">
                <a:solidFill>
                  <a:srgbClr val="202838"/>
                </a:solidFill>
                <a:latin typeface="Segoe UI"/>
              </a:rPr>
              <a:t>quoted</a:t>
            </a:r>
          </a:p>
          <a:p>
            <a:pPr algn="ctr"/>
            <a:r>
              <a:rPr sz="1150" b="0" i="0">
                <a:solidFill>
                  <a:srgbClr val="202838"/>
                </a:solidFill>
                <a:latin typeface="Segoe UI"/>
              </a:rPr>
              <a:t>verbally</a:t>
            </a:r>
          </a:p>
        </p:txBody>
      </p:sp>
      <p:cxnSp>
        <p:nvCxnSpPr>
          <p:cNvPr id="15" name="Connector 14"/>
          <p:cNvCxnSpPr/>
          <p:nvPr/>
        </p:nvCxnSpPr>
        <p:spPr>
          <a:xfrm>
            <a:off x="7022592" y="2350008"/>
            <a:ext cx="137160"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141464" y="1828800"/>
            <a:ext cx="2075688" cy="105156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2904" y="1947672"/>
            <a:ext cx="1892808" cy="822960"/>
          </a:xfrm>
          <a:prstGeom prst="rect">
            <a:avLst/>
          </a:prstGeom>
          <a:noFill/>
        </p:spPr>
        <p:txBody>
          <a:bodyPr wrap="square" anchor="ctr" lIns="0" rIns="0" tIns="0" bIns="0">
            <a:spAutoFit/>
          </a:bodyPr>
          <a:lstStyle/>
          <a:p>
            <a:pPr algn="ctr"/>
            <a:r>
              <a:rPr sz="1150" b="0" i="0">
                <a:solidFill>
                  <a:srgbClr val="202838"/>
                </a:solidFill>
                <a:latin typeface="Segoe UI"/>
              </a:rPr>
              <a:t>Seat noted by</a:t>
            </a:r>
          </a:p>
          <a:p>
            <a:pPr algn="ctr"/>
            <a:r>
              <a:rPr sz="1150" b="0" i="0">
                <a:solidFill>
                  <a:srgbClr val="202838"/>
                </a:solidFill>
                <a:latin typeface="Segoe UI"/>
              </a:rPr>
              <a:t>hand, cash</a:t>
            </a:r>
          </a:p>
          <a:p>
            <a:pPr algn="ctr"/>
            <a:r>
              <a:rPr sz="1150" b="0" i="0">
                <a:solidFill>
                  <a:srgbClr val="202838"/>
                </a:solidFill>
                <a:latin typeface="Segoe UI"/>
              </a:rPr>
              <a:t>collected</a:t>
            </a:r>
          </a:p>
        </p:txBody>
      </p:sp>
      <p:cxnSp>
        <p:nvCxnSpPr>
          <p:cNvPr id="18" name="Connector 17"/>
          <p:cNvCxnSpPr/>
          <p:nvPr/>
        </p:nvCxnSpPr>
        <p:spPr>
          <a:xfrm>
            <a:off x="9235440" y="2350008"/>
            <a:ext cx="137160"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54312" y="1828800"/>
            <a:ext cx="2075688" cy="105156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45752" y="1947672"/>
            <a:ext cx="1892808" cy="822960"/>
          </a:xfrm>
          <a:prstGeom prst="rect">
            <a:avLst/>
          </a:prstGeom>
          <a:noFill/>
        </p:spPr>
        <p:txBody>
          <a:bodyPr wrap="square" anchor="ctr" lIns="0" rIns="0" tIns="0" bIns="0">
            <a:spAutoFit/>
          </a:bodyPr>
          <a:lstStyle/>
          <a:p>
            <a:pPr algn="ctr"/>
            <a:r>
              <a:rPr sz="1150" b="0" i="0">
                <a:solidFill>
                  <a:srgbClr val="202838"/>
                </a:solidFill>
                <a:latin typeface="Segoe UI"/>
              </a:rPr>
              <a:t>Paper slip</a:t>
            </a:r>
          </a:p>
          <a:p>
            <a:pPr algn="ctr"/>
            <a:r>
              <a:rPr sz="1150" b="0" i="0">
                <a:solidFill>
                  <a:srgbClr val="202838"/>
                </a:solidFill>
                <a:latin typeface="Segoe UI"/>
              </a:rPr>
              <a:t>issued</a:t>
            </a:r>
          </a:p>
        </p:txBody>
      </p:sp>
      <p:sp>
        <p:nvSpPr>
          <p:cNvPr id="21" name="TextBox 20"/>
          <p:cNvSpPr txBox="1"/>
          <p:nvPr/>
        </p:nvSpPr>
        <p:spPr>
          <a:xfrm>
            <a:off x="502920" y="3246120"/>
            <a:ext cx="10058400" cy="365760"/>
          </a:xfrm>
          <a:prstGeom prst="rect">
            <a:avLst/>
          </a:prstGeom>
          <a:noFill/>
        </p:spPr>
        <p:txBody>
          <a:bodyPr wrap="square" anchor="t" lIns="0" rIns="0" tIns="0" bIns="0">
            <a:spAutoFit/>
          </a:bodyPr>
          <a:lstStyle/>
          <a:p>
            <a:pPr algn="l"/>
            <a:r>
              <a:rPr sz="1600" b="1" i="0">
                <a:solidFill>
                  <a:srgbClr val="0B1F3F"/>
                </a:solidFill>
                <a:latin typeface="Segoe UI"/>
              </a:rPr>
              <a:t>Key Limitations</a:t>
            </a:r>
          </a:p>
        </p:txBody>
      </p:sp>
      <p:sp>
        <p:nvSpPr>
          <p:cNvPr id="22" name="Rounded Rectangle 21"/>
          <p:cNvSpPr/>
          <p:nvPr/>
        </p:nvSpPr>
        <p:spPr>
          <a:xfrm>
            <a:off x="502920" y="3703320"/>
            <a:ext cx="2697480" cy="237744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531620" y="3886200"/>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31620" y="38862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25" name="TextBox 24"/>
          <p:cNvSpPr txBox="1"/>
          <p:nvPr/>
        </p:nvSpPr>
        <p:spPr>
          <a:xfrm>
            <a:off x="640080" y="46634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Restricted Hours</a:t>
            </a:r>
          </a:p>
        </p:txBody>
      </p:sp>
      <p:sp>
        <p:nvSpPr>
          <p:cNvPr id="26" name="TextBox 25"/>
          <p:cNvSpPr txBox="1"/>
          <p:nvPr/>
        </p:nvSpPr>
        <p:spPr>
          <a:xfrm>
            <a:off x="685800" y="5029200"/>
            <a:ext cx="2331720" cy="914400"/>
          </a:xfrm>
          <a:prstGeom prst="rect">
            <a:avLst/>
          </a:prstGeom>
          <a:noFill/>
        </p:spPr>
        <p:txBody>
          <a:bodyPr wrap="square" anchor="t" lIns="0" rIns="0" tIns="0" bIns="0">
            <a:spAutoFit/>
          </a:bodyPr>
          <a:lstStyle/>
          <a:p>
            <a:pPr algn="ctr"/>
            <a:r>
              <a:rPr sz="1100" b="0" i="0">
                <a:solidFill>
                  <a:srgbClr val="5A6474"/>
                </a:solidFill>
                <a:latin typeface="Segoe UI"/>
              </a:rPr>
              <a:t>Bookings possible only during counter/call hours</a:t>
            </a:r>
          </a:p>
        </p:txBody>
      </p:sp>
      <p:sp>
        <p:nvSpPr>
          <p:cNvPr id="27" name="Rounded Rectangle 26"/>
          <p:cNvSpPr/>
          <p:nvPr/>
        </p:nvSpPr>
        <p:spPr>
          <a:xfrm>
            <a:off x="3337560" y="3703320"/>
            <a:ext cx="2697480" cy="237744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66260" y="3886200"/>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66260" y="38862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30" name="TextBox 29"/>
          <p:cNvSpPr txBox="1"/>
          <p:nvPr/>
        </p:nvSpPr>
        <p:spPr>
          <a:xfrm>
            <a:off x="3474720" y="46634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No Comparison</a:t>
            </a:r>
          </a:p>
        </p:txBody>
      </p:sp>
      <p:sp>
        <p:nvSpPr>
          <p:cNvPr id="31" name="TextBox 30"/>
          <p:cNvSpPr txBox="1"/>
          <p:nvPr/>
        </p:nvSpPr>
        <p:spPr>
          <a:xfrm>
            <a:off x="3520440" y="5029200"/>
            <a:ext cx="2331720" cy="914400"/>
          </a:xfrm>
          <a:prstGeom prst="rect">
            <a:avLst/>
          </a:prstGeom>
          <a:noFill/>
        </p:spPr>
        <p:txBody>
          <a:bodyPr wrap="square" anchor="t" lIns="0" rIns="0" tIns="0" bIns="0">
            <a:spAutoFit/>
          </a:bodyPr>
          <a:lstStyle/>
          <a:p>
            <a:pPr algn="ctr"/>
            <a:r>
              <a:rPr sz="1100" b="0" i="0">
                <a:solidFill>
                  <a:srgbClr val="5A6474"/>
                </a:solidFill>
                <a:latin typeface="Segoe UI"/>
              </a:rPr>
              <a:t>Each operator must be contacted separately</a:t>
            </a:r>
          </a:p>
        </p:txBody>
      </p:sp>
      <p:sp>
        <p:nvSpPr>
          <p:cNvPr id="32" name="Rounded Rectangle 31"/>
          <p:cNvSpPr/>
          <p:nvPr/>
        </p:nvSpPr>
        <p:spPr>
          <a:xfrm>
            <a:off x="6172200" y="3703320"/>
            <a:ext cx="2697480" cy="237744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00900" y="3886200"/>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0900" y="38862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35" name="TextBox 34"/>
          <p:cNvSpPr txBox="1"/>
          <p:nvPr/>
        </p:nvSpPr>
        <p:spPr>
          <a:xfrm>
            <a:off x="6309360" y="46634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Manual Errors</a:t>
            </a:r>
          </a:p>
        </p:txBody>
      </p:sp>
      <p:sp>
        <p:nvSpPr>
          <p:cNvPr id="36" name="TextBox 35"/>
          <p:cNvSpPr txBox="1"/>
          <p:nvPr/>
        </p:nvSpPr>
        <p:spPr>
          <a:xfrm>
            <a:off x="6355080" y="5029200"/>
            <a:ext cx="2331720" cy="914400"/>
          </a:xfrm>
          <a:prstGeom prst="rect">
            <a:avLst/>
          </a:prstGeom>
          <a:noFill/>
        </p:spPr>
        <p:txBody>
          <a:bodyPr wrap="square" anchor="t" lIns="0" rIns="0" tIns="0" bIns="0">
            <a:spAutoFit/>
          </a:bodyPr>
          <a:lstStyle/>
          <a:p>
            <a:pPr algn="ctr"/>
            <a:r>
              <a:rPr sz="1100" b="0" i="0">
                <a:solidFill>
                  <a:srgbClr val="5A6474"/>
                </a:solidFill>
                <a:latin typeface="Segoe UI"/>
              </a:rPr>
              <a:t>Double booking &amp; illegible register entries</a:t>
            </a:r>
          </a:p>
        </p:txBody>
      </p:sp>
      <p:sp>
        <p:nvSpPr>
          <p:cNvPr id="37" name="Rounded Rectangle 36"/>
          <p:cNvSpPr/>
          <p:nvPr/>
        </p:nvSpPr>
        <p:spPr>
          <a:xfrm>
            <a:off x="9006840" y="3703320"/>
            <a:ext cx="2697480" cy="237744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035540" y="3886200"/>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35540" y="38862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40" name="TextBox 39"/>
          <p:cNvSpPr txBox="1"/>
          <p:nvPr/>
        </p:nvSpPr>
        <p:spPr>
          <a:xfrm>
            <a:off x="9144000" y="46634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No Digital Record</a:t>
            </a:r>
          </a:p>
        </p:txBody>
      </p:sp>
      <p:sp>
        <p:nvSpPr>
          <p:cNvPr id="41" name="TextBox 40"/>
          <p:cNvSpPr txBox="1"/>
          <p:nvPr/>
        </p:nvSpPr>
        <p:spPr>
          <a:xfrm>
            <a:off x="9189720" y="5029200"/>
            <a:ext cx="2331720" cy="914400"/>
          </a:xfrm>
          <a:prstGeom prst="rect">
            <a:avLst/>
          </a:prstGeom>
          <a:noFill/>
        </p:spPr>
        <p:txBody>
          <a:bodyPr wrap="square" anchor="t" lIns="0" rIns="0" tIns="0" bIns="0">
            <a:spAutoFit/>
          </a:bodyPr>
          <a:lstStyle/>
          <a:p>
            <a:pPr algn="ctr"/>
            <a:r>
              <a:rPr sz="1100" b="0" i="0">
                <a:solidFill>
                  <a:srgbClr val="5A6474"/>
                </a:solidFill>
                <a:latin typeface="Segoe UI"/>
              </a:rPr>
              <a:t>Paper slip is easily lost, no booking history</a:t>
            </a:r>
          </a:p>
        </p:txBody>
      </p:sp>
      <p:sp>
        <p:nvSpPr>
          <p:cNvPr id="42" name="TextBox 41"/>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4</a:t>
            </a:r>
          </a:p>
        </p:txBody>
      </p:sp>
      <p:sp>
        <p:nvSpPr>
          <p:cNvPr id="43" name="TextBox 42"/>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SOLUTION</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Proposed System — EasyBus Pro</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25880"/>
            <a:ext cx="11155680" cy="548640"/>
          </a:xfrm>
          <a:prstGeom prst="rect">
            <a:avLst/>
          </a:prstGeom>
          <a:noFill/>
        </p:spPr>
        <p:txBody>
          <a:bodyPr wrap="square" anchor="t" lIns="0" rIns="0" tIns="0" bIns="0">
            <a:spAutoFit/>
          </a:bodyPr>
          <a:lstStyle/>
          <a:p>
            <a:pPr algn="l"/>
            <a:r>
              <a:rPr sz="1400" b="0" i="0">
                <a:solidFill>
                  <a:srgbClr val="5A6474"/>
                </a:solidFill>
                <a:latin typeface="Segoe UI"/>
              </a:rPr>
              <a:t>A single web application that replaces every manual step above with an automated, database-backed flow.</a:t>
            </a:r>
          </a:p>
        </p:txBody>
      </p:sp>
      <p:sp>
        <p:nvSpPr>
          <p:cNvPr id="7" name="Rounded Rectangle 6"/>
          <p:cNvSpPr/>
          <p:nvPr/>
        </p:nvSpPr>
        <p:spPr>
          <a:xfrm>
            <a:off x="502920" y="2057400"/>
            <a:ext cx="2075688" cy="1005840"/>
          </a:xfrm>
          <a:prstGeom prst="roundRect">
            <a:avLst>
              <a:gd name="adj" fmla="val 15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94560"/>
            <a:ext cx="1892808" cy="731520"/>
          </a:xfrm>
          <a:prstGeom prst="rect">
            <a:avLst/>
          </a:prstGeom>
          <a:noFill/>
        </p:spPr>
        <p:txBody>
          <a:bodyPr wrap="square" anchor="ctr" lIns="0" rIns="0" tIns="0" bIns="0">
            <a:spAutoFit/>
          </a:bodyPr>
          <a:lstStyle/>
          <a:p>
            <a:pPr algn="ctr"/>
            <a:r>
              <a:rPr sz="1300" b="1" i="0">
                <a:solidFill>
                  <a:srgbClr val="FFFFFF"/>
                </a:solidFill>
                <a:latin typeface="Segoe UI"/>
              </a:rPr>
              <a:t>Search</a:t>
            </a:r>
          </a:p>
        </p:txBody>
      </p:sp>
      <p:cxnSp>
        <p:nvCxnSpPr>
          <p:cNvPr id="9" name="Connector 8"/>
          <p:cNvCxnSpPr/>
          <p:nvPr/>
        </p:nvCxnSpPr>
        <p:spPr>
          <a:xfrm>
            <a:off x="2596896" y="2560320"/>
            <a:ext cx="137160" cy="0"/>
          </a:xfrm>
          <a:prstGeom prst="line">
            <a:avLst/>
          </a:prstGeom>
          <a:ln w="31750">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15768" y="2057400"/>
            <a:ext cx="2075688" cy="1005840"/>
          </a:xfrm>
          <a:prstGeom prst="roundRect">
            <a:avLst>
              <a:gd name="adj" fmla="val 15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2194560"/>
            <a:ext cx="1892808" cy="731520"/>
          </a:xfrm>
          <a:prstGeom prst="rect">
            <a:avLst/>
          </a:prstGeom>
          <a:noFill/>
        </p:spPr>
        <p:txBody>
          <a:bodyPr wrap="square" anchor="ctr" lIns="0" rIns="0" tIns="0" bIns="0">
            <a:spAutoFit/>
          </a:bodyPr>
          <a:lstStyle/>
          <a:p>
            <a:pPr algn="ctr"/>
            <a:r>
              <a:rPr sz="1300" b="1" i="0">
                <a:solidFill>
                  <a:srgbClr val="FFFFFF"/>
                </a:solidFill>
                <a:latin typeface="Segoe UI"/>
              </a:rPr>
              <a:t>Compare</a:t>
            </a:r>
          </a:p>
        </p:txBody>
      </p:sp>
      <p:cxnSp>
        <p:nvCxnSpPr>
          <p:cNvPr id="12" name="Connector 11"/>
          <p:cNvCxnSpPr/>
          <p:nvPr/>
        </p:nvCxnSpPr>
        <p:spPr>
          <a:xfrm>
            <a:off x="4809744" y="2560320"/>
            <a:ext cx="137160" cy="0"/>
          </a:xfrm>
          <a:prstGeom prst="line">
            <a:avLst/>
          </a:prstGeom>
          <a:ln w="31750">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928616" y="2057400"/>
            <a:ext cx="2075688" cy="1005840"/>
          </a:xfrm>
          <a:prstGeom prst="roundRect">
            <a:avLst>
              <a:gd name="adj" fmla="val 15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0056" y="2194560"/>
            <a:ext cx="1892808" cy="731520"/>
          </a:xfrm>
          <a:prstGeom prst="rect">
            <a:avLst/>
          </a:prstGeom>
          <a:noFill/>
        </p:spPr>
        <p:txBody>
          <a:bodyPr wrap="square" anchor="ctr" lIns="0" rIns="0" tIns="0" bIns="0">
            <a:spAutoFit/>
          </a:bodyPr>
          <a:lstStyle/>
          <a:p>
            <a:pPr algn="ctr"/>
            <a:r>
              <a:rPr sz="1300" b="1" i="0">
                <a:solidFill>
                  <a:srgbClr val="FFFFFF"/>
                </a:solidFill>
                <a:latin typeface="Segoe UI"/>
              </a:rPr>
              <a:t>Select Seats</a:t>
            </a:r>
          </a:p>
        </p:txBody>
      </p:sp>
      <p:cxnSp>
        <p:nvCxnSpPr>
          <p:cNvPr id="15" name="Connector 14"/>
          <p:cNvCxnSpPr/>
          <p:nvPr/>
        </p:nvCxnSpPr>
        <p:spPr>
          <a:xfrm>
            <a:off x="7022592" y="2560320"/>
            <a:ext cx="137160" cy="0"/>
          </a:xfrm>
          <a:prstGeom prst="line">
            <a:avLst/>
          </a:prstGeom>
          <a:ln w="31750">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141464" y="2057400"/>
            <a:ext cx="2075688" cy="1005840"/>
          </a:xfrm>
          <a:prstGeom prst="roundRect">
            <a:avLst>
              <a:gd name="adj" fmla="val 15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2904" y="2194560"/>
            <a:ext cx="1892808" cy="731520"/>
          </a:xfrm>
          <a:prstGeom prst="rect">
            <a:avLst/>
          </a:prstGeom>
          <a:noFill/>
        </p:spPr>
        <p:txBody>
          <a:bodyPr wrap="square" anchor="ctr" lIns="0" rIns="0" tIns="0" bIns="0">
            <a:spAutoFit/>
          </a:bodyPr>
          <a:lstStyle/>
          <a:p>
            <a:pPr algn="ctr"/>
            <a:r>
              <a:rPr sz="1300" b="1" i="0">
                <a:solidFill>
                  <a:srgbClr val="FFFFFF"/>
                </a:solidFill>
                <a:latin typeface="Segoe UI"/>
              </a:rPr>
              <a:t>Pay Online</a:t>
            </a:r>
          </a:p>
        </p:txBody>
      </p:sp>
      <p:cxnSp>
        <p:nvCxnSpPr>
          <p:cNvPr id="18" name="Connector 17"/>
          <p:cNvCxnSpPr/>
          <p:nvPr/>
        </p:nvCxnSpPr>
        <p:spPr>
          <a:xfrm>
            <a:off x="9235440" y="2560320"/>
            <a:ext cx="137160" cy="0"/>
          </a:xfrm>
          <a:prstGeom prst="line">
            <a:avLst/>
          </a:prstGeom>
          <a:ln w="31750">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54312" y="2057400"/>
            <a:ext cx="2075688" cy="1005840"/>
          </a:xfrm>
          <a:prstGeom prst="roundRect">
            <a:avLst>
              <a:gd name="adj" fmla="val 15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45752" y="2194560"/>
            <a:ext cx="1892808" cy="731520"/>
          </a:xfrm>
          <a:prstGeom prst="rect">
            <a:avLst/>
          </a:prstGeom>
          <a:noFill/>
        </p:spPr>
        <p:txBody>
          <a:bodyPr wrap="square" anchor="ctr" lIns="0" rIns="0" tIns="0" bIns="0">
            <a:spAutoFit/>
          </a:bodyPr>
          <a:lstStyle/>
          <a:p>
            <a:pPr algn="ctr"/>
            <a:r>
              <a:rPr sz="1300" b="1" i="0">
                <a:solidFill>
                  <a:srgbClr val="FFFFFF"/>
                </a:solidFill>
                <a:latin typeface="Segoe UI"/>
              </a:rPr>
              <a:t>Confirmed</a:t>
            </a:r>
          </a:p>
          <a:p>
            <a:pPr algn="ctr"/>
            <a:r>
              <a:rPr sz="1300" b="1" i="0">
                <a:solidFill>
                  <a:srgbClr val="FFFFFF"/>
                </a:solidFill>
                <a:latin typeface="Segoe UI"/>
              </a:rPr>
              <a:t>E-Ticket</a:t>
            </a:r>
          </a:p>
        </p:txBody>
      </p:sp>
      <p:sp>
        <p:nvSpPr>
          <p:cNvPr id="21" name="TextBox 20"/>
          <p:cNvSpPr txBox="1"/>
          <p:nvPr/>
        </p:nvSpPr>
        <p:spPr>
          <a:xfrm>
            <a:off x="502920" y="3520440"/>
            <a:ext cx="10058400" cy="365760"/>
          </a:xfrm>
          <a:prstGeom prst="rect">
            <a:avLst/>
          </a:prstGeom>
          <a:noFill/>
        </p:spPr>
        <p:txBody>
          <a:bodyPr wrap="square" anchor="t" lIns="0" rIns="0" tIns="0" bIns="0">
            <a:spAutoFit/>
          </a:bodyPr>
          <a:lstStyle/>
          <a:p>
            <a:pPr algn="l"/>
            <a:r>
              <a:rPr sz="1600" b="1" i="0">
                <a:solidFill>
                  <a:srgbClr val="0B1F3F"/>
                </a:solidFill>
                <a:latin typeface="Segoe UI"/>
              </a:rPr>
              <a:t>Advantages</a:t>
            </a:r>
          </a:p>
        </p:txBody>
      </p:sp>
      <p:sp>
        <p:nvSpPr>
          <p:cNvPr id="22" name="Rounded Rectangle 21"/>
          <p:cNvSpPr/>
          <p:nvPr/>
        </p:nvSpPr>
        <p:spPr>
          <a:xfrm>
            <a:off x="502920" y="3931920"/>
            <a:ext cx="2697480" cy="233172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531620" y="4114800"/>
            <a:ext cx="640080" cy="64008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31620" y="41148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25" name="TextBox 24"/>
          <p:cNvSpPr txBox="1"/>
          <p:nvPr/>
        </p:nvSpPr>
        <p:spPr>
          <a:xfrm>
            <a:off x="640080" y="48920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Automation</a:t>
            </a:r>
          </a:p>
        </p:txBody>
      </p:sp>
      <p:sp>
        <p:nvSpPr>
          <p:cNvPr id="26" name="TextBox 25"/>
          <p:cNvSpPr txBox="1"/>
          <p:nvPr/>
        </p:nvSpPr>
        <p:spPr>
          <a:xfrm>
            <a:off x="685800" y="5257800"/>
            <a:ext cx="2331720" cy="914400"/>
          </a:xfrm>
          <a:prstGeom prst="rect">
            <a:avLst/>
          </a:prstGeom>
          <a:noFill/>
        </p:spPr>
        <p:txBody>
          <a:bodyPr wrap="square" anchor="t" lIns="0" rIns="0" tIns="0" bIns="0">
            <a:spAutoFit/>
          </a:bodyPr>
          <a:lstStyle/>
          <a:p>
            <a:pPr algn="ctr"/>
            <a:r>
              <a:rPr sz="1050" b="0" i="0">
                <a:solidFill>
                  <a:srgbClr val="5A6474"/>
                </a:solidFill>
                <a:latin typeface="Segoe UI"/>
              </a:rPr>
              <a:t>No manual register updates; data flows straight into the database</a:t>
            </a:r>
          </a:p>
        </p:txBody>
      </p:sp>
      <p:sp>
        <p:nvSpPr>
          <p:cNvPr id="27" name="Rounded Rectangle 26"/>
          <p:cNvSpPr/>
          <p:nvPr/>
        </p:nvSpPr>
        <p:spPr>
          <a:xfrm>
            <a:off x="3337560" y="3931920"/>
            <a:ext cx="2697480" cy="233172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66260" y="4114800"/>
            <a:ext cx="640080" cy="64008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66260" y="41148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30" name="TextBox 29"/>
          <p:cNvSpPr txBox="1"/>
          <p:nvPr/>
        </p:nvSpPr>
        <p:spPr>
          <a:xfrm>
            <a:off x="3474720" y="48920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Secure Login</a:t>
            </a:r>
          </a:p>
        </p:txBody>
      </p:sp>
      <p:sp>
        <p:nvSpPr>
          <p:cNvPr id="31" name="TextBox 30"/>
          <p:cNvSpPr txBox="1"/>
          <p:nvPr/>
        </p:nvSpPr>
        <p:spPr>
          <a:xfrm>
            <a:off x="3520440" y="5257800"/>
            <a:ext cx="2331720" cy="914400"/>
          </a:xfrm>
          <a:prstGeom prst="rect">
            <a:avLst/>
          </a:prstGeom>
          <a:noFill/>
        </p:spPr>
        <p:txBody>
          <a:bodyPr wrap="square" anchor="t" lIns="0" rIns="0" tIns="0" bIns="0">
            <a:spAutoFit/>
          </a:bodyPr>
          <a:lstStyle/>
          <a:p>
            <a:pPr algn="ctr"/>
            <a:r>
              <a:rPr sz="1050" b="0" i="0">
                <a:solidFill>
                  <a:srgbClr val="5A6474"/>
                </a:solidFill>
                <a:latin typeface="Segoe UI"/>
              </a:rPr>
              <a:t>Session-based authentication protects personal booking data</a:t>
            </a:r>
          </a:p>
        </p:txBody>
      </p:sp>
      <p:sp>
        <p:nvSpPr>
          <p:cNvPr id="32" name="Rounded Rectangle 31"/>
          <p:cNvSpPr/>
          <p:nvPr/>
        </p:nvSpPr>
        <p:spPr>
          <a:xfrm>
            <a:off x="6172200" y="3931920"/>
            <a:ext cx="2697480" cy="233172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00900" y="4114800"/>
            <a:ext cx="640080" cy="64008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0900" y="41148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35" name="TextBox 34"/>
          <p:cNvSpPr txBox="1"/>
          <p:nvPr/>
        </p:nvSpPr>
        <p:spPr>
          <a:xfrm>
            <a:off x="6309360" y="48920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Database Integration</a:t>
            </a:r>
          </a:p>
        </p:txBody>
      </p:sp>
      <p:sp>
        <p:nvSpPr>
          <p:cNvPr id="36" name="TextBox 35"/>
          <p:cNvSpPr txBox="1"/>
          <p:nvPr/>
        </p:nvSpPr>
        <p:spPr>
          <a:xfrm>
            <a:off x="6355080" y="5257800"/>
            <a:ext cx="2331720" cy="914400"/>
          </a:xfrm>
          <a:prstGeom prst="rect">
            <a:avLst/>
          </a:prstGeom>
          <a:noFill/>
        </p:spPr>
        <p:txBody>
          <a:bodyPr wrap="square" anchor="t" lIns="0" rIns="0" tIns="0" bIns="0">
            <a:spAutoFit/>
          </a:bodyPr>
          <a:lstStyle/>
          <a:p>
            <a:pPr algn="ctr"/>
            <a:r>
              <a:rPr sz="1050" b="0" i="0">
                <a:solidFill>
                  <a:srgbClr val="5A6474"/>
                </a:solidFill>
                <a:latin typeface="Segoe UI"/>
              </a:rPr>
              <a:t>Every booking permanently linked to user &amp; bus records</a:t>
            </a:r>
          </a:p>
        </p:txBody>
      </p:sp>
      <p:sp>
        <p:nvSpPr>
          <p:cNvPr id="37" name="Rounded Rectangle 36"/>
          <p:cNvSpPr/>
          <p:nvPr/>
        </p:nvSpPr>
        <p:spPr>
          <a:xfrm>
            <a:off x="9006840" y="3931920"/>
            <a:ext cx="2697480" cy="2331720"/>
          </a:xfrm>
          <a:prstGeom prst="roundRect">
            <a:avLst>
              <a:gd name="adj" fmla="val 7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035540" y="4114800"/>
            <a:ext cx="640080" cy="64008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35540" y="4114800"/>
            <a:ext cx="640080" cy="640080"/>
          </a:xfrm>
          <a:prstGeom prst="rect">
            <a:avLst/>
          </a:prstGeom>
          <a:noFill/>
        </p:spPr>
        <p:txBody>
          <a:bodyPr wrap="none" anchor="ctr" lIns="0" rIns="0" tIns="0" bIns="0">
            <a:spAutoFit/>
          </a:bodyPr>
          <a:lstStyle/>
          <a:p>
            <a:pPr algn="ctr"/>
            <a:r>
              <a:rPr sz="2400">
                <a:solidFill>
                  <a:srgbClr val="FFFFFF"/>
                </a:solidFill>
                <a:latin typeface="Segoe UI Emoji"/>
              </a:rPr>
              <a:t>🎨</a:t>
            </a:r>
          </a:p>
        </p:txBody>
      </p:sp>
      <p:sp>
        <p:nvSpPr>
          <p:cNvPr id="40" name="TextBox 39"/>
          <p:cNvSpPr txBox="1"/>
          <p:nvPr/>
        </p:nvSpPr>
        <p:spPr>
          <a:xfrm>
            <a:off x="9144000" y="4892040"/>
            <a:ext cx="2423160" cy="365760"/>
          </a:xfrm>
          <a:prstGeom prst="rect">
            <a:avLst/>
          </a:prstGeom>
          <a:noFill/>
        </p:spPr>
        <p:txBody>
          <a:bodyPr wrap="square" anchor="t" lIns="0" rIns="0" tIns="0" bIns="0">
            <a:spAutoFit/>
          </a:bodyPr>
          <a:lstStyle/>
          <a:p>
            <a:pPr algn="ctr"/>
            <a:r>
              <a:rPr sz="1350" b="1" i="0">
                <a:solidFill>
                  <a:srgbClr val="0B1F3F"/>
                </a:solidFill>
                <a:latin typeface="Segoe UI"/>
              </a:rPr>
              <a:t>Modern UI</a:t>
            </a:r>
          </a:p>
        </p:txBody>
      </p:sp>
      <p:sp>
        <p:nvSpPr>
          <p:cNvPr id="41" name="TextBox 40"/>
          <p:cNvSpPr txBox="1"/>
          <p:nvPr/>
        </p:nvSpPr>
        <p:spPr>
          <a:xfrm>
            <a:off x="9189720" y="5257800"/>
            <a:ext cx="2331720" cy="914400"/>
          </a:xfrm>
          <a:prstGeom prst="rect">
            <a:avLst/>
          </a:prstGeom>
          <a:noFill/>
        </p:spPr>
        <p:txBody>
          <a:bodyPr wrap="square" anchor="t" lIns="0" rIns="0" tIns="0" bIns="0">
            <a:spAutoFit/>
          </a:bodyPr>
          <a:lstStyle/>
          <a:p>
            <a:pPr algn="ctr"/>
            <a:r>
              <a:rPr sz="1050" b="0" i="0">
                <a:solidFill>
                  <a:srgbClr val="5A6474"/>
                </a:solidFill>
                <a:latin typeface="Segoe UI"/>
              </a:rPr>
              <a:t>Clean, responsive interface usable on desktop and mobile</a:t>
            </a:r>
          </a:p>
        </p:txBody>
      </p:sp>
      <p:sp>
        <p:nvSpPr>
          <p:cNvPr id="42" name="TextBox 41"/>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5</a:t>
            </a:r>
          </a:p>
        </p:txBody>
      </p:sp>
      <p:sp>
        <p:nvSpPr>
          <p:cNvPr id="43" name="TextBox 42"/>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TECH STACK</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Technologies Used</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71600"/>
            <a:ext cx="2697480" cy="233172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08760" y="1577340"/>
            <a:ext cx="685800" cy="68580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15773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9" name="TextBox 8"/>
          <p:cNvSpPr txBox="1"/>
          <p:nvPr/>
        </p:nvSpPr>
        <p:spPr>
          <a:xfrm>
            <a:off x="594360" y="2423160"/>
            <a:ext cx="2514600" cy="320040"/>
          </a:xfrm>
          <a:prstGeom prst="rect">
            <a:avLst/>
          </a:prstGeom>
          <a:noFill/>
        </p:spPr>
        <p:txBody>
          <a:bodyPr wrap="square" anchor="t" lIns="0" rIns="0" tIns="0" bIns="0">
            <a:spAutoFit/>
          </a:bodyPr>
          <a:lstStyle/>
          <a:p>
            <a:pPr algn="ctr"/>
            <a:r>
              <a:rPr sz="1500" b="1" i="0">
                <a:solidFill>
                  <a:srgbClr val="0B1F3F"/>
                </a:solidFill>
                <a:latin typeface="Segoe UI"/>
              </a:rPr>
              <a:t>Python</a:t>
            </a:r>
          </a:p>
        </p:txBody>
      </p:sp>
      <p:sp>
        <p:nvSpPr>
          <p:cNvPr id="10" name="TextBox 9"/>
          <p:cNvSpPr txBox="1"/>
          <p:nvPr/>
        </p:nvSpPr>
        <p:spPr>
          <a:xfrm>
            <a:off x="640080" y="2788920"/>
            <a:ext cx="2423160" cy="822960"/>
          </a:xfrm>
          <a:prstGeom prst="rect">
            <a:avLst/>
          </a:prstGeom>
          <a:noFill/>
        </p:spPr>
        <p:txBody>
          <a:bodyPr wrap="square" anchor="t" lIns="0" rIns="0" tIns="0" bIns="0">
            <a:spAutoFit/>
          </a:bodyPr>
          <a:lstStyle/>
          <a:p>
            <a:pPr algn="ctr"/>
            <a:r>
              <a:rPr sz="1000" b="0" i="0">
                <a:solidFill>
                  <a:srgbClr val="5A6474"/>
                </a:solidFill>
                <a:latin typeface="Segoe UI"/>
              </a:rPr>
              <a:t>Core programming language — simple syntax, huge ecosystem</a:t>
            </a:r>
          </a:p>
        </p:txBody>
      </p:sp>
      <p:sp>
        <p:nvSpPr>
          <p:cNvPr id="11" name="Rounded Rectangle 10"/>
          <p:cNvSpPr/>
          <p:nvPr/>
        </p:nvSpPr>
        <p:spPr>
          <a:xfrm>
            <a:off x="3337560" y="1371600"/>
            <a:ext cx="2697480" cy="233172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43400" y="1577340"/>
            <a:ext cx="685800" cy="68580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15773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14" name="TextBox 13"/>
          <p:cNvSpPr txBox="1"/>
          <p:nvPr/>
        </p:nvSpPr>
        <p:spPr>
          <a:xfrm>
            <a:off x="3429000" y="2423160"/>
            <a:ext cx="2514600" cy="320040"/>
          </a:xfrm>
          <a:prstGeom prst="rect">
            <a:avLst/>
          </a:prstGeom>
          <a:noFill/>
        </p:spPr>
        <p:txBody>
          <a:bodyPr wrap="square" anchor="t" lIns="0" rIns="0" tIns="0" bIns="0">
            <a:spAutoFit/>
          </a:bodyPr>
          <a:lstStyle/>
          <a:p>
            <a:pPr algn="ctr"/>
            <a:r>
              <a:rPr sz="1500" b="1" i="0">
                <a:solidFill>
                  <a:srgbClr val="0B1F3F"/>
                </a:solidFill>
                <a:latin typeface="Segoe UI"/>
              </a:rPr>
              <a:t>Flask</a:t>
            </a:r>
          </a:p>
        </p:txBody>
      </p:sp>
      <p:sp>
        <p:nvSpPr>
          <p:cNvPr id="15" name="TextBox 14"/>
          <p:cNvSpPr txBox="1"/>
          <p:nvPr/>
        </p:nvSpPr>
        <p:spPr>
          <a:xfrm>
            <a:off x="3474720" y="2788920"/>
            <a:ext cx="2423160" cy="822960"/>
          </a:xfrm>
          <a:prstGeom prst="rect">
            <a:avLst/>
          </a:prstGeom>
          <a:noFill/>
        </p:spPr>
        <p:txBody>
          <a:bodyPr wrap="square" anchor="t" lIns="0" rIns="0" tIns="0" bIns="0">
            <a:spAutoFit/>
          </a:bodyPr>
          <a:lstStyle/>
          <a:p>
            <a:pPr algn="ctr"/>
            <a:r>
              <a:rPr sz="1000" b="0" i="0">
                <a:solidFill>
                  <a:srgbClr val="5A6474"/>
                </a:solidFill>
                <a:latin typeface="Segoe UI"/>
              </a:rPr>
              <a:t>Lightweight web framework — full control over routes &amp; logic</a:t>
            </a:r>
          </a:p>
        </p:txBody>
      </p:sp>
      <p:sp>
        <p:nvSpPr>
          <p:cNvPr id="16" name="Rounded Rectangle 15"/>
          <p:cNvSpPr/>
          <p:nvPr/>
        </p:nvSpPr>
        <p:spPr>
          <a:xfrm>
            <a:off x="6172200" y="1371600"/>
            <a:ext cx="2697480" cy="233172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78040" y="1577340"/>
            <a:ext cx="685800" cy="68580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78040" y="15773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19" name="TextBox 18"/>
          <p:cNvSpPr txBox="1"/>
          <p:nvPr/>
        </p:nvSpPr>
        <p:spPr>
          <a:xfrm>
            <a:off x="6263640" y="2423160"/>
            <a:ext cx="2514600" cy="320040"/>
          </a:xfrm>
          <a:prstGeom prst="rect">
            <a:avLst/>
          </a:prstGeom>
          <a:noFill/>
        </p:spPr>
        <p:txBody>
          <a:bodyPr wrap="square" anchor="t" lIns="0" rIns="0" tIns="0" bIns="0">
            <a:spAutoFit/>
          </a:bodyPr>
          <a:lstStyle/>
          <a:p>
            <a:pPr algn="ctr"/>
            <a:r>
              <a:rPr sz="1500" b="1" i="0">
                <a:solidFill>
                  <a:srgbClr val="0B1F3F"/>
                </a:solidFill>
                <a:latin typeface="Segoe UI"/>
              </a:rPr>
              <a:t>SQLite3</a:t>
            </a:r>
          </a:p>
        </p:txBody>
      </p:sp>
      <p:sp>
        <p:nvSpPr>
          <p:cNvPr id="20" name="TextBox 19"/>
          <p:cNvSpPr txBox="1"/>
          <p:nvPr/>
        </p:nvSpPr>
        <p:spPr>
          <a:xfrm>
            <a:off x="6309360" y="2788920"/>
            <a:ext cx="2423160" cy="822960"/>
          </a:xfrm>
          <a:prstGeom prst="rect">
            <a:avLst/>
          </a:prstGeom>
          <a:noFill/>
        </p:spPr>
        <p:txBody>
          <a:bodyPr wrap="square" anchor="t" lIns="0" rIns="0" tIns="0" bIns="0">
            <a:spAutoFit/>
          </a:bodyPr>
          <a:lstStyle/>
          <a:p>
            <a:pPr algn="ctr"/>
            <a:r>
              <a:rPr sz="1000" b="0" i="0">
                <a:solidFill>
                  <a:srgbClr val="5A6474"/>
                </a:solidFill>
                <a:latin typeface="Segoe UI"/>
              </a:rPr>
              <a:t>Zero-config relational database bundled with Python</a:t>
            </a:r>
          </a:p>
        </p:txBody>
      </p:sp>
      <p:sp>
        <p:nvSpPr>
          <p:cNvPr id="21" name="Rounded Rectangle 20"/>
          <p:cNvSpPr/>
          <p:nvPr/>
        </p:nvSpPr>
        <p:spPr>
          <a:xfrm>
            <a:off x="9006840" y="1371600"/>
            <a:ext cx="2697480" cy="233172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12680" y="1577340"/>
            <a:ext cx="685800" cy="68580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12680" y="15773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24" name="TextBox 23"/>
          <p:cNvSpPr txBox="1"/>
          <p:nvPr/>
        </p:nvSpPr>
        <p:spPr>
          <a:xfrm>
            <a:off x="9098280" y="2423160"/>
            <a:ext cx="2514600" cy="320040"/>
          </a:xfrm>
          <a:prstGeom prst="rect">
            <a:avLst/>
          </a:prstGeom>
          <a:noFill/>
        </p:spPr>
        <p:txBody>
          <a:bodyPr wrap="square" anchor="t" lIns="0" rIns="0" tIns="0" bIns="0">
            <a:spAutoFit/>
          </a:bodyPr>
          <a:lstStyle/>
          <a:p>
            <a:pPr algn="ctr"/>
            <a:r>
              <a:rPr sz="1500" b="1" i="0">
                <a:solidFill>
                  <a:srgbClr val="0B1F3F"/>
                </a:solidFill>
                <a:latin typeface="Segoe UI"/>
              </a:rPr>
              <a:t>HTML5</a:t>
            </a:r>
          </a:p>
        </p:txBody>
      </p:sp>
      <p:sp>
        <p:nvSpPr>
          <p:cNvPr id="25" name="TextBox 24"/>
          <p:cNvSpPr txBox="1"/>
          <p:nvPr/>
        </p:nvSpPr>
        <p:spPr>
          <a:xfrm>
            <a:off x="9144000" y="2788920"/>
            <a:ext cx="2423160" cy="822960"/>
          </a:xfrm>
          <a:prstGeom prst="rect">
            <a:avLst/>
          </a:prstGeom>
          <a:noFill/>
        </p:spPr>
        <p:txBody>
          <a:bodyPr wrap="square" anchor="t" lIns="0" rIns="0" tIns="0" bIns="0">
            <a:spAutoFit/>
          </a:bodyPr>
          <a:lstStyle/>
          <a:p>
            <a:pPr algn="ctr"/>
            <a:r>
              <a:rPr sz="1000" b="0" i="0">
                <a:solidFill>
                  <a:srgbClr val="5A6474"/>
                </a:solidFill>
                <a:latin typeface="Segoe UI"/>
              </a:rPr>
              <a:t>Semantic page structure for every screen</a:t>
            </a:r>
          </a:p>
        </p:txBody>
      </p:sp>
      <p:sp>
        <p:nvSpPr>
          <p:cNvPr id="26" name="Rounded Rectangle 25"/>
          <p:cNvSpPr/>
          <p:nvPr/>
        </p:nvSpPr>
        <p:spPr>
          <a:xfrm>
            <a:off x="502920" y="3886200"/>
            <a:ext cx="2697480" cy="233172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08760" y="4091940"/>
            <a:ext cx="685800" cy="68580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08760" y="40919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29" name="TextBox 28"/>
          <p:cNvSpPr txBox="1"/>
          <p:nvPr/>
        </p:nvSpPr>
        <p:spPr>
          <a:xfrm>
            <a:off x="594360" y="4937760"/>
            <a:ext cx="2514600" cy="320040"/>
          </a:xfrm>
          <a:prstGeom prst="rect">
            <a:avLst/>
          </a:prstGeom>
          <a:noFill/>
        </p:spPr>
        <p:txBody>
          <a:bodyPr wrap="square" anchor="t" lIns="0" rIns="0" tIns="0" bIns="0">
            <a:spAutoFit/>
          </a:bodyPr>
          <a:lstStyle/>
          <a:p>
            <a:pPr algn="ctr"/>
            <a:r>
              <a:rPr sz="1500" b="1" i="0">
                <a:solidFill>
                  <a:srgbClr val="0B1F3F"/>
                </a:solidFill>
                <a:latin typeface="Segoe UI"/>
              </a:rPr>
              <a:t>CSS3</a:t>
            </a:r>
          </a:p>
        </p:txBody>
      </p:sp>
      <p:sp>
        <p:nvSpPr>
          <p:cNvPr id="30" name="TextBox 29"/>
          <p:cNvSpPr txBox="1"/>
          <p:nvPr/>
        </p:nvSpPr>
        <p:spPr>
          <a:xfrm>
            <a:off x="640080" y="5303520"/>
            <a:ext cx="2423160" cy="822960"/>
          </a:xfrm>
          <a:prstGeom prst="rect">
            <a:avLst/>
          </a:prstGeom>
          <a:noFill/>
        </p:spPr>
        <p:txBody>
          <a:bodyPr wrap="square" anchor="t" lIns="0" rIns="0" tIns="0" bIns="0">
            <a:spAutoFit/>
          </a:bodyPr>
          <a:lstStyle/>
          <a:p>
            <a:pPr algn="ctr"/>
            <a:r>
              <a:rPr sz="1000" b="0" i="0">
                <a:solidFill>
                  <a:srgbClr val="5A6474"/>
                </a:solidFill>
                <a:latin typeface="Segoe UI"/>
              </a:rPr>
              <a:t>Hand-written responsive styling, no framework dependency</a:t>
            </a:r>
          </a:p>
        </p:txBody>
      </p:sp>
      <p:sp>
        <p:nvSpPr>
          <p:cNvPr id="31" name="Rounded Rectangle 30"/>
          <p:cNvSpPr/>
          <p:nvPr/>
        </p:nvSpPr>
        <p:spPr>
          <a:xfrm>
            <a:off x="3337560" y="3886200"/>
            <a:ext cx="2697480" cy="233172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343400" y="4091940"/>
            <a:ext cx="685800" cy="68580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43400" y="40919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34" name="TextBox 33"/>
          <p:cNvSpPr txBox="1"/>
          <p:nvPr/>
        </p:nvSpPr>
        <p:spPr>
          <a:xfrm>
            <a:off x="3429000" y="4937760"/>
            <a:ext cx="2514600" cy="320040"/>
          </a:xfrm>
          <a:prstGeom prst="rect">
            <a:avLst/>
          </a:prstGeom>
          <a:noFill/>
        </p:spPr>
        <p:txBody>
          <a:bodyPr wrap="square" anchor="t" lIns="0" rIns="0" tIns="0" bIns="0">
            <a:spAutoFit/>
          </a:bodyPr>
          <a:lstStyle/>
          <a:p>
            <a:pPr algn="ctr"/>
            <a:r>
              <a:rPr sz="1500" b="1" i="0">
                <a:solidFill>
                  <a:srgbClr val="0B1F3F"/>
                </a:solidFill>
                <a:latin typeface="Segoe UI"/>
              </a:rPr>
              <a:t>Jinja2</a:t>
            </a:r>
          </a:p>
        </p:txBody>
      </p:sp>
      <p:sp>
        <p:nvSpPr>
          <p:cNvPr id="35" name="TextBox 34"/>
          <p:cNvSpPr txBox="1"/>
          <p:nvPr/>
        </p:nvSpPr>
        <p:spPr>
          <a:xfrm>
            <a:off x="3474720" y="5303520"/>
            <a:ext cx="2423160" cy="822960"/>
          </a:xfrm>
          <a:prstGeom prst="rect">
            <a:avLst/>
          </a:prstGeom>
          <a:noFill/>
        </p:spPr>
        <p:txBody>
          <a:bodyPr wrap="square" anchor="t" lIns="0" rIns="0" tIns="0" bIns="0">
            <a:spAutoFit/>
          </a:bodyPr>
          <a:lstStyle/>
          <a:p>
            <a:pPr algn="ctr"/>
            <a:r>
              <a:rPr sz="1000" b="0" i="0">
                <a:solidFill>
                  <a:srgbClr val="5A6474"/>
                </a:solidFill>
                <a:latin typeface="Segoe UI"/>
              </a:rPr>
              <a:t>Server-side templating with reusable base layout</a:t>
            </a:r>
          </a:p>
        </p:txBody>
      </p:sp>
      <p:sp>
        <p:nvSpPr>
          <p:cNvPr id="36" name="Rounded Rectangle 35"/>
          <p:cNvSpPr/>
          <p:nvPr/>
        </p:nvSpPr>
        <p:spPr>
          <a:xfrm>
            <a:off x="6172200" y="3886200"/>
            <a:ext cx="2697480" cy="233172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178040" y="4091940"/>
            <a:ext cx="685800" cy="68580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78040" y="409194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39" name="TextBox 38"/>
          <p:cNvSpPr txBox="1"/>
          <p:nvPr/>
        </p:nvSpPr>
        <p:spPr>
          <a:xfrm>
            <a:off x="6263640" y="4937760"/>
            <a:ext cx="2514600" cy="320040"/>
          </a:xfrm>
          <a:prstGeom prst="rect">
            <a:avLst/>
          </a:prstGeom>
          <a:noFill/>
        </p:spPr>
        <p:txBody>
          <a:bodyPr wrap="square" anchor="t" lIns="0" rIns="0" tIns="0" bIns="0">
            <a:spAutoFit/>
          </a:bodyPr>
          <a:lstStyle/>
          <a:p>
            <a:pPr algn="ctr"/>
            <a:r>
              <a:rPr sz="1500" b="1" i="0">
                <a:solidFill>
                  <a:srgbClr val="0B1F3F"/>
                </a:solidFill>
                <a:latin typeface="Segoe UI"/>
              </a:rPr>
              <a:t>VS Code</a:t>
            </a:r>
          </a:p>
        </p:txBody>
      </p:sp>
      <p:sp>
        <p:nvSpPr>
          <p:cNvPr id="40" name="TextBox 39"/>
          <p:cNvSpPr txBox="1"/>
          <p:nvPr/>
        </p:nvSpPr>
        <p:spPr>
          <a:xfrm>
            <a:off x="6309360" y="5303520"/>
            <a:ext cx="2423160" cy="822960"/>
          </a:xfrm>
          <a:prstGeom prst="rect">
            <a:avLst/>
          </a:prstGeom>
          <a:noFill/>
        </p:spPr>
        <p:txBody>
          <a:bodyPr wrap="square" anchor="t" lIns="0" rIns="0" tIns="0" bIns="0">
            <a:spAutoFit/>
          </a:bodyPr>
          <a:lstStyle/>
          <a:p>
            <a:pPr algn="ctr"/>
            <a:r>
              <a:rPr sz="1000" b="0" i="0">
                <a:solidFill>
                  <a:srgbClr val="5A6474"/>
                </a:solidFill>
                <a:latin typeface="Segoe UI"/>
              </a:rPr>
              <a:t>Primary editor — integrated terminal &amp; Python tooling</a:t>
            </a:r>
          </a:p>
        </p:txBody>
      </p:sp>
      <p:sp>
        <p:nvSpPr>
          <p:cNvPr id="41" name="TextBox 40"/>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6</a:t>
            </a:r>
          </a:p>
        </p:txBody>
      </p:sp>
      <p:sp>
        <p:nvSpPr>
          <p:cNvPr id="42" name="TextBox 41"/>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ARCHITECTURE</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System Architecture</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6309360" cy="960120"/>
          </a:xfrm>
          <a:prstGeom prst="roundRect">
            <a:avLst>
              <a:gd name="adj" fmla="val 12000"/>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62306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3060"/>
            <a:ext cx="548640" cy="548640"/>
          </a:xfrm>
          <a:prstGeom prst="rect">
            <a:avLst/>
          </a:prstGeom>
          <a:noFill/>
        </p:spPr>
        <p:txBody>
          <a:bodyPr wrap="none" anchor="ctr" lIns="0" rIns="0" tIns="0" bIns="0">
            <a:spAutoFit/>
          </a:bodyPr>
          <a:lstStyle/>
          <a:p>
            <a:pPr algn="ctr"/>
            <a:r>
              <a:rPr sz="2000">
                <a:solidFill>
                  <a:srgbClr val="33A7E0"/>
                </a:solidFill>
                <a:latin typeface="Segoe UI Emoji"/>
              </a:rPr>
              <a:t>🖥</a:t>
            </a:r>
          </a:p>
        </p:txBody>
      </p:sp>
      <p:sp>
        <p:nvSpPr>
          <p:cNvPr id="9" name="TextBox 8"/>
          <p:cNvSpPr txBox="1"/>
          <p:nvPr/>
        </p:nvSpPr>
        <p:spPr>
          <a:xfrm>
            <a:off x="1554480" y="1563624"/>
            <a:ext cx="4389120" cy="320040"/>
          </a:xfrm>
          <a:prstGeom prst="rect">
            <a:avLst/>
          </a:prstGeom>
          <a:noFill/>
        </p:spPr>
        <p:txBody>
          <a:bodyPr wrap="square" anchor="t" lIns="0" rIns="0" tIns="0" bIns="0">
            <a:spAutoFit/>
          </a:bodyPr>
          <a:lstStyle/>
          <a:p>
            <a:pPr algn="l"/>
            <a:r>
              <a:rPr sz="1500" b="1" i="0">
                <a:solidFill>
                  <a:srgbClr val="FFFFFF"/>
                </a:solidFill>
                <a:latin typeface="Segoe UI"/>
              </a:rPr>
              <a:t>USER / BROWSER</a:t>
            </a:r>
          </a:p>
        </p:txBody>
      </p:sp>
      <p:sp>
        <p:nvSpPr>
          <p:cNvPr id="10" name="TextBox 9"/>
          <p:cNvSpPr txBox="1"/>
          <p:nvPr/>
        </p:nvSpPr>
        <p:spPr>
          <a:xfrm>
            <a:off x="1554480" y="1920240"/>
            <a:ext cx="5120640" cy="365760"/>
          </a:xfrm>
          <a:prstGeom prst="rect">
            <a:avLst/>
          </a:prstGeom>
          <a:noFill/>
        </p:spPr>
        <p:txBody>
          <a:bodyPr wrap="square" anchor="t" lIns="0" rIns="0" tIns="0" bIns="0">
            <a:spAutoFit/>
          </a:bodyPr>
          <a:lstStyle/>
          <a:p>
            <a:pPr algn="l"/>
            <a:r>
              <a:rPr sz="1100" b="0" i="0">
                <a:solidFill>
                  <a:srgbClr val="FFFFFF"/>
                </a:solidFill>
                <a:latin typeface="Segoe UI"/>
              </a:rPr>
              <a:t>HTML5 + CSS3 pages rendered via Jinja2</a:t>
            </a:r>
          </a:p>
        </p:txBody>
      </p:sp>
      <p:cxnSp>
        <p:nvCxnSpPr>
          <p:cNvPr id="11" name="Connector 10"/>
          <p:cNvCxnSpPr/>
          <p:nvPr/>
        </p:nvCxnSpPr>
        <p:spPr>
          <a:xfrm>
            <a:off x="3657600" y="2404872"/>
            <a:ext cx="0" cy="219456"/>
          </a:xfrm>
          <a:prstGeom prst="line">
            <a:avLst/>
          </a:prstGeom>
          <a:ln w="31750">
            <a:solidFill>
              <a:srgbClr val="0B1F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2743200"/>
            <a:ext cx="6309360" cy="960120"/>
          </a:xfrm>
          <a:prstGeom prst="roundRect">
            <a:avLst>
              <a:gd name="adj" fmla="val 12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294894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948940"/>
            <a:ext cx="548640" cy="548640"/>
          </a:xfrm>
          <a:prstGeom prst="rect">
            <a:avLst/>
          </a:prstGeom>
          <a:noFill/>
        </p:spPr>
        <p:txBody>
          <a:bodyPr wrap="none" anchor="ctr" lIns="0" rIns="0" tIns="0" bIns="0">
            <a:spAutoFit/>
          </a:bodyPr>
          <a:lstStyle/>
          <a:p>
            <a:pPr algn="ctr"/>
            <a:r>
              <a:rPr sz="2000">
                <a:solidFill>
                  <a:srgbClr val="0B1F3F"/>
                </a:solidFill>
                <a:latin typeface="Segoe UI Emoji"/>
              </a:rPr>
              <a:t>⚙</a:t>
            </a:r>
          </a:p>
        </p:txBody>
      </p:sp>
      <p:sp>
        <p:nvSpPr>
          <p:cNvPr id="15" name="TextBox 14"/>
          <p:cNvSpPr txBox="1"/>
          <p:nvPr/>
        </p:nvSpPr>
        <p:spPr>
          <a:xfrm>
            <a:off x="1554480" y="2889504"/>
            <a:ext cx="4389120" cy="320040"/>
          </a:xfrm>
          <a:prstGeom prst="rect">
            <a:avLst/>
          </a:prstGeom>
          <a:noFill/>
        </p:spPr>
        <p:txBody>
          <a:bodyPr wrap="square" anchor="t" lIns="0" rIns="0" tIns="0" bIns="0">
            <a:spAutoFit/>
          </a:bodyPr>
          <a:lstStyle/>
          <a:p>
            <a:pPr algn="l"/>
            <a:r>
              <a:rPr sz="1500" b="1" i="0">
                <a:solidFill>
                  <a:srgbClr val="FFFFFF"/>
                </a:solidFill>
                <a:latin typeface="Segoe UI"/>
              </a:rPr>
              <a:t>FLASK APPLICATION</a:t>
            </a:r>
          </a:p>
        </p:txBody>
      </p:sp>
      <p:sp>
        <p:nvSpPr>
          <p:cNvPr id="16" name="TextBox 15"/>
          <p:cNvSpPr txBox="1"/>
          <p:nvPr/>
        </p:nvSpPr>
        <p:spPr>
          <a:xfrm>
            <a:off x="1554480" y="3246120"/>
            <a:ext cx="5120640" cy="365760"/>
          </a:xfrm>
          <a:prstGeom prst="rect">
            <a:avLst/>
          </a:prstGeom>
          <a:noFill/>
        </p:spPr>
        <p:txBody>
          <a:bodyPr wrap="square" anchor="t" lIns="0" rIns="0" tIns="0" bIns="0">
            <a:spAutoFit/>
          </a:bodyPr>
          <a:lstStyle/>
          <a:p>
            <a:pPr algn="l"/>
            <a:r>
              <a:rPr sz="1100" b="0" i="0">
                <a:solidFill>
                  <a:srgbClr val="FFFFFF"/>
                </a:solidFill>
                <a:latin typeface="Segoe UI"/>
              </a:rPr>
              <a:t>15 routes handle requests, sessions &amp; logic</a:t>
            </a:r>
          </a:p>
        </p:txBody>
      </p:sp>
      <p:cxnSp>
        <p:nvCxnSpPr>
          <p:cNvPr id="17" name="Connector 16"/>
          <p:cNvCxnSpPr/>
          <p:nvPr/>
        </p:nvCxnSpPr>
        <p:spPr>
          <a:xfrm>
            <a:off x="3657600" y="3730752"/>
            <a:ext cx="0" cy="219456"/>
          </a:xfrm>
          <a:prstGeom prst="line">
            <a:avLst/>
          </a:prstGeom>
          <a:ln w="31750">
            <a:solidFill>
              <a:srgbClr val="0B1F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4069080"/>
            <a:ext cx="6309360" cy="960120"/>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 y="427482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274820"/>
            <a:ext cx="548640" cy="548640"/>
          </a:xfrm>
          <a:prstGeom prst="rect">
            <a:avLst/>
          </a:prstGeom>
          <a:noFill/>
        </p:spPr>
        <p:txBody>
          <a:bodyPr wrap="none" anchor="ctr" lIns="0" rIns="0" tIns="0" bIns="0">
            <a:spAutoFit/>
          </a:bodyPr>
          <a:lstStyle/>
          <a:p>
            <a:pPr algn="ctr"/>
            <a:r>
              <a:rPr sz="2000">
                <a:solidFill>
                  <a:srgbClr val="F28C28"/>
                </a:solidFill>
                <a:latin typeface="Segoe UI Emoji"/>
              </a:rPr>
              <a:t>🗄</a:t>
            </a:r>
          </a:p>
        </p:txBody>
      </p:sp>
      <p:sp>
        <p:nvSpPr>
          <p:cNvPr id="21" name="TextBox 20"/>
          <p:cNvSpPr txBox="1"/>
          <p:nvPr/>
        </p:nvSpPr>
        <p:spPr>
          <a:xfrm>
            <a:off x="1554480" y="4215384"/>
            <a:ext cx="4389120" cy="320040"/>
          </a:xfrm>
          <a:prstGeom prst="rect">
            <a:avLst/>
          </a:prstGeom>
          <a:noFill/>
        </p:spPr>
        <p:txBody>
          <a:bodyPr wrap="square" anchor="t" lIns="0" rIns="0" tIns="0" bIns="0">
            <a:spAutoFit/>
          </a:bodyPr>
          <a:lstStyle/>
          <a:p>
            <a:pPr algn="l"/>
            <a:r>
              <a:rPr sz="1500" b="1" i="0">
                <a:solidFill>
                  <a:srgbClr val="FFFFFF"/>
                </a:solidFill>
                <a:latin typeface="Segoe UI"/>
              </a:rPr>
              <a:t>SQLITE DATABASE</a:t>
            </a:r>
          </a:p>
        </p:txBody>
      </p:sp>
      <p:sp>
        <p:nvSpPr>
          <p:cNvPr id="22" name="TextBox 21"/>
          <p:cNvSpPr txBox="1"/>
          <p:nvPr/>
        </p:nvSpPr>
        <p:spPr>
          <a:xfrm>
            <a:off x="1554480" y="4572000"/>
            <a:ext cx="5120640" cy="365760"/>
          </a:xfrm>
          <a:prstGeom prst="rect">
            <a:avLst/>
          </a:prstGeom>
          <a:noFill/>
        </p:spPr>
        <p:txBody>
          <a:bodyPr wrap="square" anchor="t" lIns="0" rIns="0" tIns="0" bIns="0">
            <a:spAutoFit/>
          </a:bodyPr>
          <a:lstStyle/>
          <a:p>
            <a:pPr algn="l"/>
            <a:r>
              <a:rPr sz="1100" b="0" i="0">
                <a:solidFill>
                  <a:srgbClr val="FFFFFF"/>
                </a:solidFill>
                <a:latin typeface="Segoe UI"/>
              </a:rPr>
              <a:t>users, bus, bookings tables (database.db)</a:t>
            </a:r>
          </a:p>
        </p:txBody>
      </p:sp>
      <p:cxnSp>
        <p:nvCxnSpPr>
          <p:cNvPr id="23" name="Connector 22"/>
          <p:cNvCxnSpPr/>
          <p:nvPr/>
        </p:nvCxnSpPr>
        <p:spPr>
          <a:xfrm>
            <a:off x="3657600" y="5056632"/>
            <a:ext cx="0" cy="219456"/>
          </a:xfrm>
          <a:prstGeom prst="line">
            <a:avLst/>
          </a:prstGeom>
          <a:ln w="31750">
            <a:solidFill>
              <a:srgbClr val="0B1F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5394960"/>
            <a:ext cx="6309360" cy="960120"/>
          </a:xfrm>
          <a:prstGeom prst="roundRect">
            <a:avLst>
              <a:gd name="adj" fmla="val 12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560070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600700"/>
            <a:ext cx="548640" cy="548640"/>
          </a:xfrm>
          <a:prstGeom prst="rect">
            <a:avLst/>
          </a:prstGeom>
          <a:noFill/>
        </p:spPr>
        <p:txBody>
          <a:bodyPr wrap="none" anchor="ctr" lIns="0" rIns="0" tIns="0" bIns="0">
            <a:spAutoFit/>
          </a:bodyPr>
          <a:lstStyle/>
          <a:p>
            <a:pPr algn="ctr"/>
            <a:r>
              <a:rPr sz="2000">
                <a:solidFill>
                  <a:srgbClr val="2E9E5B"/>
                </a:solidFill>
                <a:latin typeface="Segoe UI Emoji"/>
              </a:rPr>
              <a:t>✅</a:t>
            </a:r>
          </a:p>
        </p:txBody>
      </p:sp>
      <p:sp>
        <p:nvSpPr>
          <p:cNvPr id="27" name="TextBox 26"/>
          <p:cNvSpPr txBox="1"/>
          <p:nvPr/>
        </p:nvSpPr>
        <p:spPr>
          <a:xfrm>
            <a:off x="1554480" y="5541264"/>
            <a:ext cx="4389120" cy="320040"/>
          </a:xfrm>
          <a:prstGeom prst="rect">
            <a:avLst/>
          </a:prstGeom>
          <a:noFill/>
        </p:spPr>
        <p:txBody>
          <a:bodyPr wrap="square" anchor="t" lIns="0" rIns="0" tIns="0" bIns="0">
            <a:spAutoFit/>
          </a:bodyPr>
          <a:lstStyle/>
          <a:p>
            <a:pPr algn="l"/>
            <a:r>
              <a:rPr sz="1500" b="1" i="0">
                <a:solidFill>
                  <a:srgbClr val="FFFFFF"/>
                </a:solidFill>
                <a:latin typeface="Segoe UI"/>
              </a:rPr>
              <a:t>BOOKING CONFIRMED</a:t>
            </a:r>
          </a:p>
        </p:txBody>
      </p:sp>
      <p:sp>
        <p:nvSpPr>
          <p:cNvPr id="28" name="TextBox 27"/>
          <p:cNvSpPr txBox="1"/>
          <p:nvPr/>
        </p:nvSpPr>
        <p:spPr>
          <a:xfrm>
            <a:off x="1554480" y="5897880"/>
            <a:ext cx="5120640" cy="365760"/>
          </a:xfrm>
          <a:prstGeom prst="rect">
            <a:avLst/>
          </a:prstGeom>
          <a:noFill/>
        </p:spPr>
        <p:txBody>
          <a:bodyPr wrap="square" anchor="t" lIns="0" rIns="0" tIns="0" bIns="0">
            <a:spAutoFit/>
          </a:bodyPr>
          <a:lstStyle/>
          <a:p>
            <a:pPr algn="l"/>
            <a:r>
              <a:rPr sz="1100" b="0" i="0">
                <a:solidFill>
                  <a:srgbClr val="FFFFFF"/>
                </a:solidFill>
                <a:latin typeface="Segoe UI"/>
              </a:rPr>
              <a:t>E-ticket generated &amp; stored permanently</a:t>
            </a:r>
          </a:p>
        </p:txBody>
      </p:sp>
      <p:sp>
        <p:nvSpPr>
          <p:cNvPr id="29" name="Rounded Rectangle 28"/>
          <p:cNvSpPr/>
          <p:nvPr/>
        </p:nvSpPr>
        <p:spPr>
          <a:xfrm>
            <a:off x="7178040" y="1417320"/>
            <a:ext cx="4526280" cy="4709160"/>
          </a:xfrm>
          <a:prstGeom prst="roundRect">
            <a:avLst>
              <a:gd name="adj" fmla="val 5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1627632"/>
            <a:ext cx="4023360" cy="365760"/>
          </a:xfrm>
          <a:prstGeom prst="rect">
            <a:avLst/>
          </a:prstGeom>
          <a:noFill/>
        </p:spPr>
        <p:txBody>
          <a:bodyPr wrap="square" anchor="t" lIns="0" rIns="0" tIns="0" bIns="0">
            <a:spAutoFit/>
          </a:bodyPr>
          <a:lstStyle/>
          <a:p>
            <a:pPr algn="l"/>
            <a:r>
              <a:rPr sz="1500" b="1" i="0">
                <a:solidFill>
                  <a:srgbClr val="0B1F3F"/>
                </a:solidFill>
                <a:latin typeface="Segoe UI"/>
              </a:rPr>
              <a:t>How It Works</a:t>
            </a:r>
          </a:p>
        </p:txBody>
      </p:sp>
      <p:sp>
        <p:nvSpPr>
          <p:cNvPr id="31" name="TextBox 30"/>
          <p:cNvSpPr txBox="1"/>
          <p:nvPr/>
        </p:nvSpPr>
        <p:spPr>
          <a:xfrm>
            <a:off x="7452360" y="2103120"/>
            <a:ext cx="4023360" cy="3840480"/>
          </a:xfrm>
          <a:prstGeom prst="rect">
            <a:avLst/>
          </a:prstGeom>
          <a:noFill/>
        </p:spPr>
        <p:txBody>
          <a:bodyPr wrap="square" anchor="t" lIns="0" rIns="0" tIns="0" bIns="0">
            <a:spAutoFit/>
          </a:bodyPr>
          <a:lstStyle/>
          <a:p>
            <a:pPr algn="l">
              <a:lnSpc>
                <a:spcPct val="120000"/>
              </a:lnSpc>
            </a:pPr>
            <a:r>
              <a:rPr sz="1200" b="0" i="0">
                <a:solidFill>
                  <a:srgbClr val="202838"/>
                </a:solidFill>
                <a:latin typeface="Segoe UI"/>
              </a:rPr>
              <a:t>1.  Browser sends an HTTP</a:t>
            </a:r>
          </a:p>
          <a:p>
            <a:pPr algn="l">
              <a:lnSpc>
                <a:spcPct val="120000"/>
              </a:lnSpc>
            </a:pPr>
            <a:r>
              <a:rPr sz="1200" b="0" i="0">
                <a:solidFill>
                  <a:srgbClr val="202838"/>
                </a:solidFill>
                <a:latin typeface="Segoe UI"/>
              </a:rPr>
              <a:t>     request (GET / POST)</a:t>
            </a:r>
          </a:p>
          <a:p>
            <a:pPr algn="l">
              <a:lnSpc>
                <a:spcPct val="120000"/>
              </a:lnSpc>
            </a:pPr>
            <a:r>
              <a:rPr sz="1200" b="0" i="0">
                <a:solidFill>
                  <a:srgbClr val="202838"/>
                </a:solidFill>
                <a:latin typeface="Segoe UI"/>
              </a:rPr>
              <a:t/>
            </a:r>
          </a:p>
          <a:p>
            <a:pPr algn="l">
              <a:lnSpc>
                <a:spcPct val="120000"/>
              </a:lnSpc>
            </a:pPr>
            <a:r>
              <a:rPr sz="1200" b="0" i="0">
                <a:solidFill>
                  <a:srgbClr val="202838"/>
                </a:solidFill>
                <a:latin typeface="Segoe UI"/>
              </a:rPr>
              <a:t>2.  Flask matches the route and</a:t>
            </a:r>
          </a:p>
          <a:p>
            <a:pPr algn="l">
              <a:lnSpc>
                <a:spcPct val="120000"/>
              </a:lnSpc>
            </a:pPr>
            <a:r>
              <a:rPr sz="1200" b="0" i="0">
                <a:solidFill>
                  <a:srgbClr val="202838"/>
                </a:solidFill>
                <a:latin typeface="Segoe UI"/>
              </a:rPr>
              <a:t>     runs the view function</a:t>
            </a:r>
          </a:p>
          <a:p>
            <a:pPr algn="l">
              <a:lnSpc>
                <a:spcPct val="120000"/>
              </a:lnSpc>
            </a:pPr>
            <a:r>
              <a:rPr sz="1200" b="0" i="0">
                <a:solidFill>
                  <a:srgbClr val="202838"/>
                </a:solidFill>
                <a:latin typeface="Segoe UI"/>
              </a:rPr>
              <a:t/>
            </a:r>
          </a:p>
          <a:p>
            <a:pPr algn="l">
              <a:lnSpc>
                <a:spcPct val="120000"/>
              </a:lnSpc>
            </a:pPr>
            <a:r>
              <a:rPr sz="1200" b="0" i="0">
                <a:solidFill>
                  <a:srgbClr val="202838"/>
                </a:solidFill>
                <a:latin typeface="Segoe UI"/>
              </a:rPr>
              <a:t>3.  A parameterised SQL query</a:t>
            </a:r>
          </a:p>
          <a:p>
            <a:pPr algn="l">
              <a:lnSpc>
                <a:spcPct val="120000"/>
              </a:lnSpc>
            </a:pPr>
            <a:r>
              <a:rPr sz="1200" b="0" i="0">
                <a:solidFill>
                  <a:srgbClr val="202838"/>
                </a:solidFill>
                <a:latin typeface="Segoe UI"/>
              </a:rPr>
              <a:t>     reads or writes SQLite</a:t>
            </a:r>
          </a:p>
          <a:p>
            <a:pPr algn="l">
              <a:lnSpc>
                <a:spcPct val="120000"/>
              </a:lnSpc>
            </a:pPr>
            <a:r>
              <a:rPr sz="1200" b="0" i="0">
                <a:solidFill>
                  <a:srgbClr val="202838"/>
                </a:solidFill>
                <a:latin typeface="Segoe UI"/>
              </a:rPr>
              <a:t/>
            </a:r>
          </a:p>
          <a:p>
            <a:pPr algn="l">
              <a:lnSpc>
                <a:spcPct val="120000"/>
              </a:lnSpc>
            </a:pPr>
            <a:r>
              <a:rPr sz="1200" b="0" i="0">
                <a:solidFill>
                  <a:srgbClr val="202838"/>
                </a:solidFill>
                <a:latin typeface="Segoe UI"/>
              </a:rPr>
              <a:t>4.  Jinja2 renders the final</a:t>
            </a:r>
          </a:p>
          <a:p>
            <a:pPr algn="l">
              <a:lnSpc>
                <a:spcPct val="120000"/>
              </a:lnSpc>
            </a:pPr>
            <a:r>
              <a:rPr sz="1200" b="0" i="0">
                <a:solidFill>
                  <a:srgbClr val="202838"/>
                </a:solidFill>
                <a:latin typeface="Segoe UI"/>
              </a:rPr>
              <a:t>     HTML page</a:t>
            </a:r>
          </a:p>
          <a:p>
            <a:pPr algn="l">
              <a:lnSpc>
                <a:spcPct val="120000"/>
              </a:lnSpc>
            </a:pPr>
            <a:r>
              <a:rPr sz="1200" b="0" i="0">
                <a:solidFill>
                  <a:srgbClr val="202838"/>
                </a:solidFill>
                <a:latin typeface="Segoe UI"/>
              </a:rPr>
              <a:t/>
            </a:r>
          </a:p>
          <a:p>
            <a:pPr algn="l">
              <a:lnSpc>
                <a:spcPct val="120000"/>
              </a:lnSpc>
            </a:pPr>
            <a:r>
              <a:rPr sz="1200" b="0" i="0">
                <a:solidFill>
                  <a:srgbClr val="202838"/>
                </a:solidFill>
                <a:latin typeface="Segoe UI"/>
              </a:rPr>
              <a:t>5.  Response is sent back to</a:t>
            </a:r>
          </a:p>
          <a:p>
            <a:pPr algn="l">
              <a:lnSpc>
                <a:spcPct val="120000"/>
              </a:lnSpc>
            </a:pPr>
            <a:r>
              <a:rPr sz="1200" b="0" i="0">
                <a:solidFill>
                  <a:srgbClr val="202838"/>
                </a:solidFill>
                <a:latin typeface="Segoe UI"/>
              </a:rPr>
              <a:t>     the browser</a:t>
            </a:r>
          </a:p>
        </p:txBody>
      </p:sp>
      <p:sp>
        <p:nvSpPr>
          <p:cNvPr id="32" name="TextBox 31"/>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7</a:t>
            </a:r>
          </a:p>
        </p:txBody>
      </p:sp>
      <p:sp>
        <p:nvSpPr>
          <p:cNvPr id="33" name="TextBox 32"/>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DATA MODEL</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Database Design — ER Diagram</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2880360" cy="2651760"/>
          </a:xfrm>
          <a:prstGeom prst="roundRect">
            <a:avLst>
              <a:gd name="adj" fmla="val 4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2880360" cy="384048"/>
          </a:xfrm>
          <a:prstGeom prst="rect">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35608"/>
            <a:ext cx="2880360" cy="347472"/>
          </a:xfrm>
          <a:prstGeom prst="rect">
            <a:avLst/>
          </a:prstGeom>
          <a:noFill/>
        </p:spPr>
        <p:txBody>
          <a:bodyPr wrap="square" anchor="ctr" lIns="0" rIns="0" tIns="0" bIns="0">
            <a:spAutoFit/>
          </a:bodyPr>
          <a:lstStyle/>
          <a:p>
            <a:pPr algn="ctr"/>
            <a:r>
              <a:rPr sz="1350" b="1" i="0">
                <a:solidFill>
                  <a:srgbClr val="FFFFFF"/>
                </a:solidFill>
                <a:latin typeface="Segoe UI"/>
              </a:rPr>
              <a:t>USERS</a:t>
            </a:r>
          </a:p>
        </p:txBody>
      </p:sp>
      <p:sp>
        <p:nvSpPr>
          <p:cNvPr id="9" name="TextBox 8"/>
          <p:cNvSpPr txBox="1"/>
          <p:nvPr/>
        </p:nvSpPr>
        <p:spPr>
          <a:xfrm>
            <a:off x="667512" y="1920240"/>
            <a:ext cx="2606040" cy="256032"/>
          </a:xfrm>
          <a:prstGeom prst="rect">
            <a:avLst/>
          </a:prstGeom>
          <a:noFill/>
        </p:spPr>
        <p:txBody>
          <a:bodyPr wrap="square" anchor="t" lIns="0" rIns="0" tIns="0" bIns="0">
            <a:spAutoFit/>
          </a:bodyPr>
          <a:lstStyle/>
          <a:p>
            <a:pPr algn="l"/>
            <a:r>
              <a:rPr sz="1100" b="0" i="0">
                <a:solidFill>
                  <a:srgbClr val="202838"/>
                </a:solidFill>
                <a:latin typeface="Segoe UI"/>
              </a:rPr>
              <a:t>PK  id</a:t>
            </a:r>
          </a:p>
        </p:txBody>
      </p:sp>
      <p:sp>
        <p:nvSpPr>
          <p:cNvPr id="10" name="TextBox 9"/>
          <p:cNvSpPr txBox="1"/>
          <p:nvPr/>
        </p:nvSpPr>
        <p:spPr>
          <a:xfrm>
            <a:off x="667512" y="2185416"/>
            <a:ext cx="2606040" cy="256032"/>
          </a:xfrm>
          <a:prstGeom prst="rect">
            <a:avLst/>
          </a:prstGeom>
          <a:noFill/>
        </p:spPr>
        <p:txBody>
          <a:bodyPr wrap="square" anchor="t" lIns="0" rIns="0" tIns="0" bIns="0">
            <a:spAutoFit/>
          </a:bodyPr>
          <a:lstStyle/>
          <a:p>
            <a:pPr algn="l"/>
            <a:r>
              <a:rPr sz="1100" b="0" i="0">
                <a:solidFill>
                  <a:srgbClr val="202838"/>
                </a:solidFill>
                <a:latin typeface="Segoe UI"/>
              </a:rPr>
              <a:t>     name</a:t>
            </a:r>
          </a:p>
        </p:txBody>
      </p:sp>
      <p:sp>
        <p:nvSpPr>
          <p:cNvPr id="11" name="TextBox 10"/>
          <p:cNvSpPr txBox="1"/>
          <p:nvPr/>
        </p:nvSpPr>
        <p:spPr>
          <a:xfrm>
            <a:off x="667512" y="2450592"/>
            <a:ext cx="2606040" cy="256032"/>
          </a:xfrm>
          <a:prstGeom prst="rect">
            <a:avLst/>
          </a:prstGeom>
          <a:noFill/>
        </p:spPr>
        <p:txBody>
          <a:bodyPr wrap="square" anchor="t" lIns="0" rIns="0" tIns="0" bIns="0">
            <a:spAutoFit/>
          </a:bodyPr>
          <a:lstStyle/>
          <a:p>
            <a:pPr algn="l"/>
            <a:r>
              <a:rPr sz="1100" b="0" i="0">
                <a:solidFill>
                  <a:srgbClr val="202838"/>
                </a:solidFill>
                <a:latin typeface="Segoe UI"/>
              </a:rPr>
              <a:t>     email (unique)</a:t>
            </a:r>
          </a:p>
        </p:txBody>
      </p:sp>
      <p:sp>
        <p:nvSpPr>
          <p:cNvPr id="12" name="TextBox 11"/>
          <p:cNvSpPr txBox="1"/>
          <p:nvPr/>
        </p:nvSpPr>
        <p:spPr>
          <a:xfrm>
            <a:off x="667512" y="2715768"/>
            <a:ext cx="2606040" cy="256032"/>
          </a:xfrm>
          <a:prstGeom prst="rect">
            <a:avLst/>
          </a:prstGeom>
          <a:noFill/>
        </p:spPr>
        <p:txBody>
          <a:bodyPr wrap="square" anchor="t" lIns="0" rIns="0" tIns="0" bIns="0">
            <a:spAutoFit/>
          </a:bodyPr>
          <a:lstStyle/>
          <a:p>
            <a:pPr algn="l"/>
            <a:r>
              <a:rPr sz="1100" b="0" i="0">
                <a:solidFill>
                  <a:srgbClr val="202838"/>
                </a:solidFill>
                <a:latin typeface="Segoe UI"/>
              </a:rPr>
              <a:t>     phone</a:t>
            </a:r>
          </a:p>
        </p:txBody>
      </p:sp>
      <p:sp>
        <p:nvSpPr>
          <p:cNvPr id="13" name="TextBox 12"/>
          <p:cNvSpPr txBox="1"/>
          <p:nvPr/>
        </p:nvSpPr>
        <p:spPr>
          <a:xfrm>
            <a:off x="667512" y="2980944"/>
            <a:ext cx="2606040" cy="256032"/>
          </a:xfrm>
          <a:prstGeom prst="rect">
            <a:avLst/>
          </a:prstGeom>
          <a:noFill/>
        </p:spPr>
        <p:txBody>
          <a:bodyPr wrap="square" anchor="t" lIns="0" rIns="0" tIns="0" bIns="0">
            <a:spAutoFit/>
          </a:bodyPr>
          <a:lstStyle/>
          <a:p>
            <a:pPr algn="l"/>
            <a:r>
              <a:rPr sz="1100" b="0" i="0">
                <a:solidFill>
                  <a:srgbClr val="202838"/>
                </a:solidFill>
                <a:latin typeface="Segoe UI"/>
              </a:rPr>
              <a:t>     password</a:t>
            </a:r>
          </a:p>
        </p:txBody>
      </p:sp>
      <p:sp>
        <p:nvSpPr>
          <p:cNvPr id="14" name="Rounded Rectangle 13"/>
          <p:cNvSpPr/>
          <p:nvPr/>
        </p:nvSpPr>
        <p:spPr>
          <a:xfrm>
            <a:off x="4663440" y="1417320"/>
            <a:ext cx="2880360" cy="3200400"/>
          </a:xfrm>
          <a:prstGeom prst="roundRect">
            <a:avLst>
              <a:gd name="adj" fmla="val 4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63440" y="1417320"/>
            <a:ext cx="2880360" cy="384048"/>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1435608"/>
            <a:ext cx="2880360" cy="347472"/>
          </a:xfrm>
          <a:prstGeom prst="rect">
            <a:avLst/>
          </a:prstGeom>
          <a:noFill/>
        </p:spPr>
        <p:txBody>
          <a:bodyPr wrap="square" anchor="ctr" lIns="0" rIns="0" tIns="0" bIns="0">
            <a:spAutoFit/>
          </a:bodyPr>
          <a:lstStyle/>
          <a:p>
            <a:pPr algn="ctr"/>
            <a:r>
              <a:rPr sz="1350" b="1" i="0">
                <a:solidFill>
                  <a:srgbClr val="FFFFFF"/>
                </a:solidFill>
                <a:latin typeface="Segoe UI"/>
              </a:rPr>
              <a:t>BOOKINGS</a:t>
            </a:r>
          </a:p>
        </p:txBody>
      </p:sp>
      <p:sp>
        <p:nvSpPr>
          <p:cNvPr id="17" name="TextBox 16"/>
          <p:cNvSpPr txBox="1"/>
          <p:nvPr/>
        </p:nvSpPr>
        <p:spPr>
          <a:xfrm>
            <a:off x="4828032" y="1920240"/>
            <a:ext cx="2606040" cy="256032"/>
          </a:xfrm>
          <a:prstGeom prst="rect">
            <a:avLst/>
          </a:prstGeom>
          <a:noFill/>
        </p:spPr>
        <p:txBody>
          <a:bodyPr wrap="square" anchor="t" lIns="0" rIns="0" tIns="0" bIns="0">
            <a:spAutoFit/>
          </a:bodyPr>
          <a:lstStyle/>
          <a:p>
            <a:pPr algn="l"/>
            <a:r>
              <a:rPr sz="1100" b="0" i="0">
                <a:solidFill>
                  <a:srgbClr val="202838"/>
                </a:solidFill>
                <a:latin typeface="Segoe UI"/>
              </a:rPr>
              <a:t>PK  booking_id</a:t>
            </a:r>
          </a:p>
        </p:txBody>
      </p:sp>
      <p:sp>
        <p:nvSpPr>
          <p:cNvPr id="18" name="TextBox 17"/>
          <p:cNvSpPr txBox="1"/>
          <p:nvPr/>
        </p:nvSpPr>
        <p:spPr>
          <a:xfrm>
            <a:off x="4828032" y="2185416"/>
            <a:ext cx="2606040" cy="256032"/>
          </a:xfrm>
          <a:prstGeom prst="rect">
            <a:avLst/>
          </a:prstGeom>
          <a:noFill/>
        </p:spPr>
        <p:txBody>
          <a:bodyPr wrap="square" anchor="t" lIns="0" rIns="0" tIns="0" bIns="0">
            <a:spAutoFit/>
          </a:bodyPr>
          <a:lstStyle/>
          <a:p>
            <a:pPr algn="l"/>
            <a:r>
              <a:rPr sz="1100" b="0" i="0">
                <a:solidFill>
                  <a:srgbClr val="202838"/>
                </a:solidFill>
                <a:latin typeface="Segoe UI"/>
              </a:rPr>
              <a:t>FK  user_id</a:t>
            </a:r>
          </a:p>
        </p:txBody>
      </p:sp>
      <p:sp>
        <p:nvSpPr>
          <p:cNvPr id="19" name="TextBox 18"/>
          <p:cNvSpPr txBox="1"/>
          <p:nvPr/>
        </p:nvSpPr>
        <p:spPr>
          <a:xfrm>
            <a:off x="4828032" y="2450592"/>
            <a:ext cx="2606040" cy="256032"/>
          </a:xfrm>
          <a:prstGeom prst="rect">
            <a:avLst/>
          </a:prstGeom>
          <a:noFill/>
        </p:spPr>
        <p:txBody>
          <a:bodyPr wrap="square" anchor="t" lIns="0" rIns="0" tIns="0" bIns="0">
            <a:spAutoFit/>
          </a:bodyPr>
          <a:lstStyle/>
          <a:p>
            <a:pPr algn="l"/>
            <a:r>
              <a:rPr sz="1100" b="0" i="0">
                <a:solidFill>
                  <a:srgbClr val="202838"/>
                </a:solidFill>
                <a:latin typeface="Segoe UI"/>
              </a:rPr>
              <a:t>FK  bus_id</a:t>
            </a:r>
          </a:p>
        </p:txBody>
      </p:sp>
      <p:sp>
        <p:nvSpPr>
          <p:cNvPr id="20" name="TextBox 19"/>
          <p:cNvSpPr txBox="1"/>
          <p:nvPr/>
        </p:nvSpPr>
        <p:spPr>
          <a:xfrm>
            <a:off x="4828032" y="2715768"/>
            <a:ext cx="2606040" cy="256032"/>
          </a:xfrm>
          <a:prstGeom prst="rect">
            <a:avLst/>
          </a:prstGeom>
          <a:noFill/>
        </p:spPr>
        <p:txBody>
          <a:bodyPr wrap="square" anchor="t" lIns="0" rIns="0" tIns="0" bIns="0">
            <a:spAutoFit/>
          </a:bodyPr>
          <a:lstStyle/>
          <a:p>
            <a:pPr algn="l"/>
            <a:r>
              <a:rPr sz="1100" b="0" i="0">
                <a:solidFill>
                  <a:srgbClr val="202838"/>
                </a:solidFill>
                <a:latin typeface="Segoe UI"/>
              </a:rPr>
              <a:t>     journey_date</a:t>
            </a:r>
          </a:p>
        </p:txBody>
      </p:sp>
      <p:sp>
        <p:nvSpPr>
          <p:cNvPr id="21" name="TextBox 20"/>
          <p:cNvSpPr txBox="1"/>
          <p:nvPr/>
        </p:nvSpPr>
        <p:spPr>
          <a:xfrm>
            <a:off x="4828032" y="2980944"/>
            <a:ext cx="2606040" cy="256032"/>
          </a:xfrm>
          <a:prstGeom prst="rect">
            <a:avLst/>
          </a:prstGeom>
          <a:noFill/>
        </p:spPr>
        <p:txBody>
          <a:bodyPr wrap="square" anchor="t" lIns="0" rIns="0" tIns="0" bIns="0">
            <a:spAutoFit/>
          </a:bodyPr>
          <a:lstStyle/>
          <a:p>
            <a:pPr algn="l"/>
            <a:r>
              <a:rPr sz="1100" b="0" i="0">
                <a:solidFill>
                  <a:srgbClr val="202838"/>
                </a:solidFill>
                <a:latin typeface="Segoe UI"/>
              </a:rPr>
              <a:t>     seat_numbers</a:t>
            </a:r>
          </a:p>
        </p:txBody>
      </p:sp>
      <p:sp>
        <p:nvSpPr>
          <p:cNvPr id="22" name="TextBox 21"/>
          <p:cNvSpPr txBox="1"/>
          <p:nvPr/>
        </p:nvSpPr>
        <p:spPr>
          <a:xfrm>
            <a:off x="4828032" y="3246120"/>
            <a:ext cx="2606040" cy="256032"/>
          </a:xfrm>
          <a:prstGeom prst="rect">
            <a:avLst/>
          </a:prstGeom>
          <a:noFill/>
        </p:spPr>
        <p:txBody>
          <a:bodyPr wrap="square" anchor="t" lIns="0" rIns="0" tIns="0" bIns="0">
            <a:spAutoFit/>
          </a:bodyPr>
          <a:lstStyle/>
          <a:p>
            <a:pPr algn="l"/>
            <a:r>
              <a:rPr sz="1100" b="0" i="0">
                <a:solidFill>
                  <a:srgbClr val="202838"/>
                </a:solidFill>
                <a:latin typeface="Segoe UI"/>
              </a:rPr>
              <a:t>     passengers</a:t>
            </a:r>
          </a:p>
        </p:txBody>
      </p:sp>
      <p:sp>
        <p:nvSpPr>
          <p:cNvPr id="23" name="TextBox 22"/>
          <p:cNvSpPr txBox="1"/>
          <p:nvPr/>
        </p:nvSpPr>
        <p:spPr>
          <a:xfrm>
            <a:off x="4828032" y="3511296"/>
            <a:ext cx="2606040" cy="256032"/>
          </a:xfrm>
          <a:prstGeom prst="rect">
            <a:avLst/>
          </a:prstGeom>
          <a:noFill/>
        </p:spPr>
        <p:txBody>
          <a:bodyPr wrap="square" anchor="t" lIns="0" rIns="0" tIns="0" bIns="0">
            <a:spAutoFit/>
          </a:bodyPr>
          <a:lstStyle/>
          <a:p>
            <a:pPr algn="l"/>
            <a:r>
              <a:rPr sz="1100" b="0" i="0">
                <a:solidFill>
                  <a:srgbClr val="202838"/>
                </a:solidFill>
                <a:latin typeface="Segoe UI"/>
              </a:rPr>
              <a:t>     amount</a:t>
            </a:r>
          </a:p>
        </p:txBody>
      </p:sp>
      <p:sp>
        <p:nvSpPr>
          <p:cNvPr id="24" name="TextBox 23"/>
          <p:cNvSpPr txBox="1"/>
          <p:nvPr/>
        </p:nvSpPr>
        <p:spPr>
          <a:xfrm>
            <a:off x="4828032" y="3776472"/>
            <a:ext cx="2606040" cy="256032"/>
          </a:xfrm>
          <a:prstGeom prst="rect">
            <a:avLst/>
          </a:prstGeom>
          <a:noFill/>
        </p:spPr>
        <p:txBody>
          <a:bodyPr wrap="square" anchor="t" lIns="0" rIns="0" tIns="0" bIns="0">
            <a:spAutoFit/>
          </a:bodyPr>
          <a:lstStyle/>
          <a:p>
            <a:pPr algn="l"/>
            <a:r>
              <a:rPr sz="1100" b="0" i="0">
                <a:solidFill>
                  <a:srgbClr val="202838"/>
                </a:solidFill>
                <a:latin typeface="Segoe UI"/>
              </a:rPr>
              <a:t>     payment_method</a:t>
            </a:r>
          </a:p>
        </p:txBody>
      </p:sp>
      <p:sp>
        <p:nvSpPr>
          <p:cNvPr id="25" name="Rounded Rectangle 24"/>
          <p:cNvSpPr/>
          <p:nvPr/>
        </p:nvSpPr>
        <p:spPr>
          <a:xfrm>
            <a:off x="8823960" y="1417320"/>
            <a:ext cx="2880360" cy="2926080"/>
          </a:xfrm>
          <a:prstGeom prst="roundRect">
            <a:avLst>
              <a:gd name="adj" fmla="val 4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23960" y="1417320"/>
            <a:ext cx="2880360" cy="3840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23960" y="1435608"/>
            <a:ext cx="2880360" cy="347472"/>
          </a:xfrm>
          <a:prstGeom prst="rect">
            <a:avLst/>
          </a:prstGeom>
          <a:noFill/>
        </p:spPr>
        <p:txBody>
          <a:bodyPr wrap="square" anchor="ctr" lIns="0" rIns="0" tIns="0" bIns="0">
            <a:spAutoFit/>
          </a:bodyPr>
          <a:lstStyle/>
          <a:p>
            <a:pPr algn="ctr"/>
            <a:r>
              <a:rPr sz="1350" b="1" i="0">
                <a:solidFill>
                  <a:srgbClr val="FFFFFF"/>
                </a:solidFill>
                <a:latin typeface="Segoe UI"/>
              </a:rPr>
              <a:t>BUS</a:t>
            </a:r>
          </a:p>
        </p:txBody>
      </p:sp>
      <p:sp>
        <p:nvSpPr>
          <p:cNvPr id="28" name="TextBox 27"/>
          <p:cNvSpPr txBox="1"/>
          <p:nvPr/>
        </p:nvSpPr>
        <p:spPr>
          <a:xfrm>
            <a:off x="8988552" y="1920240"/>
            <a:ext cx="2606040" cy="256032"/>
          </a:xfrm>
          <a:prstGeom prst="rect">
            <a:avLst/>
          </a:prstGeom>
          <a:noFill/>
        </p:spPr>
        <p:txBody>
          <a:bodyPr wrap="square" anchor="t" lIns="0" rIns="0" tIns="0" bIns="0">
            <a:spAutoFit/>
          </a:bodyPr>
          <a:lstStyle/>
          <a:p>
            <a:pPr algn="l"/>
            <a:r>
              <a:rPr sz="1100" b="0" i="0">
                <a:solidFill>
                  <a:srgbClr val="202838"/>
                </a:solidFill>
                <a:latin typeface="Segoe UI"/>
              </a:rPr>
              <a:t>PK  id</a:t>
            </a:r>
          </a:p>
        </p:txBody>
      </p:sp>
      <p:sp>
        <p:nvSpPr>
          <p:cNvPr id="29" name="TextBox 28"/>
          <p:cNvSpPr txBox="1"/>
          <p:nvPr/>
        </p:nvSpPr>
        <p:spPr>
          <a:xfrm>
            <a:off x="8988552" y="2185416"/>
            <a:ext cx="2606040" cy="256032"/>
          </a:xfrm>
          <a:prstGeom prst="rect">
            <a:avLst/>
          </a:prstGeom>
          <a:noFill/>
        </p:spPr>
        <p:txBody>
          <a:bodyPr wrap="square" anchor="t" lIns="0" rIns="0" tIns="0" bIns="0">
            <a:spAutoFit/>
          </a:bodyPr>
          <a:lstStyle/>
          <a:p>
            <a:pPr algn="l"/>
            <a:r>
              <a:rPr sz="1100" b="0" i="0">
                <a:solidFill>
                  <a:srgbClr val="202838"/>
                </a:solidFill>
                <a:latin typeface="Segoe UI"/>
              </a:rPr>
              <a:t>     bus_name</a:t>
            </a:r>
          </a:p>
        </p:txBody>
      </p:sp>
      <p:sp>
        <p:nvSpPr>
          <p:cNvPr id="30" name="TextBox 29"/>
          <p:cNvSpPr txBox="1"/>
          <p:nvPr/>
        </p:nvSpPr>
        <p:spPr>
          <a:xfrm>
            <a:off x="8988552" y="2450592"/>
            <a:ext cx="2606040" cy="256032"/>
          </a:xfrm>
          <a:prstGeom prst="rect">
            <a:avLst/>
          </a:prstGeom>
          <a:noFill/>
        </p:spPr>
        <p:txBody>
          <a:bodyPr wrap="square" anchor="t" lIns="0" rIns="0" tIns="0" bIns="0">
            <a:spAutoFit/>
          </a:bodyPr>
          <a:lstStyle/>
          <a:p>
            <a:pPr algn="l"/>
            <a:r>
              <a:rPr sz="1100" b="0" i="0">
                <a:solidFill>
                  <a:srgbClr val="202838"/>
                </a:solidFill>
                <a:latin typeface="Segoe UI"/>
              </a:rPr>
              <a:t>     from_city / to_city</a:t>
            </a:r>
          </a:p>
        </p:txBody>
      </p:sp>
      <p:sp>
        <p:nvSpPr>
          <p:cNvPr id="31" name="TextBox 30"/>
          <p:cNvSpPr txBox="1"/>
          <p:nvPr/>
        </p:nvSpPr>
        <p:spPr>
          <a:xfrm>
            <a:off x="8988552" y="2715768"/>
            <a:ext cx="2606040" cy="256032"/>
          </a:xfrm>
          <a:prstGeom prst="rect">
            <a:avLst/>
          </a:prstGeom>
          <a:noFill/>
        </p:spPr>
        <p:txBody>
          <a:bodyPr wrap="square" anchor="t" lIns="0" rIns="0" tIns="0" bIns="0">
            <a:spAutoFit/>
          </a:bodyPr>
          <a:lstStyle/>
          <a:p>
            <a:pPr algn="l"/>
            <a:r>
              <a:rPr sz="1100" b="0" i="0">
                <a:solidFill>
                  <a:srgbClr val="202838"/>
                </a:solidFill>
                <a:latin typeface="Segoe UI"/>
              </a:rPr>
              <a:t>     departure / arrival</a:t>
            </a:r>
          </a:p>
        </p:txBody>
      </p:sp>
      <p:sp>
        <p:nvSpPr>
          <p:cNvPr id="32" name="TextBox 31"/>
          <p:cNvSpPr txBox="1"/>
          <p:nvPr/>
        </p:nvSpPr>
        <p:spPr>
          <a:xfrm>
            <a:off x="8988552" y="2980944"/>
            <a:ext cx="2606040" cy="256032"/>
          </a:xfrm>
          <a:prstGeom prst="rect">
            <a:avLst/>
          </a:prstGeom>
          <a:noFill/>
        </p:spPr>
        <p:txBody>
          <a:bodyPr wrap="square" anchor="t" lIns="0" rIns="0" tIns="0" bIns="0">
            <a:spAutoFit/>
          </a:bodyPr>
          <a:lstStyle/>
          <a:p>
            <a:pPr algn="l"/>
            <a:r>
              <a:rPr sz="1100" b="0" i="0">
                <a:solidFill>
                  <a:srgbClr val="202838"/>
                </a:solidFill>
                <a:latin typeface="Segoe UI"/>
              </a:rPr>
              <a:t>     price</a:t>
            </a:r>
          </a:p>
        </p:txBody>
      </p:sp>
      <p:sp>
        <p:nvSpPr>
          <p:cNvPr id="33" name="TextBox 32"/>
          <p:cNvSpPr txBox="1"/>
          <p:nvPr/>
        </p:nvSpPr>
        <p:spPr>
          <a:xfrm>
            <a:off x="8988552" y="3246120"/>
            <a:ext cx="2606040" cy="256032"/>
          </a:xfrm>
          <a:prstGeom prst="rect">
            <a:avLst/>
          </a:prstGeom>
          <a:noFill/>
        </p:spPr>
        <p:txBody>
          <a:bodyPr wrap="square" anchor="t" lIns="0" rIns="0" tIns="0" bIns="0">
            <a:spAutoFit/>
          </a:bodyPr>
          <a:lstStyle/>
          <a:p>
            <a:pPr algn="l"/>
            <a:r>
              <a:rPr sz="1100" b="0" i="0">
                <a:solidFill>
                  <a:srgbClr val="202838"/>
                </a:solidFill>
                <a:latin typeface="Segoe UI"/>
              </a:rPr>
              <a:t>     available_seats</a:t>
            </a:r>
          </a:p>
        </p:txBody>
      </p:sp>
      <p:cxnSp>
        <p:nvCxnSpPr>
          <p:cNvPr id="34" name="Connector 33"/>
          <p:cNvCxnSpPr/>
          <p:nvPr/>
        </p:nvCxnSpPr>
        <p:spPr>
          <a:xfrm>
            <a:off x="3383280" y="2377440"/>
            <a:ext cx="1280160" cy="0"/>
          </a:xfrm>
          <a:prstGeom prst="line">
            <a:avLst/>
          </a:prstGeom>
          <a:ln w="22225">
            <a:solidFill>
              <a:srgbClr val="5A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401568" y="2084831"/>
            <a:ext cx="1280160" cy="274320"/>
          </a:xfrm>
          <a:prstGeom prst="rect">
            <a:avLst/>
          </a:prstGeom>
          <a:noFill/>
        </p:spPr>
        <p:txBody>
          <a:bodyPr wrap="square" anchor="t" lIns="0" rIns="0" tIns="0" bIns="0">
            <a:spAutoFit/>
          </a:bodyPr>
          <a:lstStyle/>
          <a:p>
            <a:pPr algn="l"/>
            <a:r>
              <a:rPr sz="1050" b="1" i="0">
                <a:solidFill>
                  <a:srgbClr val="5A6474"/>
                </a:solidFill>
                <a:latin typeface="Segoe UI"/>
              </a:rPr>
              <a:t>1 : N</a:t>
            </a:r>
          </a:p>
        </p:txBody>
      </p:sp>
      <p:cxnSp>
        <p:nvCxnSpPr>
          <p:cNvPr id="36" name="Connector 35"/>
          <p:cNvCxnSpPr/>
          <p:nvPr/>
        </p:nvCxnSpPr>
        <p:spPr>
          <a:xfrm flipH="1">
            <a:off x="7543800" y="2377440"/>
            <a:ext cx="1280160" cy="0"/>
          </a:xfrm>
          <a:prstGeom prst="line">
            <a:avLst/>
          </a:prstGeom>
          <a:ln w="22225">
            <a:solidFill>
              <a:srgbClr val="5A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635240" y="2084831"/>
            <a:ext cx="1280160" cy="274320"/>
          </a:xfrm>
          <a:prstGeom prst="rect">
            <a:avLst/>
          </a:prstGeom>
          <a:noFill/>
        </p:spPr>
        <p:txBody>
          <a:bodyPr wrap="square" anchor="t" lIns="0" rIns="0" tIns="0" bIns="0">
            <a:spAutoFit/>
          </a:bodyPr>
          <a:lstStyle/>
          <a:p>
            <a:pPr algn="l"/>
            <a:r>
              <a:rPr sz="1050" b="1" i="0">
                <a:solidFill>
                  <a:srgbClr val="5A6474"/>
                </a:solidFill>
                <a:latin typeface="Segoe UI"/>
              </a:rPr>
              <a:t>N : 1</a:t>
            </a:r>
          </a:p>
        </p:txBody>
      </p:sp>
      <p:sp>
        <p:nvSpPr>
          <p:cNvPr id="38" name="Rounded Rectangle 37"/>
          <p:cNvSpPr/>
          <p:nvPr/>
        </p:nvSpPr>
        <p:spPr>
          <a:xfrm>
            <a:off x="502920" y="4709160"/>
            <a:ext cx="11201400" cy="1417320"/>
          </a:xfrm>
          <a:prstGeom prst="roundRect">
            <a:avLst>
              <a:gd name="adj" fmla="val 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864608"/>
            <a:ext cx="10607040" cy="320040"/>
          </a:xfrm>
          <a:prstGeom prst="rect">
            <a:avLst/>
          </a:prstGeom>
          <a:noFill/>
        </p:spPr>
        <p:txBody>
          <a:bodyPr wrap="square" anchor="t" lIns="0" rIns="0" tIns="0" bIns="0">
            <a:spAutoFit/>
          </a:bodyPr>
          <a:lstStyle/>
          <a:p>
            <a:pPr algn="l"/>
            <a:r>
              <a:rPr sz="1400" b="1" i="0">
                <a:solidFill>
                  <a:srgbClr val="0B1F3F"/>
                </a:solidFill>
                <a:latin typeface="Segoe UI"/>
              </a:rPr>
              <a:t>Key Design Points</a:t>
            </a:r>
          </a:p>
        </p:txBody>
      </p:sp>
      <p:sp>
        <p:nvSpPr>
          <p:cNvPr id="40" name="TextBox 39"/>
          <p:cNvSpPr txBox="1"/>
          <p:nvPr/>
        </p:nvSpPr>
        <p:spPr>
          <a:xfrm>
            <a:off x="777240" y="5193792"/>
            <a:ext cx="10607040" cy="868680"/>
          </a:xfrm>
          <a:prstGeom prst="rect">
            <a:avLst/>
          </a:prstGeom>
          <a:noFill/>
        </p:spPr>
        <p:txBody>
          <a:bodyPr wrap="square">
            <a:spAutoFit/>
          </a:bodyPr>
          <a:lstStyle/>
          <a:p>
            <a:pPr>
              <a:lnSpc>
                <a:spcPct val="112000"/>
              </a:lnSpc>
              <a:spcAft>
                <a:spcPts val="600"/>
              </a:spcAft>
            </a:pPr>
            <a:r>
              <a:rPr sz="1250" b="0">
                <a:solidFill>
                  <a:srgbClr val="202838"/>
                </a:solidFill>
                <a:latin typeface="Segoe UI"/>
              </a:rPr>
              <a:t>■  Every booking stores bus_id and user_id — no duplicated text data across rows</a:t>
            </a:r>
          </a:p>
          <a:p>
            <a:pPr>
              <a:lnSpc>
                <a:spcPct val="112000"/>
              </a:lnSpc>
              <a:spcAft>
                <a:spcPts val="600"/>
              </a:spcAft>
            </a:pPr>
            <a:r>
              <a:rPr sz="1250" b="0">
                <a:solidFill>
                  <a:srgbClr val="202838"/>
                </a:solidFill>
                <a:latin typeface="Segoe UI"/>
              </a:rPr>
              <a:t>■  email carries a UNIQUE constraint, enforced by SQLite itself at insert time</a:t>
            </a:r>
          </a:p>
        </p:txBody>
      </p:sp>
      <p:sp>
        <p:nvSpPr>
          <p:cNvPr id="41" name="TextBox 40"/>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8</a:t>
            </a:r>
          </a:p>
        </p:txBody>
      </p:sp>
      <p:sp>
        <p:nvSpPr>
          <p:cNvPr id="42" name="TextBox 41"/>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END-TO-END FLOW</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Project Workflow</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63040"/>
            <a:ext cx="2606040" cy="1051560"/>
          </a:xfrm>
          <a:prstGeom prst="roundRect">
            <a:avLst>
              <a:gd name="adj" fmla="val 18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Landing</a:t>
            </a:r>
          </a:p>
          <a:p>
            <a:pPr algn="ctr"/>
            <a:r>
              <a:rPr sz="1300" b="1" i="0">
                <a:solidFill>
                  <a:srgbClr val="FFFFFF"/>
                </a:solidFill>
                <a:latin typeface="Segoe UI"/>
              </a:rPr>
              <a:t>Page</a:t>
            </a:r>
          </a:p>
        </p:txBody>
      </p:sp>
      <p:sp>
        <p:nvSpPr>
          <p:cNvPr id="8" name="Oval 7"/>
          <p:cNvSpPr/>
          <p:nvPr/>
        </p:nvSpPr>
        <p:spPr>
          <a:xfrm>
            <a:off x="539496" y="131673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 y="1316736"/>
            <a:ext cx="310896" cy="310896"/>
          </a:xfrm>
          <a:prstGeom prst="rect">
            <a:avLst/>
          </a:prstGeom>
          <a:noFill/>
        </p:spPr>
        <p:txBody>
          <a:bodyPr wrap="none" lIns="0" rIns="0" tIns="0" bIns="0" anchor="ctr">
            <a:spAutoFit/>
          </a:bodyPr>
          <a:lstStyle/>
          <a:p>
            <a:pPr algn="ctr"/>
            <a:r>
              <a:rPr sz="1200" b="1">
                <a:solidFill>
                  <a:srgbClr val="FFFFFF"/>
                </a:solidFill>
                <a:latin typeface="Segoe UI"/>
              </a:rPr>
              <a:t>1</a:t>
            </a:r>
          </a:p>
        </p:txBody>
      </p:sp>
      <p:sp>
        <p:nvSpPr>
          <p:cNvPr id="10" name="Rounded Rectangle 9"/>
          <p:cNvSpPr/>
          <p:nvPr/>
        </p:nvSpPr>
        <p:spPr>
          <a:xfrm>
            <a:off x="3520440" y="1463040"/>
            <a:ext cx="2606040" cy="1051560"/>
          </a:xfrm>
          <a:prstGeom prst="roundRect">
            <a:avLst>
              <a:gd name="adj" fmla="val 18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46304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Login</a:t>
            </a:r>
          </a:p>
        </p:txBody>
      </p:sp>
      <p:sp>
        <p:nvSpPr>
          <p:cNvPr id="12" name="Oval 11"/>
          <p:cNvSpPr/>
          <p:nvPr/>
        </p:nvSpPr>
        <p:spPr>
          <a:xfrm>
            <a:off x="3374136" y="131673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4136" y="1316736"/>
            <a:ext cx="310896" cy="310896"/>
          </a:xfrm>
          <a:prstGeom prst="rect">
            <a:avLst/>
          </a:prstGeom>
          <a:noFill/>
        </p:spPr>
        <p:txBody>
          <a:bodyPr wrap="none" lIns="0" rIns="0" tIns="0" bIns="0" anchor="ctr">
            <a:spAutoFit/>
          </a:bodyPr>
          <a:lstStyle/>
          <a:p>
            <a:pPr algn="ctr"/>
            <a:r>
              <a:rPr sz="1200" b="1">
                <a:solidFill>
                  <a:srgbClr val="FFFFFF"/>
                </a:solidFill>
                <a:latin typeface="Segoe UI"/>
              </a:rPr>
              <a:t>2</a:t>
            </a:r>
          </a:p>
        </p:txBody>
      </p:sp>
      <p:sp>
        <p:nvSpPr>
          <p:cNvPr id="14" name="Rounded Rectangle 13"/>
          <p:cNvSpPr/>
          <p:nvPr/>
        </p:nvSpPr>
        <p:spPr>
          <a:xfrm>
            <a:off x="6355080" y="1463040"/>
            <a:ext cx="2606040" cy="1051560"/>
          </a:xfrm>
          <a:prstGeom prst="roundRect">
            <a:avLst>
              <a:gd name="adj" fmla="val 18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46304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Search</a:t>
            </a:r>
          </a:p>
          <a:p>
            <a:pPr algn="ctr"/>
            <a:r>
              <a:rPr sz="1300" b="1" i="0">
                <a:solidFill>
                  <a:srgbClr val="FFFFFF"/>
                </a:solidFill>
                <a:latin typeface="Segoe UI"/>
              </a:rPr>
              <a:t>Bus</a:t>
            </a:r>
          </a:p>
        </p:txBody>
      </p:sp>
      <p:sp>
        <p:nvSpPr>
          <p:cNvPr id="16" name="Oval 15"/>
          <p:cNvSpPr/>
          <p:nvPr/>
        </p:nvSpPr>
        <p:spPr>
          <a:xfrm>
            <a:off x="6208776" y="131673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08776" y="1316736"/>
            <a:ext cx="310896" cy="310896"/>
          </a:xfrm>
          <a:prstGeom prst="rect">
            <a:avLst/>
          </a:prstGeom>
          <a:noFill/>
        </p:spPr>
        <p:txBody>
          <a:bodyPr wrap="none" lIns="0" rIns="0" tIns="0" bIns="0" anchor="ctr">
            <a:spAutoFit/>
          </a:bodyPr>
          <a:lstStyle/>
          <a:p>
            <a:pPr algn="ctr"/>
            <a:r>
              <a:rPr sz="1200" b="1">
                <a:solidFill>
                  <a:srgbClr val="FFFFFF"/>
                </a:solidFill>
                <a:latin typeface="Segoe UI"/>
              </a:rPr>
              <a:t>3</a:t>
            </a:r>
          </a:p>
        </p:txBody>
      </p:sp>
      <p:sp>
        <p:nvSpPr>
          <p:cNvPr id="18" name="Rounded Rectangle 17"/>
          <p:cNvSpPr/>
          <p:nvPr/>
        </p:nvSpPr>
        <p:spPr>
          <a:xfrm>
            <a:off x="9189720" y="1463040"/>
            <a:ext cx="2606040" cy="1051560"/>
          </a:xfrm>
          <a:prstGeom prst="roundRect">
            <a:avLst>
              <a:gd name="adj" fmla="val 18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9720" y="146304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Bus</a:t>
            </a:r>
          </a:p>
          <a:p>
            <a:pPr algn="ctr"/>
            <a:r>
              <a:rPr sz="1300" b="1" i="0">
                <a:solidFill>
                  <a:srgbClr val="FFFFFF"/>
                </a:solidFill>
                <a:latin typeface="Segoe UI"/>
              </a:rPr>
              <a:t>Results</a:t>
            </a:r>
          </a:p>
        </p:txBody>
      </p:sp>
      <p:sp>
        <p:nvSpPr>
          <p:cNvPr id="20" name="Oval 19"/>
          <p:cNvSpPr/>
          <p:nvPr/>
        </p:nvSpPr>
        <p:spPr>
          <a:xfrm>
            <a:off x="9043416" y="131673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1316736"/>
            <a:ext cx="310896" cy="310896"/>
          </a:xfrm>
          <a:prstGeom prst="rect">
            <a:avLst/>
          </a:prstGeom>
          <a:noFill/>
        </p:spPr>
        <p:txBody>
          <a:bodyPr wrap="none" lIns="0" rIns="0" tIns="0" bIns="0" anchor="ctr">
            <a:spAutoFit/>
          </a:bodyPr>
          <a:lstStyle/>
          <a:p>
            <a:pPr algn="ctr"/>
            <a:r>
              <a:rPr sz="1200" b="1">
                <a:solidFill>
                  <a:srgbClr val="FFFFFF"/>
                </a:solidFill>
                <a:latin typeface="Segoe UI"/>
              </a:rPr>
              <a:t>4</a:t>
            </a:r>
          </a:p>
        </p:txBody>
      </p:sp>
      <p:sp>
        <p:nvSpPr>
          <p:cNvPr id="22" name="Rounded Rectangle 21"/>
          <p:cNvSpPr/>
          <p:nvPr/>
        </p:nvSpPr>
        <p:spPr>
          <a:xfrm>
            <a:off x="685800" y="3017520"/>
            <a:ext cx="2606040" cy="1051560"/>
          </a:xfrm>
          <a:prstGeom prst="roundRect">
            <a:avLst>
              <a:gd name="adj" fmla="val 18000"/>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01752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Seat</a:t>
            </a:r>
          </a:p>
          <a:p>
            <a:pPr algn="ctr"/>
            <a:r>
              <a:rPr sz="1300" b="1" i="0">
                <a:solidFill>
                  <a:srgbClr val="FFFFFF"/>
                </a:solidFill>
                <a:latin typeface="Segoe UI"/>
              </a:rPr>
              <a:t>Selection</a:t>
            </a:r>
          </a:p>
        </p:txBody>
      </p:sp>
      <p:sp>
        <p:nvSpPr>
          <p:cNvPr id="24" name="Oval 23"/>
          <p:cNvSpPr/>
          <p:nvPr/>
        </p:nvSpPr>
        <p:spPr>
          <a:xfrm>
            <a:off x="539496" y="287121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 y="2871216"/>
            <a:ext cx="310896" cy="310896"/>
          </a:xfrm>
          <a:prstGeom prst="rect">
            <a:avLst/>
          </a:prstGeom>
          <a:noFill/>
        </p:spPr>
        <p:txBody>
          <a:bodyPr wrap="none" lIns="0" rIns="0" tIns="0" bIns="0" anchor="ctr">
            <a:spAutoFit/>
          </a:bodyPr>
          <a:lstStyle/>
          <a:p>
            <a:pPr algn="ctr"/>
            <a:r>
              <a:rPr sz="1200" b="1">
                <a:solidFill>
                  <a:srgbClr val="FFFFFF"/>
                </a:solidFill>
                <a:latin typeface="Segoe UI"/>
              </a:rPr>
              <a:t>5</a:t>
            </a:r>
          </a:p>
        </p:txBody>
      </p:sp>
      <p:sp>
        <p:nvSpPr>
          <p:cNvPr id="26" name="Rounded Rectangle 25"/>
          <p:cNvSpPr/>
          <p:nvPr/>
        </p:nvSpPr>
        <p:spPr>
          <a:xfrm>
            <a:off x="3520440" y="3017520"/>
            <a:ext cx="2606040" cy="1051560"/>
          </a:xfrm>
          <a:prstGeom prst="roundRect">
            <a:avLst>
              <a:gd name="adj" fmla="val 18000"/>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0440" y="301752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Payment</a:t>
            </a:r>
          </a:p>
        </p:txBody>
      </p:sp>
      <p:sp>
        <p:nvSpPr>
          <p:cNvPr id="28" name="Oval 27"/>
          <p:cNvSpPr/>
          <p:nvPr/>
        </p:nvSpPr>
        <p:spPr>
          <a:xfrm>
            <a:off x="3374136" y="287121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74136" y="2871216"/>
            <a:ext cx="310896" cy="310896"/>
          </a:xfrm>
          <a:prstGeom prst="rect">
            <a:avLst/>
          </a:prstGeom>
          <a:noFill/>
        </p:spPr>
        <p:txBody>
          <a:bodyPr wrap="none" lIns="0" rIns="0" tIns="0" bIns="0" anchor="ctr">
            <a:spAutoFit/>
          </a:bodyPr>
          <a:lstStyle/>
          <a:p>
            <a:pPr algn="ctr"/>
            <a:r>
              <a:rPr sz="1200" b="1">
                <a:solidFill>
                  <a:srgbClr val="FFFFFF"/>
                </a:solidFill>
                <a:latin typeface="Segoe UI"/>
              </a:rPr>
              <a:t>6</a:t>
            </a:r>
          </a:p>
        </p:txBody>
      </p:sp>
      <p:sp>
        <p:nvSpPr>
          <p:cNvPr id="30" name="Rounded Rectangle 29"/>
          <p:cNvSpPr/>
          <p:nvPr/>
        </p:nvSpPr>
        <p:spPr>
          <a:xfrm>
            <a:off x="6355080" y="3017520"/>
            <a:ext cx="2606040" cy="1051560"/>
          </a:xfrm>
          <a:prstGeom prst="roundRect">
            <a:avLst>
              <a:gd name="adj" fmla="val 18000"/>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301752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Booking</a:t>
            </a:r>
          </a:p>
          <a:p>
            <a:pPr algn="ctr"/>
            <a:r>
              <a:rPr sz="1300" b="1" i="0">
                <a:solidFill>
                  <a:srgbClr val="FFFFFF"/>
                </a:solidFill>
                <a:latin typeface="Segoe UI"/>
              </a:rPr>
              <a:t>Confirmation</a:t>
            </a:r>
          </a:p>
        </p:txBody>
      </p:sp>
      <p:sp>
        <p:nvSpPr>
          <p:cNvPr id="32" name="Oval 31"/>
          <p:cNvSpPr/>
          <p:nvPr/>
        </p:nvSpPr>
        <p:spPr>
          <a:xfrm>
            <a:off x="6208776" y="287121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08776" y="2871216"/>
            <a:ext cx="310896" cy="310896"/>
          </a:xfrm>
          <a:prstGeom prst="rect">
            <a:avLst/>
          </a:prstGeom>
          <a:noFill/>
        </p:spPr>
        <p:txBody>
          <a:bodyPr wrap="none" lIns="0" rIns="0" tIns="0" bIns="0" anchor="ctr">
            <a:spAutoFit/>
          </a:bodyPr>
          <a:lstStyle/>
          <a:p>
            <a:pPr algn="ctr"/>
            <a:r>
              <a:rPr sz="1200" b="1">
                <a:solidFill>
                  <a:srgbClr val="FFFFFF"/>
                </a:solidFill>
                <a:latin typeface="Segoe UI"/>
              </a:rPr>
              <a:t>7</a:t>
            </a:r>
          </a:p>
        </p:txBody>
      </p:sp>
      <p:sp>
        <p:nvSpPr>
          <p:cNvPr id="34" name="Rounded Rectangle 33"/>
          <p:cNvSpPr/>
          <p:nvPr/>
        </p:nvSpPr>
        <p:spPr>
          <a:xfrm>
            <a:off x="9189720" y="3017520"/>
            <a:ext cx="2606040" cy="1051560"/>
          </a:xfrm>
          <a:prstGeom prst="roundRect">
            <a:avLst>
              <a:gd name="adj" fmla="val 18000"/>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9720" y="3017520"/>
            <a:ext cx="2606040" cy="1051560"/>
          </a:xfrm>
          <a:prstGeom prst="rect">
            <a:avLst/>
          </a:prstGeom>
          <a:noFill/>
        </p:spPr>
        <p:txBody>
          <a:bodyPr wrap="square" anchor="ctr" lIns="0" rIns="0" tIns="0" bIns="0">
            <a:spAutoFit/>
          </a:bodyPr>
          <a:lstStyle/>
          <a:p>
            <a:pPr algn="ctr"/>
            <a:r>
              <a:rPr sz="1300" b="1" i="0">
                <a:solidFill>
                  <a:srgbClr val="FFFFFF"/>
                </a:solidFill>
                <a:latin typeface="Segoe UI"/>
              </a:rPr>
              <a:t>My</a:t>
            </a:r>
          </a:p>
          <a:p>
            <a:pPr algn="ctr"/>
            <a:r>
              <a:rPr sz="1300" b="1" i="0">
                <a:solidFill>
                  <a:srgbClr val="FFFFFF"/>
                </a:solidFill>
                <a:latin typeface="Segoe UI"/>
              </a:rPr>
              <a:t>Bookings</a:t>
            </a:r>
          </a:p>
        </p:txBody>
      </p:sp>
      <p:sp>
        <p:nvSpPr>
          <p:cNvPr id="36" name="Oval 35"/>
          <p:cNvSpPr/>
          <p:nvPr/>
        </p:nvSpPr>
        <p:spPr>
          <a:xfrm>
            <a:off x="9043416" y="2871216"/>
            <a:ext cx="310896" cy="310896"/>
          </a:xfrm>
          <a:prstGeom prst="ellipse">
            <a:avLst/>
          </a:prstGeom>
          <a:solidFill>
            <a:srgbClr val="F28C2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43416" y="2871216"/>
            <a:ext cx="310896" cy="310896"/>
          </a:xfrm>
          <a:prstGeom prst="rect">
            <a:avLst/>
          </a:prstGeom>
          <a:noFill/>
        </p:spPr>
        <p:txBody>
          <a:bodyPr wrap="none" lIns="0" rIns="0" tIns="0" bIns="0" anchor="ctr">
            <a:spAutoFit/>
          </a:bodyPr>
          <a:lstStyle/>
          <a:p>
            <a:pPr algn="ctr"/>
            <a:r>
              <a:rPr sz="1200" b="1">
                <a:solidFill>
                  <a:srgbClr val="FFFFFF"/>
                </a:solidFill>
                <a:latin typeface="Segoe UI"/>
              </a:rPr>
              <a:t>8</a:t>
            </a:r>
          </a:p>
        </p:txBody>
      </p:sp>
      <p:cxnSp>
        <p:nvCxnSpPr>
          <p:cNvPr id="38" name="Connector 37"/>
          <p:cNvCxnSpPr/>
          <p:nvPr/>
        </p:nvCxnSpPr>
        <p:spPr>
          <a:xfrm>
            <a:off x="3310128" y="1988820"/>
            <a:ext cx="192024"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44768" y="1988820"/>
            <a:ext cx="192024"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979408" y="1988820"/>
            <a:ext cx="192024"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310128" y="3543300"/>
            <a:ext cx="192024"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44768" y="3543300"/>
            <a:ext cx="192024"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979408" y="3543300"/>
            <a:ext cx="192024" cy="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492740" y="2532888"/>
            <a:ext cx="0" cy="274320"/>
          </a:xfrm>
          <a:prstGeom prst="line">
            <a:avLst/>
          </a:prstGeom>
          <a:ln w="28575">
            <a:solidFill>
              <a:srgbClr val="F28C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9</a:t>
            </a:r>
          </a:p>
        </p:txBody>
      </p:sp>
      <p:sp>
        <p:nvSpPr>
          <p:cNvPr id="46" name="TextBox 45"/>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MODULES</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Project Modules at a Glance</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716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56716" y="15316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6716" y="15316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9" name="TextBox 8"/>
          <p:cNvSpPr txBox="1"/>
          <p:nvPr/>
        </p:nvSpPr>
        <p:spPr>
          <a:xfrm>
            <a:off x="576072" y="21214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Landing Page</a:t>
            </a:r>
          </a:p>
        </p:txBody>
      </p:sp>
      <p:sp>
        <p:nvSpPr>
          <p:cNvPr id="10" name="TextBox 9"/>
          <p:cNvSpPr txBox="1"/>
          <p:nvPr/>
        </p:nvSpPr>
        <p:spPr>
          <a:xfrm>
            <a:off x="594360" y="2505456"/>
            <a:ext cx="1627632" cy="502920"/>
          </a:xfrm>
          <a:prstGeom prst="rect">
            <a:avLst/>
          </a:prstGeom>
          <a:noFill/>
        </p:spPr>
        <p:txBody>
          <a:bodyPr wrap="square" anchor="t" lIns="0" rIns="0" tIns="0" bIns="0">
            <a:spAutoFit/>
          </a:bodyPr>
          <a:lstStyle/>
          <a:p>
            <a:pPr algn="ctr"/>
            <a:r>
              <a:rPr sz="850" b="0" i="0">
                <a:solidFill>
                  <a:srgbClr val="5A6474"/>
                </a:solidFill>
                <a:latin typeface="Segoe UI"/>
              </a:rPr>
              <a:t>Hero, search box &amp; feature highlights</a:t>
            </a:r>
          </a:p>
        </p:txBody>
      </p:sp>
      <p:sp>
        <p:nvSpPr>
          <p:cNvPr id="11" name="Rounded Rectangle 10"/>
          <p:cNvSpPr/>
          <p:nvPr/>
        </p:nvSpPr>
        <p:spPr>
          <a:xfrm>
            <a:off x="2404872" y="13716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58668" y="15316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58668" y="15316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14" name="TextBox 13"/>
          <p:cNvSpPr txBox="1"/>
          <p:nvPr/>
        </p:nvSpPr>
        <p:spPr>
          <a:xfrm>
            <a:off x="2478024" y="21214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Registration</a:t>
            </a:r>
          </a:p>
        </p:txBody>
      </p:sp>
      <p:sp>
        <p:nvSpPr>
          <p:cNvPr id="15" name="TextBox 14"/>
          <p:cNvSpPr txBox="1"/>
          <p:nvPr/>
        </p:nvSpPr>
        <p:spPr>
          <a:xfrm>
            <a:off x="2496312" y="2505456"/>
            <a:ext cx="1627632" cy="502920"/>
          </a:xfrm>
          <a:prstGeom prst="rect">
            <a:avLst/>
          </a:prstGeom>
          <a:noFill/>
        </p:spPr>
        <p:txBody>
          <a:bodyPr wrap="square" anchor="t" lIns="0" rIns="0" tIns="0" bIns="0">
            <a:spAutoFit/>
          </a:bodyPr>
          <a:lstStyle/>
          <a:p>
            <a:pPr algn="ctr"/>
            <a:r>
              <a:rPr sz="850" b="0" i="0">
                <a:solidFill>
                  <a:srgbClr val="5A6474"/>
                </a:solidFill>
                <a:latin typeface="Segoe UI"/>
              </a:rPr>
              <a:t>New account with validation</a:t>
            </a:r>
          </a:p>
        </p:txBody>
      </p:sp>
      <p:sp>
        <p:nvSpPr>
          <p:cNvPr id="16" name="Rounded Rectangle 15"/>
          <p:cNvSpPr/>
          <p:nvPr/>
        </p:nvSpPr>
        <p:spPr>
          <a:xfrm>
            <a:off x="4306824" y="13716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60620" y="15316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60620" y="15316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19" name="TextBox 18"/>
          <p:cNvSpPr txBox="1"/>
          <p:nvPr/>
        </p:nvSpPr>
        <p:spPr>
          <a:xfrm>
            <a:off x="4379976" y="21214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Login</a:t>
            </a:r>
          </a:p>
        </p:txBody>
      </p:sp>
      <p:sp>
        <p:nvSpPr>
          <p:cNvPr id="20" name="TextBox 19"/>
          <p:cNvSpPr txBox="1"/>
          <p:nvPr/>
        </p:nvSpPr>
        <p:spPr>
          <a:xfrm>
            <a:off x="4398264" y="2505456"/>
            <a:ext cx="1627632" cy="502920"/>
          </a:xfrm>
          <a:prstGeom prst="rect">
            <a:avLst/>
          </a:prstGeom>
          <a:noFill/>
        </p:spPr>
        <p:txBody>
          <a:bodyPr wrap="square" anchor="t" lIns="0" rIns="0" tIns="0" bIns="0">
            <a:spAutoFit/>
          </a:bodyPr>
          <a:lstStyle/>
          <a:p>
            <a:pPr algn="ctr"/>
            <a:r>
              <a:rPr sz="850" b="0" i="0">
                <a:solidFill>
                  <a:srgbClr val="5A6474"/>
                </a:solidFill>
                <a:latin typeface="Segoe UI"/>
              </a:rPr>
              <a:t>Session-based authentication</a:t>
            </a:r>
          </a:p>
        </p:txBody>
      </p:sp>
      <p:sp>
        <p:nvSpPr>
          <p:cNvPr id="21" name="Rounded Rectangle 20"/>
          <p:cNvSpPr/>
          <p:nvPr/>
        </p:nvSpPr>
        <p:spPr>
          <a:xfrm>
            <a:off x="6208776" y="13716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62572" y="15316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62572" y="15316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24" name="TextBox 23"/>
          <p:cNvSpPr txBox="1"/>
          <p:nvPr/>
        </p:nvSpPr>
        <p:spPr>
          <a:xfrm>
            <a:off x="6281928" y="21214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Dashboard</a:t>
            </a:r>
          </a:p>
        </p:txBody>
      </p:sp>
      <p:sp>
        <p:nvSpPr>
          <p:cNvPr id="25" name="TextBox 24"/>
          <p:cNvSpPr txBox="1"/>
          <p:nvPr/>
        </p:nvSpPr>
        <p:spPr>
          <a:xfrm>
            <a:off x="6300216" y="2505456"/>
            <a:ext cx="1627632" cy="502920"/>
          </a:xfrm>
          <a:prstGeom prst="rect">
            <a:avLst/>
          </a:prstGeom>
          <a:noFill/>
        </p:spPr>
        <p:txBody>
          <a:bodyPr wrap="square" anchor="t" lIns="0" rIns="0" tIns="0" bIns="0">
            <a:spAutoFit/>
          </a:bodyPr>
          <a:lstStyle/>
          <a:p>
            <a:pPr algn="ctr"/>
            <a:r>
              <a:rPr sz="850" b="0" i="0">
                <a:solidFill>
                  <a:srgbClr val="5A6474"/>
                </a:solidFill>
                <a:latin typeface="Segoe UI"/>
              </a:rPr>
              <a:t>Personalised post-login home</a:t>
            </a:r>
          </a:p>
        </p:txBody>
      </p:sp>
      <p:sp>
        <p:nvSpPr>
          <p:cNvPr id="26" name="Rounded Rectangle 25"/>
          <p:cNvSpPr/>
          <p:nvPr/>
        </p:nvSpPr>
        <p:spPr>
          <a:xfrm>
            <a:off x="8110728" y="13716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64524" y="15316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64524" y="15316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29" name="TextBox 28"/>
          <p:cNvSpPr txBox="1"/>
          <p:nvPr/>
        </p:nvSpPr>
        <p:spPr>
          <a:xfrm>
            <a:off x="8183880" y="21214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Search</a:t>
            </a:r>
          </a:p>
        </p:txBody>
      </p:sp>
      <p:sp>
        <p:nvSpPr>
          <p:cNvPr id="30" name="TextBox 29"/>
          <p:cNvSpPr txBox="1"/>
          <p:nvPr/>
        </p:nvSpPr>
        <p:spPr>
          <a:xfrm>
            <a:off x="8202168" y="2505456"/>
            <a:ext cx="1627632" cy="502920"/>
          </a:xfrm>
          <a:prstGeom prst="rect">
            <a:avLst/>
          </a:prstGeom>
          <a:noFill/>
        </p:spPr>
        <p:txBody>
          <a:bodyPr wrap="square" anchor="t" lIns="0" rIns="0" tIns="0" bIns="0">
            <a:spAutoFit/>
          </a:bodyPr>
          <a:lstStyle/>
          <a:p>
            <a:pPr algn="ctr"/>
            <a:r>
              <a:rPr sz="850" b="0" i="0">
                <a:solidFill>
                  <a:srgbClr val="5A6474"/>
                </a:solidFill>
                <a:latin typeface="Segoe UI"/>
              </a:rPr>
              <a:t>Route, date &amp; passenger input</a:t>
            </a:r>
          </a:p>
        </p:txBody>
      </p:sp>
      <p:sp>
        <p:nvSpPr>
          <p:cNvPr id="31" name="Rounded Rectangle 30"/>
          <p:cNvSpPr/>
          <p:nvPr/>
        </p:nvSpPr>
        <p:spPr>
          <a:xfrm>
            <a:off x="10012680" y="13716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666476" y="15316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66476" y="15316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34" name="TextBox 33"/>
          <p:cNvSpPr txBox="1"/>
          <p:nvPr/>
        </p:nvSpPr>
        <p:spPr>
          <a:xfrm>
            <a:off x="10085832" y="21214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Results</a:t>
            </a:r>
          </a:p>
        </p:txBody>
      </p:sp>
      <p:sp>
        <p:nvSpPr>
          <p:cNvPr id="35" name="TextBox 34"/>
          <p:cNvSpPr txBox="1"/>
          <p:nvPr/>
        </p:nvSpPr>
        <p:spPr>
          <a:xfrm>
            <a:off x="10104120" y="2505456"/>
            <a:ext cx="1627632" cy="502920"/>
          </a:xfrm>
          <a:prstGeom prst="rect">
            <a:avLst/>
          </a:prstGeom>
          <a:noFill/>
        </p:spPr>
        <p:txBody>
          <a:bodyPr wrap="square" anchor="t" lIns="0" rIns="0" tIns="0" bIns="0">
            <a:spAutoFit/>
          </a:bodyPr>
          <a:lstStyle/>
          <a:p>
            <a:pPr algn="ctr"/>
            <a:r>
              <a:rPr sz="850" b="0" i="0">
                <a:solidFill>
                  <a:srgbClr val="5A6474"/>
                </a:solidFill>
                <a:latin typeface="Segoe UI"/>
              </a:rPr>
              <a:t>Matching buses with fare &amp; timing</a:t>
            </a:r>
          </a:p>
        </p:txBody>
      </p:sp>
      <p:sp>
        <p:nvSpPr>
          <p:cNvPr id="36" name="Rounded Rectangle 35"/>
          <p:cNvSpPr/>
          <p:nvPr/>
        </p:nvSpPr>
        <p:spPr>
          <a:xfrm>
            <a:off x="502920" y="32004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56716" y="33604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56716" y="33604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39" name="TextBox 38"/>
          <p:cNvSpPr txBox="1"/>
          <p:nvPr/>
        </p:nvSpPr>
        <p:spPr>
          <a:xfrm>
            <a:off x="576072" y="39502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Seat Selection</a:t>
            </a:r>
          </a:p>
        </p:txBody>
      </p:sp>
      <p:sp>
        <p:nvSpPr>
          <p:cNvPr id="40" name="TextBox 39"/>
          <p:cNvSpPr txBox="1"/>
          <p:nvPr/>
        </p:nvSpPr>
        <p:spPr>
          <a:xfrm>
            <a:off x="594360" y="4334256"/>
            <a:ext cx="1627632" cy="502920"/>
          </a:xfrm>
          <a:prstGeom prst="rect">
            <a:avLst/>
          </a:prstGeom>
          <a:noFill/>
        </p:spPr>
        <p:txBody>
          <a:bodyPr wrap="square" anchor="t" lIns="0" rIns="0" tIns="0" bIns="0">
            <a:spAutoFit/>
          </a:bodyPr>
          <a:lstStyle/>
          <a:p>
            <a:pPr algn="ctr"/>
            <a:r>
              <a:rPr sz="850" b="0" i="0">
                <a:solidFill>
                  <a:srgbClr val="5A6474"/>
                </a:solidFill>
                <a:latin typeface="Segoe UI"/>
              </a:rPr>
              <a:t>Interactive coach seat layout</a:t>
            </a:r>
          </a:p>
        </p:txBody>
      </p:sp>
      <p:sp>
        <p:nvSpPr>
          <p:cNvPr id="41" name="Rounded Rectangle 40"/>
          <p:cNvSpPr/>
          <p:nvPr/>
        </p:nvSpPr>
        <p:spPr>
          <a:xfrm>
            <a:off x="2404872" y="32004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058668" y="33604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58668" y="33604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44" name="TextBox 43"/>
          <p:cNvSpPr txBox="1"/>
          <p:nvPr/>
        </p:nvSpPr>
        <p:spPr>
          <a:xfrm>
            <a:off x="2478024" y="39502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Payment</a:t>
            </a:r>
          </a:p>
        </p:txBody>
      </p:sp>
      <p:sp>
        <p:nvSpPr>
          <p:cNvPr id="45" name="TextBox 44"/>
          <p:cNvSpPr txBox="1"/>
          <p:nvPr/>
        </p:nvSpPr>
        <p:spPr>
          <a:xfrm>
            <a:off x="2496312" y="4334256"/>
            <a:ext cx="1627632" cy="502920"/>
          </a:xfrm>
          <a:prstGeom prst="rect">
            <a:avLst/>
          </a:prstGeom>
          <a:noFill/>
        </p:spPr>
        <p:txBody>
          <a:bodyPr wrap="square" anchor="t" lIns="0" rIns="0" tIns="0" bIns="0">
            <a:spAutoFit/>
          </a:bodyPr>
          <a:lstStyle/>
          <a:p>
            <a:pPr algn="ctr"/>
            <a:r>
              <a:rPr sz="850" b="0" i="0">
                <a:solidFill>
                  <a:srgbClr val="5A6474"/>
                </a:solidFill>
                <a:latin typeface="Segoe UI"/>
              </a:rPr>
              <a:t>UPI / Card / Net Banking choice</a:t>
            </a:r>
          </a:p>
        </p:txBody>
      </p:sp>
      <p:sp>
        <p:nvSpPr>
          <p:cNvPr id="46" name="Rounded Rectangle 45"/>
          <p:cNvSpPr/>
          <p:nvPr/>
        </p:nvSpPr>
        <p:spPr>
          <a:xfrm>
            <a:off x="4306824" y="32004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960620" y="33604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960620" y="33604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49" name="TextBox 48"/>
          <p:cNvSpPr txBox="1"/>
          <p:nvPr/>
        </p:nvSpPr>
        <p:spPr>
          <a:xfrm>
            <a:off x="4379976" y="39502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Booking Confirm.</a:t>
            </a:r>
          </a:p>
        </p:txBody>
      </p:sp>
      <p:sp>
        <p:nvSpPr>
          <p:cNvPr id="50" name="TextBox 49"/>
          <p:cNvSpPr txBox="1"/>
          <p:nvPr/>
        </p:nvSpPr>
        <p:spPr>
          <a:xfrm>
            <a:off x="4398264" y="4334256"/>
            <a:ext cx="1627632" cy="502920"/>
          </a:xfrm>
          <a:prstGeom prst="rect">
            <a:avLst/>
          </a:prstGeom>
          <a:noFill/>
        </p:spPr>
        <p:txBody>
          <a:bodyPr wrap="square" anchor="t" lIns="0" rIns="0" tIns="0" bIns="0">
            <a:spAutoFit/>
          </a:bodyPr>
          <a:lstStyle/>
          <a:p>
            <a:pPr algn="ctr"/>
            <a:r>
              <a:rPr sz="850" b="0" i="0">
                <a:solidFill>
                  <a:srgbClr val="5A6474"/>
                </a:solidFill>
                <a:latin typeface="Segoe UI"/>
              </a:rPr>
              <a:t>E-ticket generated &amp; saved</a:t>
            </a:r>
          </a:p>
        </p:txBody>
      </p:sp>
      <p:sp>
        <p:nvSpPr>
          <p:cNvPr id="51" name="Rounded Rectangle 50"/>
          <p:cNvSpPr/>
          <p:nvPr/>
        </p:nvSpPr>
        <p:spPr>
          <a:xfrm>
            <a:off x="6208776" y="32004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862572" y="33604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62572" y="33604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54" name="TextBox 53"/>
          <p:cNvSpPr txBox="1"/>
          <p:nvPr/>
        </p:nvSpPr>
        <p:spPr>
          <a:xfrm>
            <a:off x="6281928" y="39502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My Bookings</a:t>
            </a:r>
          </a:p>
        </p:txBody>
      </p:sp>
      <p:sp>
        <p:nvSpPr>
          <p:cNvPr id="55" name="TextBox 54"/>
          <p:cNvSpPr txBox="1"/>
          <p:nvPr/>
        </p:nvSpPr>
        <p:spPr>
          <a:xfrm>
            <a:off x="6300216" y="4334256"/>
            <a:ext cx="1627632" cy="502920"/>
          </a:xfrm>
          <a:prstGeom prst="rect">
            <a:avLst/>
          </a:prstGeom>
          <a:noFill/>
        </p:spPr>
        <p:txBody>
          <a:bodyPr wrap="square" anchor="t" lIns="0" rIns="0" tIns="0" bIns="0">
            <a:spAutoFit/>
          </a:bodyPr>
          <a:lstStyle/>
          <a:p>
            <a:pPr algn="ctr"/>
            <a:r>
              <a:rPr sz="850" b="0" i="0">
                <a:solidFill>
                  <a:srgbClr val="5A6474"/>
                </a:solidFill>
                <a:latin typeface="Segoe UI"/>
              </a:rPr>
              <a:t>Full booking history via JOIN</a:t>
            </a:r>
          </a:p>
        </p:txBody>
      </p:sp>
      <p:sp>
        <p:nvSpPr>
          <p:cNvPr id="56" name="Rounded Rectangle 55"/>
          <p:cNvSpPr/>
          <p:nvPr/>
        </p:nvSpPr>
        <p:spPr>
          <a:xfrm>
            <a:off x="8110728" y="32004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764524" y="33604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764524" y="33604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59" name="TextBox 58"/>
          <p:cNvSpPr txBox="1"/>
          <p:nvPr/>
        </p:nvSpPr>
        <p:spPr>
          <a:xfrm>
            <a:off x="8183880" y="39502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Profile</a:t>
            </a:r>
          </a:p>
        </p:txBody>
      </p:sp>
      <p:sp>
        <p:nvSpPr>
          <p:cNvPr id="60" name="TextBox 59"/>
          <p:cNvSpPr txBox="1"/>
          <p:nvPr/>
        </p:nvSpPr>
        <p:spPr>
          <a:xfrm>
            <a:off x="8202168" y="4334256"/>
            <a:ext cx="1627632" cy="502920"/>
          </a:xfrm>
          <a:prstGeom prst="rect">
            <a:avLst/>
          </a:prstGeom>
          <a:noFill/>
        </p:spPr>
        <p:txBody>
          <a:bodyPr wrap="square" anchor="t" lIns="0" rIns="0" tIns="0" bIns="0">
            <a:spAutoFit/>
          </a:bodyPr>
          <a:lstStyle/>
          <a:p>
            <a:pPr algn="ctr"/>
            <a:r>
              <a:rPr sz="850" b="0" i="0">
                <a:solidFill>
                  <a:srgbClr val="5A6474"/>
                </a:solidFill>
                <a:latin typeface="Segoe UI"/>
              </a:rPr>
              <a:t>Account details of user</a:t>
            </a:r>
          </a:p>
        </p:txBody>
      </p:sp>
      <p:sp>
        <p:nvSpPr>
          <p:cNvPr id="61" name="Rounded Rectangle 60"/>
          <p:cNvSpPr/>
          <p:nvPr/>
        </p:nvSpPr>
        <p:spPr>
          <a:xfrm>
            <a:off x="10012680" y="3200400"/>
            <a:ext cx="1810512" cy="169164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666476" y="3360420"/>
            <a:ext cx="502920" cy="502920"/>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66476" y="3360420"/>
            <a:ext cx="502920" cy="50292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64" name="TextBox 63"/>
          <p:cNvSpPr txBox="1"/>
          <p:nvPr/>
        </p:nvSpPr>
        <p:spPr>
          <a:xfrm>
            <a:off x="10085832" y="3950208"/>
            <a:ext cx="1664208" cy="411480"/>
          </a:xfrm>
          <a:prstGeom prst="rect">
            <a:avLst/>
          </a:prstGeom>
          <a:noFill/>
        </p:spPr>
        <p:txBody>
          <a:bodyPr wrap="square" anchor="t" lIns="0" rIns="0" tIns="0" bIns="0">
            <a:spAutoFit/>
          </a:bodyPr>
          <a:lstStyle/>
          <a:p>
            <a:pPr algn="ctr"/>
            <a:r>
              <a:rPr sz="1050" b="1" i="0">
                <a:solidFill>
                  <a:srgbClr val="0B1F3F"/>
                </a:solidFill>
                <a:latin typeface="Segoe UI"/>
              </a:rPr>
              <a:t>Logout</a:t>
            </a:r>
          </a:p>
        </p:txBody>
      </p:sp>
      <p:sp>
        <p:nvSpPr>
          <p:cNvPr id="65" name="TextBox 64"/>
          <p:cNvSpPr txBox="1"/>
          <p:nvPr/>
        </p:nvSpPr>
        <p:spPr>
          <a:xfrm>
            <a:off x="10104120" y="4334256"/>
            <a:ext cx="1627632" cy="502920"/>
          </a:xfrm>
          <a:prstGeom prst="rect">
            <a:avLst/>
          </a:prstGeom>
          <a:noFill/>
        </p:spPr>
        <p:txBody>
          <a:bodyPr wrap="square" anchor="t" lIns="0" rIns="0" tIns="0" bIns="0">
            <a:spAutoFit/>
          </a:bodyPr>
          <a:lstStyle/>
          <a:p>
            <a:pPr algn="ctr"/>
            <a:r>
              <a:rPr sz="850" b="0" i="0">
                <a:solidFill>
                  <a:srgbClr val="5A6474"/>
                </a:solidFill>
                <a:latin typeface="Segoe UI"/>
              </a:rPr>
              <a:t>Clears session securely</a:t>
            </a:r>
          </a:p>
        </p:txBody>
      </p:sp>
      <p:sp>
        <p:nvSpPr>
          <p:cNvPr id="66" name="TextBox 65"/>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10</a:t>
            </a:r>
          </a:p>
        </p:txBody>
      </p:sp>
      <p:sp>
        <p:nvSpPr>
          <p:cNvPr id="67" name="TextBox 66"/>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SCREENS</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User Interface Walkthrough</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25880"/>
            <a:ext cx="2697480" cy="1417320"/>
          </a:xfrm>
          <a:prstGeom prst="roundRect">
            <a:avLst>
              <a:gd name="adj" fmla="val 5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4_1_home.png"/>
          <p:cNvPicPr>
            <a:picLocks noChangeAspect="1"/>
          </p:cNvPicPr>
          <p:nvPr/>
        </p:nvPicPr>
        <p:blipFill>
          <a:blip r:embed="rId2"/>
          <a:stretch>
            <a:fillRect/>
          </a:stretch>
        </p:blipFill>
        <p:spPr>
          <a:xfrm>
            <a:off x="834847" y="1399032"/>
            <a:ext cx="2033625" cy="1271016"/>
          </a:xfrm>
          <a:prstGeom prst="rect">
            <a:avLst/>
          </a:prstGeom>
        </p:spPr>
      </p:pic>
      <p:sp>
        <p:nvSpPr>
          <p:cNvPr id="8" name="TextBox 7"/>
          <p:cNvSpPr txBox="1"/>
          <p:nvPr/>
        </p:nvSpPr>
        <p:spPr>
          <a:xfrm>
            <a:off x="594360" y="2816352"/>
            <a:ext cx="2514600" cy="274320"/>
          </a:xfrm>
          <a:prstGeom prst="rect">
            <a:avLst/>
          </a:prstGeom>
          <a:noFill/>
        </p:spPr>
        <p:txBody>
          <a:bodyPr wrap="square" anchor="t" lIns="0" rIns="0" tIns="0" bIns="0">
            <a:spAutoFit/>
          </a:bodyPr>
          <a:lstStyle/>
          <a:p>
            <a:pPr algn="ctr"/>
            <a:r>
              <a:rPr sz="1150" b="1" i="0">
                <a:solidFill>
                  <a:srgbClr val="0B1F3F"/>
                </a:solidFill>
                <a:latin typeface="Segoe UI"/>
              </a:rPr>
              <a:t>Landing Page</a:t>
            </a:r>
          </a:p>
        </p:txBody>
      </p:sp>
      <p:sp>
        <p:nvSpPr>
          <p:cNvPr id="9" name="TextBox 8"/>
          <p:cNvSpPr txBox="1"/>
          <p:nvPr/>
        </p:nvSpPr>
        <p:spPr>
          <a:xfrm>
            <a:off x="594360" y="3108960"/>
            <a:ext cx="2514600" cy="411480"/>
          </a:xfrm>
          <a:prstGeom prst="rect">
            <a:avLst/>
          </a:prstGeom>
          <a:noFill/>
        </p:spPr>
        <p:txBody>
          <a:bodyPr wrap="square" anchor="t" lIns="0" rIns="0" tIns="0" bIns="0">
            <a:spAutoFit/>
          </a:bodyPr>
          <a:lstStyle/>
          <a:p>
            <a:pPr algn="ctr"/>
            <a:r>
              <a:rPr sz="900" b="0" i="0">
                <a:solidFill>
                  <a:srgbClr val="5A6474"/>
                </a:solidFill>
                <a:latin typeface="Segoe UI"/>
              </a:rPr>
              <a:t>First screen — search bar &amp; highlights</a:t>
            </a:r>
          </a:p>
        </p:txBody>
      </p:sp>
      <p:sp>
        <p:nvSpPr>
          <p:cNvPr id="10" name="Rounded Rectangle 9"/>
          <p:cNvSpPr/>
          <p:nvPr/>
        </p:nvSpPr>
        <p:spPr>
          <a:xfrm>
            <a:off x="3337560" y="1325880"/>
            <a:ext cx="2697480" cy="1417320"/>
          </a:xfrm>
          <a:prstGeom prst="roundRect">
            <a:avLst>
              <a:gd name="adj" fmla="val 5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4_4_dashboard.png"/>
          <p:cNvPicPr>
            <a:picLocks noChangeAspect="1"/>
          </p:cNvPicPr>
          <p:nvPr/>
        </p:nvPicPr>
        <p:blipFill>
          <a:blip r:embed="rId3"/>
          <a:stretch>
            <a:fillRect/>
          </a:stretch>
        </p:blipFill>
        <p:spPr>
          <a:xfrm>
            <a:off x="3667481" y="1399032"/>
            <a:ext cx="2037637" cy="1271016"/>
          </a:xfrm>
          <a:prstGeom prst="rect">
            <a:avLst/>
          </a:prstGeom>
        </p:spPr>
      </p:pic>
      <p:sp>
        <p:nvSpPr>
          <p:cNvPr id="12" name="TextBox 11"/>
          <p:cNvSpPr txBox="1"/>
          <p:nvPr/>
        </p:nvSpPr>
        <p:spPr>
          <a:xfrm>
            <a:off x="3429000" y="2816352"/>
            <a:ext cx="2514600" cy="274320"/>
          </a:xfrm>
          <a:prstGeom prst="rect">
            <a:avLst/>
          </a:prstGeom>
          <a:noFill/>
        </p:spPr>
        <p:txBody>
          <a:bodyPr wrap="square" anchor="t" lIns="0" rIns="0" tIns="0" bIns="0">
            <a:spAutoFit/>
          </a:bodyPr>
          <a:lstStyle/>
          <a:p>
            <a:pPr algn="ctr"/>
            <a:r>
              <a:rPr sz="1150" b="1" i="0">
                <a:solidFill>
                  <a:srgbClr val="0B1F3F"/>
                </a:solidFill>
                <a:latin typeface="Segoe UI"/>
              </a:rPr>
              <a:t>Dashboard</a:t>
            </a:r>
          </a:p>
        </p:txBody>
      </p:sp>
      <p:sp>
        <p:nvSpPr>
          <p:cNvPr id="13" name="TextBox 12"/>
          <p:cNvSpPr txBox="1"/>
          <p:nvPr/>
        </p:nvSpPr>
        <p:spPr>
          <a:xfrm>
            <a:off x="3429000" y="3108960"/>
            <a:ext cx="2514600" cy="411480"/>
          </a:xfrm>
          <a:prstGeom prst="rect">
            <a:avLst/>
          </a:prstGeom>
          <a:noFill/>
        </p:spPr>
        <p:txBody>
          <a:bodyPr wrap="square" anchor="t" lIns="0" rIns="0" tIns="0" bIns="0">
            <a:spAutoFit/>
          </a:bodyPr>
          <a:lstStyle/>
          <a:p>
            <a:pPr algn="ctr"/>
            <a:r>
              <a:rPr sz="900" b="0" i="0">
                <a:solidFill>
                  <a:srgbClr val="5A6474"/>
                </a:solidFill>
                <a:latin typeface="Segoe UI"/>
              </a:rPr>
              <a:t>Post-login personal home screen</a:t>
            </a:r>
          </a:p>
        </p:txBody>
      </p:sp>
      <p:sp>
        <p:nvSpPr>
          <p:cNvPr id="14" name="Rounded Rectangle 13"/>
          <p:cNvSpPr/>
          <p:nvPr/>
        </p:nvSpPr>
        <p:spPr>
          <a:xfrm>
            <a:off x="6172200" y="1325880"/>
            <a:ext cx="2697480" cy="1417320"/>
          </a:xfrm>
          <a:prstGeom prst="roundRect">
            <a:avLst>
              <a:gd name="adj" fmla="val 5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_4_5_search.png"/>
          <p:cNvPicPr>
            <a:picLocks noChangeAspect="1"/>
          </p:cNvPicPr>
          <p:nvPr/>
        </p:nvPicPr>
        <p:blipFill>
          <a:blip r:embed="rId4"/>
          <a:stretch>
            <a:fillRect/>
          </a:stretch>
        </p:blipFill>
        <p:spPr>
          <a:xfrm>
            <a:off x="6689002" y="1399032"/>
            <a:ext cx="1663875" cy="1271016"/>
          </a:xfrm>
          <a:prstGeom prst="rect">
            <a:avLst/>
          </a:prstGeom>
        </p:spPr>
      </p:pic>
      <p:sp>
        <p:nvSpPr>
          <p:cNvPr id="16" name="TextBox 15"/>
          <p:cNvSpPr txBox="1"/>
          <p:nvPr/>
        </p:nvSpPr>
        <p:spPr>
          <a:xfrm>
            <a:off x="6263640" y="2816352"/>
            <a:ext cx="2514600" cy="274320"/>
          </a:xfrm>
          <a:prstGeom prst="rect">
            <a:avLst/>
          </a:prstGeom>
          <a:noFill/>
        </p:spPr>
        <p:txBody>
          <a:bodyPr wrap="square" anchor="t" lIns="0" rIns="0" tIns="0" bIns="0">
            <a:spAutoFit/>
          </a:bodyPr>
          <a:lstStyle/>
          <a:p>
            <a:pPr algn="ctr"/>
            <a:r>
              <a:rPr sz="1150" b="1" i="0">
                <a:solidFill>
                  <a:srgbClr val="0B1F3F"/>
                </a:solidFill>
                <a:latin typeface="Segoe UI"/>
              </a:rPr>
              <a:t>Search Page</a:t>
            </a:r>
          </a:p>
        </p:txBody>
      </p:sp>
      <p:sp>
        <p:nvSpPr>
          <p:cNvPr id="17" name="TextBox 16"/>
          <p:cNvSpPr txBox="1"/>
          <p:nvPr/>
        </p:nvSpPr>
        <p:spPr>
          <a:xfrm>
            <a:off x="6263640" y="3108960"/>
            <a:ext cx="2514600" cy="411480"/>
          </a:xfrm>
          <a:prstGeom prst="rect">
            <a:avLst/>
          </a:prstGeom>
          <a:noFill/>
        </p:spPr>
        <p:txBody>
          <a:bodyPr wrap="square" anchor="t" lIns="0" rIns="0" tIns="0" bIns="0">
            <a:spAutoFit/>
          </a:bodyPr>
          <a:lstStyle/>
          <a:p>
            <a:pPr algn="ctr"/>
            <a:r>
              <a:rPr sz="900" b="0" i="0">
                <a:solidFill>
                  <a:srgbClr val="5A6474"/>
                </a:solidFill>
                <a:latin typeface="Segoe UI"/>
              </a:rPr>
              <a:t>Route, date &amp; passenger input form</a:t>
            </a:r>
          </a:p>
        </p:txBody>
      </p:sp>
      <p:sp>
        <p:nvSpPr>
          <p:cNvPr id="18" name="Rounded Rectangle 17"/>
          <p:cNvSpPr/>
          <p:nvPr/>
        </p:nvSpPr>
        <p:spPr>
          <a:xfrm>
            <a:off x="9006840" y="1325880"/>
            <a:ext cx="2697480" cy="1417320"/>
          </a:xfrm>
          <a:prstGeom prst="roundRect">
            <a:avLst>
              <a:gd name="adj" fmla="val 5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ig_4_7_seat_selection.png"/>
          <p:cNvPicPr>
            <a:picLocks noChangeAspect="1"/>
          </p:cNvPicPr>
          <p:nvPr/>
        </p:nvPicPr>
        <p:blipFill>
          <a:blip r:embed="rId5"/>
          <a:stretch>
            <a:fillRect/>
          </a:stretch>
        </p:blipFill>
        <p:spPr>
          <a:xfrm>
            <a:off x="9400328" y="1399032"/>
            <a:ext cx="1910504" cy="1271016"/>
          </a:xfrm>
          <a:prstGeom prst="rect">
            <a:avLst/>
          </a:prstGeom>
        </p:spPr>
      </p:pic>
      <p:sp>
        <p:nvSpPr>
          <p:cNvPr id="20" name="TextBox 19"/>
          <p:cNvSpPr txBox="1"/>
          <p:nvPr/>
        </p:nvSpPr>
        <p:spPr>
          <a:xfrm>
            <a:off x="9098280" y="2816352"/>
            <a:ext cx="2514600" cy="274320"/>
          </a:xfrm>
          <a:prstGeom prst="rect">
            <a:avLst/>
          </a:prstGeom>
          <a:noFill/>
        </p:spPr>
        <p:txBody>
          <a:bodyPr wrap="square" anchor="t" lIns="0" rIns="0" tIns="0" bIns="0">
            <a:spAutoFit/>
          </a:bodyPr>
          <a:lstStyle/>
          <a:p>
            <a:pPr algn="ctr"/>
            <a:r>
              <a:rPr sz="1150" b="1" i="0">
                <a:solidFill>
                  <a:srgbClr val="0B1F3F"/>
                </a:solidFill>
                <a:latin typeface="Segoe UI"/>
              </a:rPr>
              <a:t>Seat Selection</a:t>
            </a:r>
          </a:p>
        </p:txBody>
      </p:sp>
      <p:sp>
        <p:nvSpPr>
          <p:cNvPr id="21" name="TextBox 20"/>
          <p:cNvSpPr txBox="1"/>
          <p:nvPr/>
        </p:nvSpPr>
        <p:spPr>
          <a:xfrm>
            <a:off x="9098280" y="3108960"/>
            <a:ext cx="2514600" cy="411480"/>
          </a:xfrm>
          <a:prstGeom prst="rect">
            <a:avLst/>
          </a:prstGeom>
          <a:noFill/>
        </p:spPr>
        <p:txBody>
          <a:bodyPr wrap="square" anchor="t" lIns="0" rIns="0" tIns="0" bIns="0">
            <a:spAutoFit/>
          </a:bodyPr>
          <a:lstStyle/>
          <a:p>
            <a:pPr algn="ctr"/>
            <a:r>
              <a:rPr sz="900" b="0" i="0">
                <a:solidFill>
                  <a:srgbClr val="5A6474"/>
                </a:solidFill>
                <a:latin typeface="Segoe UI"/>
              </a:rPr>
              <a:t>Click-to-select interactive coach layout</a:t>
            </a:r>
          </a:p>
        </p:txBody>
      </p:sp>
      <p:sp>
        <p:nvSpPr>
          <p:cNvPr id="22" name="Rounded Rectangle 21"/>
          <p:cNvSpPr/>
          <p:nvPr/>
        </p:nvSpPr>
        <p:spPr>
          <a:xfrm>
            <a:off x="502920" y="3657600"/>
            <a:ext cx="2697480" cy="1417320"/>
          </a:xfrm>
          <a:prstGeom prst="roundRect">
            <a:avLst>
              <a:gd name="adj" fmla="val 5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ig_4_8_payment.png"/>
          <p:cNvPicPr>
            <a:picLocks noChangeAspect="1"/>
          </p:cNvPicPr>
          <p:nvPr/>
        </p:nvPicPr>
        <p:blipFill>
          <a:blip r:embed="rId6"/>
          <a:stretch>
            <a:fillRect/>
          </a:stretch>
        </p:blipFill>
        <p:spPr>
          <a:xfrm>
            <a:off x="707746" y="3730752"/>
            <a:ext cx="2287828" cy="1271016"/>
          </a:xfrm>
          <a:prstGeom prst="rect">
            <a:avLst/>
          </a:prstGeom>
        </p:spPr>
      </p:pic>
      <p:sp>
        <p:nvSpPr>
          <p:cNvPr id="24" name="TextBox 23"/>
          <p:cNvSpPr txBox="1"/>
          <p:nvPr/>
        </p:nvSpPr>
        <p:spPr>
          <a:xfrm>
            <a:off x="594360" y="5148072"/>
            <a:ext cx="2514600" cy="274320"/>
          </a:xfrm>
          <a:prstGeom prst="rect">
            <a:avLst/>
          </a:prstGeom>
          <a:noFill/>
        </p:spPr>
        <p:txBody>
          <a:bodyPr wrap="square" anchor="t" lIns="0" rIns="0" tIns="0" bIns="0">
            <a:spAutoFit/>
          </a:bodyPr>
          <a:lstStyle/>
          <a:p>
            <a:pPr algn="ctr"/>
            <a:r>
              <a:rPr sz="1150" b="1" i="0">
                <a:solidFill>
                  <a:srgbClr val="0B1F3F"/>
                </a:solidFill>
                <a:latin typeface="Segoe UI"/>
              </a:rPr>
              <a:t>Payment</a:t>
            </a:r>
          </a:p>
        </p:txBody>
      </p:sp>
      <p:sp>
        <p:nvSpPr>
          <p:cNvPr id="25" name="TextBox 24"/>
          <p:cNvSpPr txBox="1"/>
          <p:nvPr/>
        </p:nvSpPr>
        <p:spPr>
          <a:xfrm>
            <a:off x="594360" y="5440680"/>
            <a:ext cx="2514600" cy="411480"/>
          </a:xfrm>
          <a:prstGeom prst="rect">
            <a:avLst/>
          </a:prstGeom>
          <a:noFill/>
        </p:spPr>
        <p:txBody>
          <a:bodyPr wrap="square" anchor="t" lIns="0" rIns="0" tIns="0" bIns="0">
            <a:spAutoFit/>
          </a:bodyPr>
          <a:lstStyle/>
          <a:p>
            <a:pPr algn="ctr"/>
            <a:r>
              <a:rPr sz="900" b="0" i="0">
                <a:solidFill>
                  <a:srgbClr val="5A6474"/>
                </a:solidFill>
                <a:latin typeface="Segoe UI"/>
              </a:rPr>
              <a:t>UPI / Card / Net Banking checkout</a:t>
            </a:r>
          </a:p>
        </p:txBody>
      </p:sp>
      <p:sp>
        <p:nvSpPr>
          <p:cNvPr id="26" name="Rounded Rectangle 25"/>
          <p:cNvSpPr/>
          <p:nvPr/>
        </p:nvSpPr>
        <p:spPr>
          <a:xfrm>
            <a:off x="3337560" y="3657600"/>
            <a:ext cx="2697480" cy="1417320"/>
          </a:xfrm>
          <a:prstGeom prst="roundRect">
            <a:avLst>
              <a:gd name="adj" fmla="val 5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ig_4_9_success.png"/>
          <p:cNvPicPr>
            <a:picLocks noChangeAspect="1"/>
          </p:cNvPicPr>
          <p:nvPr/>
        </p:nvPicPr>
        <p:blipFill>
          <a:blip r:embed="rId7"/>
          <a:stretch>
            <a:fillRect/>
          </a:stretch>
        </p:blipFill>
        <p:spPr>
          <a:xfrm>
            <a:off x="3766043" y="3730752"/>
            <a:ext cx="1840514" cy="1271016"/>
          </a:xfrm>
          <a:prstGeom prst="rect">
            <a:avLst/>
          </a:prstGeom>
        </p:spPr>
      </p:pic>
      <p:sp>
        <p:nvSpPr>
          <p:cNvPr id="28" name="TextBox 27"/>
          <p:cNvSpPr txBox="1"/>
          <p:nvPr/>
        </p:nvSpPr>
        <p:spPr>
          <a:xfrm>
            <a:off x="3429000" y="5148072"/>
            <a:ext cx="2514600" cy="274320"/>
          </a:xfrm>
          <a:prstGeom prst="rect">
            <a:avLst/>
          </a:prstGeom>
          <a:noFill/>
        </p:spPr>
        <p:txBody>
          <a:bodyPr wrap="square" anchor="t" lIns="0" rIns="0" tIns="0" bIns="0">
            <a:spAutoFit/>
          </a:bodyPr>
          <a:lstStyle/>
          <a:p>
            <a:pPr algn="ctr"/>
            <a:r>
              <a:rPr sz="1150" b="1" i="0">
                <a:solidFill>
                  <a:srgbClr val="0B1F3F"/>
                </a:solidFill>
                <a:latin typeface="Segoe UI"/>
              </a:rPr>
              <a:t>Success Page</a:t>
            </a:r>
          </a:p>
        </p:txBody>
      </p:sp>
      <p:sp>
        <p:nvSpPr>
          <p:cNvPr id="29" name="TextBox 28"/>
          <p:cNvSpPr txBox="1"/>
          <p:nvPr/>
        </p:nvSpPr>
        <p:spPr>
          <a:xfrm>
            <a:off x="3429000" y="5440680"/>
            <a:ext cx="2514600" cy="411480"/>
          </a:xfrm>
          <a:prstGeom prst="rect">
            <a:avLst/>
          </a:prstGeom>
          <a:noFill/>
        </p:spPr>
        <p:txBody>
          <a:bodyPr wrap="square" anchor="t" lIns="0" rIns="0" tIns="0" bIns="0">
            <a:spAutoFit/>
          </a:bodyPr>
          <a:lstStyle/>
          <a:p>
            <a:pPr algn="ctr"/>
            <a:r>
              <a:rPr sz="900" b="0" i="0">
                <a:solidFill>
                  <a:srgbClr val="5A6474"/>
                </a:solidFill>
                <a:latin typeface="Segoe UI"/>
              </a:rPr>
              <a:t>Confirmed e-ticket after booking</a:t>
            </a:r>
          </a:p>
        </p:txBody>
      </p:sp>
      <p:sp>
        <p:nvSpPr>
          <p:cNvPr id="30" name="Rounded Rectangle 29"/>
          <p:cNvSpPr/>
          <p:nvPr/>
        </p:nvSpPr>
        <p:spPr>
          <a:xfrm>
            <a:off x="6172200" y="3657600"/>
            <a:ext cx="2697480" cy="1417320"/>
          </a:xfrm>
          <a:prstGeom prst="roundRect">
            <a:avLst>
              <a:gd name="adj" fmla="val 5000"/>
            </a:avLst>
          </a:prstGeom>
          <a:solidFill>
            <a:srgbClr val="FFFFFF"/>
          </a:solidFill>
          <a:ln w="1587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ig_4_10_my_bookings.png"/>
          <p:cNvPicPr>
            <a:picLocks noChangeAspect="1"/>
          </p:cNvPicPr>
          <p:nvPr/>
        </p:nvPicPr>
        <p:blipFill>
          <a:blip r:embed="rId8"/>
          <a:stretch>
            <a:fillRect/>
          </a:stretch>
        </p:blipFill>
        <p:spPr>
          <a:xfrm>
            <a:off x="6733752" y="3730752"/>
            <a:ext cx="1574376" cy="1271016"/>
          </a:xfrm>
          <a:prstGeom prst="rect">
            <a:avLst/>
          </a:prstGeom>
        </p:spPr>
      </p:pic>
      <p:sp>
        <p:nvSpPr>
          <p:cNvPr id="32" name="TextBox 31"/>
          <p:cNvSpPr txBox="1"/>
          <p:nvPr/>
        </p:nvSpPr>
        <p:spPr>
          <a:xfrm>
            <a:off x="6263640" y="5148072"/>
            <a:ext cx="2514600" cy="274320"/>
          </a:xfrm>
          <a:prstGeom prst="rect">
            <a:avLst/>
          </a:prstGeom>
          <a:noFill/>
        </p:spPr>
        <p:txBody>
          <a:bodyPr wrap="square" anchor="t" lIns="0" rIns="0" tIns="0" bIns="0">
            <a:spAutoFit/>
          </a:bodyPr>
          <a:lstStyle/>
          <a:p>
            <a:pPr algn="ctr"/>
            <a:r>
              <a:rPr sz="1150" b="1" i="0">
                <a:solidFill>
                  <a:srgbClr val="0B1F3F"/>
                </a:solidFill>
                <a:latin typeface="Segoe UI"/>
              </a:rPr>
              <a:t>My Bookings</a:t>
            </a:r>
          </a:p>
        </p:txBody>
      </p:sp>
      <p:sp>
        <p:nvSpPr>
          <p:cNvPr id="33" name="TextBox 32"/>
          <p:cNvSpPr txBox="1"/>
          <p:nvPr/>
        </p:nvSpPr>
        <p:spPr>
          <a:xfrm>
            <a:off x="6263640" y="5440680"/>
            <a:ext cx="2514600" cy="411480"/>
          </a:xfrm>
          <a:prstGeom prst="rect">
            <a:avLst/>
          </a:prstGeom>
          <a:noFill/>
        </p:spPr>
        <p:txBody>
          <a:bodyPr wrap="square" anchor="t" lIns="0" rIns="0" tIns="0" bIns="0">
            <a:spAutoFit/>
          </a:bodyPr>
          <a:lstStyle/>
          <a:p>
            <a:pPr algn="ctr"/>
            <a:r>
              <a:rPr sz="900" b="0" i="0">
                <a:solidFill>
                  <a:srgbClr val="5A6474"/>
                </a:solidFill>
                <a:latin typeface="Segoe UI"/>
              </a:rPr>
              <a:t>Complete booking history (JOIN query)</a:t>
            </a:r>
          </a:p>
        </p:txBody>
      </p:sp>
      <p:sp>
        <p:nvSpPr>
          <p:cNvPr id="34" name="TextBox 33"/>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11</a:t>
            </a:r>
          </a:p>
        </p:txBody>
      </p:sp>
      <p:sp>
        <p:nvSpPr>
          <p:cNvPr id="35" name="TextBox 34"/>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BACKEND</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Database Integration</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11201400" cy="841248"/>
          </a:xfrm>
          <a:prstGeom prst="roundRect">
            <a:avLst>
              <a:gd name="adj" fmla="val 12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63624"/>
            <a:ext cx="548640" cy="54864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63624"/>
            <a:ext cx="548640" cy="54864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9" name="TextBox 8"/>
          <p:cNvSpPr txBox="1"/>
          <p:nvPr/>
        </p:nvSpPr>
        <p:spPr>
          <a:xfrm>
            <a:off x="1508760" y="1536192"/>
            <a:ext cx="2926080" cy="320040"/>
          </a:xfrm>
          <a:prstGeom prst="rect">
            <a:avLst/>
          </a:prstGeom>
          <a:noFill/>
        </p:spPr>
        <p:txBody>
          <a:bodyPr wrap="square" anchor="t" lIns="0" rIns="0" tIns="0" bIns="0">
            <a:spAutoFit/>
          </a:bodyPr>
          <a:lstStyle/>
          <a:p>
            <a:pPr algn="l"/>
            <a:r>
              <a:rPr sz="1400" b="1" i="0">
                <a:solidFill>
                  <a:srgbClr val="0B1F3F"/>
                </a:solidFill>
                <a:latin typeface="Segoe UI"/>
              </a:rPr>
              <a:t>SQLite Connection</a:t>
            </a:r>
          </a:p>
        </p:txBody>
      </p:sp>
      <p:sp>
        <p:nvSpPr>
          <p:cNvPr id="10" name="TextBox 9"/>
          <p:cNvSpPr txBox="1"/>
          <p:nvPr/>
        </p:nvSpPr>
        <p:spPr>
          <a:xfrm>
            <a:off x="1508760" y="1856232"/>
            <a:ext cx="9875520" cy="347472"/>
          </a:xfrm>
          <a:prstGeom prst="rect">
            <a:avLst/>
          </a:prstGeom>
          <a:noFill/>
        </p:spPr>
        <p:txBody>
          <a:bodyPr wrap="square" anchor="t" lIns="0" rIns="0" tIns="0" bIns="0">
            <a:spAutoFit/>
          </a:bodyPr>
          <a:lstStyle/>
          <a:p>
            <a:pPr algn="l"/>
            <a:r>
              <a:rPr sz="1150" b="0" i="0">
                <a:solidFill>
                  <a:srgbClr val="5A6474"/>
                </a:solidFill>
                <a:latin typeface="Segoe UI"/>
              </a:rPr>
              <a:t>sqlite3.connect() opens database.db; closed after every request</a:t>
            </a:r>
          </a:p>
        </p:txBody>
      </p:sp>
      <p:sp>
        <p:nvSpPr>
          <p:cNvPr id="11" name="Rounded Rectangle 10"/>
          <p:cNvSpPr/>
          <p:nvPr/>
        </p:nvSpPr>
        <p:spPr>
          <a:xfrm>
            <a:off x="502920" y="2377440"/>
            <a:ext cx="11201400" cy="841248"/>
          </a:xfrm>
          <a:prstGeom prst="roundRect">
            <a:avLst>
              <a:gd name="adj" fmla="val 12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2523744"/>
            <a:ext cx="548640" cy="54864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523744"/>
            <a:ext cx="548640" cy="54864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4" name="TextBox 13"/>
          <p:cNvSpPr txBox="1"/>
          <p:nvPr/>
        </p:nvSpPr>
        <p:spPr>
          <a:xfrm>
            <a:off x="1508760" y="2496312"/>
            <a:ext cx="2926080" cy="320040"/>
          </a:xfrm>
          <a:prstGeom prst="rect">
            <a:avLst/>
          </a:prstGeom>
          <a:noFill/>
        </p:spPr>
        <p:txBody>
          <a:bodyPr wrap="square" anchor="t" lIns="0" rIns="0" tIns="0" bIns="0">
            <a:spAutoFit/>
          </a:bodyPr>
          <a:lstStyle/>
          <a:p>
            <a:pPr algn="l"/>
            <a:r>
              <a:rPr sz="1400" b="1" i="0">
                <a:solidFill>
                  <a:srgbClr val="0B1F3F"/>
                </a:solidFill>
                <a:latin typeface="Segoe UI"/>
              </a:rPr>
              <a:t>CRUD Operations</a:t>
            </a:r>
          </a:p>
        </p:txBody>
      </p:sp>
      <p:sp>
        <p:nvSpPr>
          <p:cNvPr id="15" name="TextBox 14"/>
          <p:cNvSpPr txBox="1"/>
          <p:nvPr/>
        </p:nvSpPr>
        <p:spPr>
          <a:xfrm>
            <a:off x="1508760" y="2816352"/>
            <a:ext cx="9875520" cy="347472"/>
          </a:xfrm>
          <a:prstGeom prst="rect">
            <a:avLst/>
          </a:prstGeom>
          <a:noFill/>
        </p:spPr>
        <p:txBody>
          <a:bodyPr wrap="square" anchor="t" lIns="0" rIns="0" tIns="0" bIns="0">
            <a:spAutoFit/>
          </a:bodyPr>
          <a:lstStyle/>
          <a:p>
            <a:pPr algn="l"/>
            <a:r>
              <a:rPr sz="1150" b="0" i="0">
                <a:solidFill>
                  <a:srgbClr val="5A6474"/>
                </a:solidFill>
                <a:latin typeface="Segoe UI"/>
              </a:rPr>
              <a:t>Create (INSERT), Read (SELECT + JOIN) used; Update/Delete planned</a:t>
            </a:r>
          </a:p>
        </p:txBody>
      </p:sp>
      <p:sp>
        <p:nvSpPr>
          <p:cNvPr id="16" name="Rounded Rectangle 15"/>
          <p:cNvSpPr/>
          <p:nvPr/>
        </p:nvSpPr>
        <p:spPr>
          <a:xfrm>
            <a:off x="502920" y="3337560"/>
            <a:ext cx="11201400" cy="841248"/>
          </a:xfrm>
          <a:prstGeom prst="roundRect">
            <a:avLst>
              <a:gd name="adj" fmla="val 12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3483864"/>
            <a:ext cx="548640" cy="54864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483864"/>
            <a:ext cx="548640" cy="54864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9" name="TextBox 18"/>
          <p:cNvSpPr txBox="1"/>
          <p:nvPr/>
        </p:nvSpPr>
        <p:spPr>
          <a:xfrm>
            <a:off x="1508760" y="3456432"/>
            <a:ext cx="2926080" cy="320040"/>
          </a:xfrm>
          <a:prstGeom prst="rect">
            <a:avLst/>
          </a:prstGeom>
          <a:noFill/>
        </p:spPr>
        <p:txBody>
          <a:bodyPr wrap="square" anchor="t" lIns="0" rIns="0" tIns="0" bIns="0">
            <a:spAutoFit/>
          </a:bodyPr>
          <a:lstStyle/>
          <a:p>
            <a:pPr algn="l"/>
            <a:r>
              <a:rPr sz="1400" b="1" i="0">
                <a:solidFill>
                  <a:srgbClr val="0B1F3F"/>
                </a:solidFill>
                <a:latin typeface="Segoe UI"/>
              </a:rPr>
              <a:t>Authentication</a:t>
            </a:r>
          </a:p>
        </p:txBody>
      </p:sp>
      <p:sp>
        <p:nvSpPr>
          <p:cNvPr id="20" name="TextBox 19"/>
          <p:cNvSpPr txBox="1"/>
          <p:nvPr/>
        </p:nvSpPr>
        <p:spPr>
          <a:xfrm>
            <a:off x="1508760" y="3776472"/>
            <a:ext cx="9875520" cy="347472"/>
          </a:xfrm>
          <a:prstGeom prst="rect">
            <a:avLst/>
          </a:prstGeom>
          <a:noFill/>
        </p:spPr>
        <p:txBody>
          <a:bodyPr wrap="square" anchor="t" lIns="0" rIns="0" tIns="0" bIns="0">
            <a:spAutoFit/>
          </a:bodyPr>
          <a:lstStyle/>
          <a:p>
            <a:pPr algn="l"/>
            <a:r>
              <a:rPr sz="1150" b="0" i="0">
                <a:solidFill>
                  <a:srgbClr val="5A6474"/>
                </a:solidFill>
                <a:latin typeface="Segoe UI"/>
              </a:rPr>
              <a:t>Parameterised SELECT checks email &amp; password on login</a:t>
            </a:r>
          </a:p>
        </p:txBody>
      </p:sp>
      <p:sp>
        <p:nvSpPr>
          <p:cNvPr id="21" name="Rounded Rectangle 20"/>
          <p:cNvSpPr/>
          <p:nvPr/>
        </p:nvSpPr>
        <p:spPr>
          <a:xfrm>
            <a:off x="502920" y="4297680"/>
            <a:ext cx="11201400" cy="841248"/>
          </a:xfrm>
          <a:prstGeom prst="roundRect">
            <a:avLst>
              <a:gd name="adj" fmla="val 12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443984"/>
            <a:ext cx="548640" cy="54864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443984"/>
            <a:ext cx="548640" cy="54864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4" name="TextBox 23"/>
          <p:cNvSpPr txBox="1"/>
          <p:nvPr/>
        </p:nvSpPr>
        <p:spPr>
          <a:xfrm>
            <a:off x="1508760" y="4416552"/>
            <a:ext cx="2926080" cy="320040"/>
          </a:xfrm>
          <a:prstGeom prst="rect">
            <a:avLst/>
          </a:prstGeom>
          <a:noFill/>
        </p:spPr>
        <p:txBody>
          <a:bodyPr wrap="square" anchor="t" lIns="0" rIns="0" tIns="0" bIns="0">
            <a:spAutoFit/>
          </a:bodyPr>
          <a:lstStyle/>
          <a:p>
            <a:pPr algn="l"/>
            <a:r>
              <a:rPr sz="1400" b="1" i="0">
                <a:solidFill>
                  <a:srgbClr val="0B1F3F"/>
                </a:solidFill>
                <a:latin typeface="Segoe UI"/>
              </a:rPr>
              <a:t>Booking Storage</a:t>
            </a:r>
          </a:p>
        </p:txBody>
      </p:sp>
      <p:sp>
        <p:nvSpPr>
          <p:cNvPr id="25" name="TextBox 24"/>
          <p:cNvSpPr txBox="1"/>
          <p:nvPr/>
        </p:nvSpPr>
        <p:spPr>
          <a:xfrm>
            <a:off x="1508760" y="4736592"/>
            <a:ext cx="9875520" cy="347472"/>
          </a:xfrm>
          <a:prstGeom prst="rect">
            <a:avLst/>
          </a:prstGeom>
          <a:noFill/>
        </p:spPr>
        <p:txBody>
          <a:bodyPr wrap="square" anchor="t" lIns="0" rIns="0" tIns="0" bIns="0">
            <a:spAutoFit/>
          </a:bodyPr>
          <a:lstStyle/>
          <a:p>
            <a:pPr algn="l"/>
            <a:r>
              <a:rPr sz="1150" b="0" i="0">
                <a:solidFill>
                  <a:srgbClr val="5A6474"/>
                </a:solidFill>
                <a:latin typeface="Segoe UI"/>
              </a:rPr>
              <a:t>Confirmed bookings INSERTed with user_id &amp; bus_id references</a:t>
            </a:r>
          </a:p>
        </p:txBody>
      </p:sp>
      <p:sp>
        <p:nvSpPr>
          <p:cNvPr id="26" name="Rounded Rectangle 25"/>
          <p:cNvSpPr/>
          <p:nvPr/>
        </p:nvSpPr>
        <p:spPr>
          <a:xfrm>
            <a:off x="502920" y="5257800"/>
            <a:ext cx="11201400" cy="841248"/>
          </a:xfrm>
          <a:prstGeom prst="roundRect">
            <a:avLst>
              <a:gd name="adj" fmla="val 12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77240" y="5404104"/>
            <a:ext cx="548640" cy="548640"/>
          </a:xfrm>
          <a:prstGeom prst="ellipse">
            <a:avLst/>
          </a:prstGeom>
          <a:solidFill>
            <a:srgbClr val="33A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404104"/>
            <a:ext cx="548640" cy="54864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9" name="TextBox 28"/>
          <p:cNvSpPr txBox="1"/>
          <p:nvPr/>
        </p:nvSpPr>
        <p:spPr>
          <a:xfrm>
            <a:off x="1508760" y="5376672"/>
            <a:ext cx="2926080" cy="320040"/>
          </a:xfrm>
          <a:prstGeom prst="rect">
            <a:avLst/>
          </a:prstGeom>
          <a:noFill/>
        </p:spPr>
        <p:txBody>
          <a:bodyPr wrap="square" anchor="t" lIns="0" rIns="0" tIns="0" bIns="0">
            <a:spAutoFit/>
          </a:bodyPr>
          <a:lstStyle/>
          <a:p>
            <a:pPr algn="l"/>
            <a:r>
              <a:rPr sz="1400" b="1" i="0">
                <a:solidFill>
                  <a:srgbClr val="0B1F3F"/>
                </a:solidFill>
                <a:latin typeface="Segoe UI"/>
              </a:rPr>
              <a:t>Session Handling</a:t>
            </a:r>
          </a:p>
        </p:txBody>
      </p:sp>
      <p:sp>
        <p:nvSpPr>
          <p:cNvPr id="30" name="TextBox 29"/>
          <p:cNvSpPr txBox="1"/>
          <p:nvPr/>
        </p:nvSpPr>
        <p:spPr>
          <a:xfrm>
            <a:off x="1508760" y="5696712"/>
            <a:ext cx="9875520" cy="347472"/>
          </a:xfrm>
          <a:prstGeom prst="rect">
            <a:avLst/>
          </a:prstGeom>
          <a:noFill/>
        </p:spPr>
        <p:txBody>
          <a:bodyPr wrap="square" anchor="t" lIns="0" rIns="0" tIns="0" bIns="0">
            <a:spAutoFit/>
          </a:bodyPr>
          <a:lstStyle/>
          <a:p>
            <a:pPr algn="l"/>
            <a:r>
              <a:rPr sz="1150" b="0" i="0">
                <a:solidFill>
                  <a:srgbClr val="5A6474"/>
                </a:solidFill>
                <a:latin typeface="Segoe UI"/>
              </a:rPr>
              <a:t>Flask session cookie (signed) tracks the logged-in user</a:t>
            </a:r>
          </a:p>
        </p:txBody>
      </p:sp>
      <p:sp>
        <p:nvSpPr>
          <p:cNvPr id="31" name="TextBox 30"/>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12</a:t>
            </a:r>
          </a:p>
        </p:txBody>
      </p:sp>
      <p:sp>
        <p:nvSpPr>
          <p:cNvPr id="32" name="TextBox 31"/>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REAL DIFFICULTIES</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Challenges Faced &amp; Solutions</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71600"/>
            <a:ext cx="5532120" cy="1417320"/>
          </a:xfrm>
          <a:prstGeom prst="roundRect">
            <a:avLst>
              <a:gd name="adj" fmla="val 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50876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08760"/>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9" name="TextBox 8"/>
          <p:cNvSpPr txBox="1"/>
          <p:nvPr/>
        </p:nvSpPr>
        <p:spPr>
          <a:xfrm>
            <a:off x="1234440" y="1481328"/>
            <a:ext cx="4617720" cy="502920"/>
          </a:xfrm>
          <a:prstGeom prst="rect">
            <a:avLst/>
          </a:prstGeom>
          <a:noFill/>
        </p:spPr>
        <p:txBody>
          <a:bodyPr wrap="square" anchor="t" lIns="0" rIns="0" tIns="0" bIns="0">
            <a:spAutoFit/>
          </a:bodyPr>
          <a:lstStyle/>
          <a:p>
            <a:pPr algn="l"/>
            <a:r>
              <a:rPr sz="1200" b="1" i="0">
                <a:solidFill>
                  <a:srgbClr val="0B1F3F"/>
                </a:solidFill>
                <a:latin typeface="Segoe UI"/>
              </a:rPr>
              <a:t>TemplateNotFound error</a:t>
            </a:r>
          </a:p>
        </p:txBody>
      </p:sp>
      <p:sp>
        <p:nvSpPr>
          <p:cNvPr id="10" name="Oval 9"/>
          <p:cNvSpPr/>
          <p:nvPr/>
        </p:nvSpPr>
        <p:spPr>
          <a:xfrm>
            <a:off x="685800" y="2167128"/>
            <a:ext cx="457200" cy="45720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67128"/>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12" name="TextBox 11"/>
          <p:cNvSpPr txBox="1"/>
          <p:nvPr/>
        </p:nvSpPr>
        <p:spPr>
          <a:xfrm>
            <a:off x="1234440" y="2148840"/>
            <a:ext cx="4617720" cy="548640"/>
          </a:xfrm>
          <a:prstGeom prst="rect">
            <a:avLst/>
          </a:prstGeom>
          <a:noFill/>
        </p:spPr>
        <p:txBody>
          <a:bodyPr wrap="square" anchor="t" lIns="0" rIns="0" tIns="0" bIns="0">
            <a:spAutoFit/>
          </a:bodyPr>
          <a:lstStyle/>
          <a:p>
            <a:pPr algn="l"/>
            <a:r>
              <a:rPr sz="1050" b="0" i="0">
                <a:solidFill>
                  <a:srgbClr val="5A6474"/>
                </a:solidFill>
                <a:latin typeface="Segoe UI"/>
              </a:rPr>
              <a:t>Moved all HTML files into the required templates/ folder</a:t>
            </a:r>
          </a:p>
        </p:txBody>
      </p:sp>
      <p:sp>
        <p:nvSpPr>
          <p:cNvPr id="13" name="Rounded Rectangle 12"/>
          <p:cNvSpPr/>
          <p:nvPr/>
        </p:nvSpPr>
        <p:spPr>
          <a:xfrm>
            <a:off x="6172200" y="1371600"/>
            <a:ext cx="5532120" cy="1417320"/>
          </a:xfrm>
          <a:prstGeom prst="roundRect">
            <a:avLst>
              <a:gd name="adj" fmla="val 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5080" y="150876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08760"/>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16" name="TextBox 15"/>
          <p:cNvSpPr txBox="1"/>
          <p:nvPr/>
        </p:nvSpPr>
        <p:spPr>
          <a:xfrm>
            <a:off x="6903720" y="1481328"/>
            <a:ext cx="4617720" cy="502920"/>
          </a:xfrm>
          <a:prstGeom prst="rect">
            <a:avLst/>
          </a:prstGeom>
          <a:noFill/>
        </p:spPr>
        <p:txBody>
          <a:bodyPr wrap="square" anchor="t" lIns="0" rIns="0" tIns="0" bIns="0">
            <a:spAutoFit/>
          </a:bodyPr>
          <a:lstStyle/>
          <a:p>
            <a:pPr algn="l"/>
            <a:r>
              <a:rPr sz="1200" b="1" i="0">
                <a:solidFill>
                  <a:srgbClr val="0B1F3F"/>
                </a:solidFill>
                <a:latin typeface="Segoe UI"/>
              </a:rPr>
              <a:t>OperationalError: no such table</a:t>
            </a:r>
          </a:p>
        </p:txBody>
      </p:sp>
      <p:sp>
        <p:nvSpPr>
          <p:cNvPr id="17" name="Oval 16"/>
          <p:cNvSpPr/>
          <p:nvPr/>
        </p:nvSpPr>
        <p:spPr>
          <a:xfrm>
            <a:off x="6355080" y="2167128"/>
            <a:ext cx="457200" cy="45720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167128"/>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19" name="TextBox 18"/>
          <p:cNvSpPr txBox="1"/>
          <p:nvPr/>
        </p:nvSpPr>
        <p:spPr>
          <a:xfrm>
            <a:off x="6903720" y="2148840"/>
            <a:ext cx="4617720" cy="548640"/>
          </a:xfrm>
          <a:prstGeom prst="rect">
            <a:avLst/>
          </a:prstGeom>
          <a:noFill/>
        </p:spPr>
        <p:txBody>
          <a:bodyPr wrap="square" anchor="t" lIns="0" rIns="0" tIns="0" bIns="0">
            <a:spAutoFit/>
          </a:bodyPr>
          <a:lstStyle/>
          <a:p>
            <a:pPr algn="l"/>
            <a:r>
              <a:rPr sz="1050" b="0" i="0">
                <a:solidFill>
                  <a:srgbClr val="5A6474"/>
                </a:solidFill>
                <a:latin typeface="Segoe UI"/>
              </a:rPr>
              <a:t>Re-ran database.py after adding the bookings table</a:t>
            </a:r>
          </a:p>
        </p:txBody>
      </p:sp>
      <p:sp>
        <p:nvSpPr>
          <p:cNvPr id="20" name="Rounded Rectangle 19"/>
          <p:cNvSpPr/>
          <p:nvPr/>
        </p:nvSpPr>
        <p:spPr>
          <a:xfrm>
            <a:off x="502920" y="2926080"/>
            <a:ext cx="5532120" cy="1417320"/>
          </a:xfrm>
          <a:prstGeom prst="roundRect">
            <a:avLst>
              <a:gd name="adj" fmla="val 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5800" y="306324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063240"/>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23" name="TextBox 22"/>
          <p:cNvSpPr txBox="1"/>
          <p:nvPr/>
        </p:nvSpPr>
        <p:spPr>
          <a:xfrm>
            <a:off x="1234440" y="3035808"/>
            <a:ext cx="4617720" cy="502920"/>
          </a:xfrm>
          <a:prstGeom prst="rect">
            <a:avLst/>
          </a:prstGeom>
          <a:noFill/>
        </p:spPr>
        <p:txBody>
          <a:bodyPr wrap="square" anchor="t" lIns="0" rIns="0" tIns="0" bIns="0">
            <a:spAutoFit/>
          </a:bodyPr>
          <a:lstStyle/>
          <a:p>
            <a:pPr algn="l"/>
            <a:r>
              <a:rPr sz="1200" b="1" i="0">
                <a:solidFill>
                  <a:srgbClr val="0B1F3F"/>
                </a:solidFill>
                <a:latin typeface="Segoe UI"/>
              </a:rPr>
              <a:t>Duplicate seed data on re-run</a:t>
            </a:r>
          </a:p>
        </p:txBody>
      </p:sp>
      <p:sp>
        <p:nvSpPr>
          <p:cNvPr id="24" name="Oval 23"/>
          <p:cNvSpPr/>
          <p:nvPr/>
        </p:nvSpPr>
        <p:spPr>
          <a:xfrm>
            <a:off x="685800" y="3721608"/>
            <a:ext cx="457200" cy="45720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721608"/>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26" name="TextBox 25"/>
          <p:cNvSpPr txBox="1"/>
          <p:nvPr/>
        </p:nvSpPr>
        <p:spPr>
          <a:xfrm>
            <a:off x="1234440" y="3703320"/>
            <a:ext cx="4617720" cy="548640"/>
          </a:xfrm>
          <a:prstGeom prst="rect">
            <a:avLst/>
          </a:prstGeom>
          <a:noFill/>
        </p:spPr>
        <p:txBody>
          <a:bodyPr wrap="square" anchor="t" lIns="0" rIns="0" tIns="0" bIns="0">
            <a:spAutoFit/>
          </a:bodyPr>
          <a:lstStyle/>
          <a:p>
            <a:pPr algn="l"/>
            <a:r>
              <a:rPr sz="1050" b="0" i="0">
                <a:solidFill>
                  <a:srgbClr val="5A6474"/>
                </a:solidFill>
                <a:latin typeface="Segoe UI"/>
              </a:rPr>
              <a:t>Switched INSERT to INSERT OR IGNORE for idempotency</a:t>
            </a:r>
          </a:p>
        </p:txBody>
      </p:sp>
      <p:sp>
        <p:nvSpPr>
          <p:cNvPr id="27" name="Rounded Rectangle 26"/>
          <p:cNvSpPr/>
          <p:nvPr/>
        </p:nvSpPr>
        <p:spPr>
          <a:xfrm>
            <a:off x="6172200" y="2926080"/>
            <a:ext cx="5532120" cy="1417320"/>
          </a:xfrm>
          <a:prstGeom prst="roundRect">
            <a:avLst>
              <a:gd name="adj" fmla="val 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55080" y="306324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3063240"/>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30" name="TextBox 29"/>
          <p:cNvSpPr txBox="1"/>
          <p:nvPr/>
        </p:nvSpPr>
        <p:spPr>
          <a:xfrm>
            <a:off x="6903720" y="3035808"/>
            <a:ext cx="4617720" cy="502920"/>
          </a:xfrm>
          <a:prstGeom prst="rect">
            <a:avLst/>
          </a:prstGeom>
          <a:noFill/>
        </p:spPr>
        <p:txBody>
          <a:bodyPr wrap="square" anchor="t" lIns="0" rIns="0" tIns="0" bIns="0">
            <a:spAutoFit/>
          </a:bodyPr>
          <a:lstStyle/>
          <a:p>
            <a:pPr algn="l"/>
            <a:r>
              <a:rPr sz="1200" b="1" i="0">
                <a:solidFill>
                  <a:srgbClr val="0B1F3F"/>
                </a:solidFill>
                <a:latin typeface="Segoe UI"/>
              </a:rPr>
              <a:t>from is a Python reserved word</a:t>
            </a:r>
          </a:p>
        </p:txBody>
      </p:sp>
      <p:sp>
        <p:nvSpPr>
          <p:cNvPr id="31" name="Oval 30"/>
          <p:cNvSpPr/>
          <p:nvPr/>
        </p:nvSpPr>
        <p:spPr>
          <a:xfrm>
            <a:off x="6355080" y="3721608"/>
            <a:ext cx="457200" cy="45720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3721608"/>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33" name="TextBox 32"/>
          <p:cNvSpPr txBox="1"/>
          <p:nvPr/>
        </p:nvSpPr>
        <p:spPr>
          <a:xfrm>
            <a:off x="6903720" y="3703320"/>
            <a:ext cx="4617720" cy="548640"/>
          </a:xfrm>
          <a:prstGeom prst="rect">
            <a:avLst/>
          </a:prstGeom>
          <a:noFill/>
        </p:spPr>
        <p:txBody>
          <a:bodyPr wrap="square" anchor="t" lIns="0" rIns="0" tIns="0" bIns="0">
            <a:spAutoFit/>
          </a:bodyPr>
          <a:lstStyle/>
          <a:p>
            <a:pPr algn="l"/>
            <a:r>
              <a:rPr sz="1050" b="0" i="0">
                <a:solidFill>
                  <a:srgbClr val="5A6474"/>
                </a:solidFill>
                <a:latin typeface="Segoe UI"/>
              </a:rPr>
              <a:t>Built that particular link inside the Jinja2 template instead of app.py</a:t>
            </a:r>
          </a:p>
        </p:txBody>
      </p:sp>
      <p:sp>
        <p:nvSpPr>
          <p:cNvPr id="34" name="Rounded Rectangle 33"/>
          <p:cNvSpPr/>
          <p:nvPr/>
        </p:nvSpPr>
        <p:spPr>
          <a:xfrm>
            <a:off x="502920" y="4480560"/>
            <a:ext cx="5532120" cy="1417320"/>
          </a:xfrm>
          <a:prstGeom prst="roundRect">
            <a:avLst>
              <a:gd name="adj" fmla="val 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5800" y="461772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617720"/>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37" name="TextBox 36"/>
          <p:cNvSpPr txBox="1"/>
          <p:nvPr/>
        </p:nvSpPr>
        <p:spPr>
          <a:xfrm>
            <a:off x="1234440" y="4590288"/>
            <a:ext cx="4617720" cy="502920"/>
          </a:xfrm>
          <a:prstGeom prst="rect">
            <a:avLst/>
          </a:prstGeom>
          <a:noFill/>
        </p:spPr>
        <p:txBody>
          <a:bodyPr wrap="square" anchor="t" lIns="0" rIns="0" tIns="0" bIns="0">
            <a:spAutoFit/>
          </a:bodyPr>
          <a:lstStyle/>
          <a:p>
            <a:pPr algn="l"/>
            <a:r>
              <a:rPr sz="1200" b="1" i="0">
                <a:solidFill>
                  <a:srgbClr val="0B1F3F"/>
                </a:solidFill>
                <a:latin typeface="Segoe UI"/>
              </a:rPr>
              <a:t>Booking duplicated on page refresh</a:t>
            </a:r>
          </a:p>
        </p:txBody>
      </p:sp>
      <p:sp>
        <p:nvSpPr>
          <p:cNvPr id="38" name="Oval 37"/>
          <p:cNvSpPr/>
          <p:nvPr/>
        </p:nvSpPr>
        <p:spPr>
          <a:xfrm>
            <a:off x="685800" y="5276088"/>
            <a:ext cx="457200" cy="45720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5276088"/>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40" name="TextBox 39"/>
          <p:cNvSpPr txBox="1"/>
          <p:nvPr/>
        </p:nvSpPr>
        <p:spPr>
          <a:xfrm>
            <a:off x="1234440" y="5257800"/>
            <a:ext cx="4617720" cy="548640"/>
          </a:xfrm>
          <a:prstGeom prst="rect">
            <a:avLst/>
          </a:prstGeom>
          <a:noFill/>
        </p:spPr>
        <p:txBody>
          <a:bodyPr wrap="square" anchor="t" lIns="0" rIns="0" tIns="0" bIns="0">
            <a:spAutoFit/>
          </a:bodyPr>
          <a:lstStyle/>
          <a:p>
            <a:pPr algn="l"/>
            <a:r>
              <a:rPr sz="1050" b="0" i="0">
                <a:solidFill>
                  <a:srgbClr val="5A6474"/>
                </a:solidFill>
                <a:latin typeface="Segoe UI"/>
              </a:rPr>
              <a:t>Documented as a known issue; Post/Redirect/Get fix planned</a:t>
            </a:r>
          </a:p>
        </p:txBody>
      </p:sp>
      <p:sp>
        <p:nvSpPr>
          <p:cNvPr id="41" name="Rounded Rectangle 40"/>
          <p:cNvSpPr/>
          <p:nvPr/>
        </p:nvSpPr>
        <p:spPr>
          <a:xfrm>
            <a:off x="6172200" y="4480560"/>
            <a:ext cx="5532120" cy="1417320"/>
          </a:xfrm>
          <a:prstGeom prst="roundRect">
            <a:avLst>
              <a:gd name="adj" fmla="val 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55080" y="461772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4617720"/>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44" name="TextBox 43"/>
          <p:cNvSpPr txBox="1"/>
          <p:nvPr/>
        </p:nvSpPr>
        <p:spPr>
          <a:xfrm>
            <a:off x="6903720" y="4590288"/>
            <a:ext cx="4617720" cy="502920"/>
          </a:xfrm>
          <a:prstGeom prst="rect">
            <a:avLst/>
          </a:prstGeom>
          <a:noFill/>
        </p:spPr>
        <p:txBody>
          <a:bodyPr wrap="square" anchor="t" lIns="0" rIns="0" tIns="0" bIns="0">
            <a:spAutoFit/>
          </a:bodyPr>
          <a:lstStyle/>
          <a:p>
            <a:pPr algn="l"/>
            <a:r>
              <a:rPr sz="1200" b="1" i="0">
                <a:solidFill>
                  <a:srgbClr val="0B1F3F"/>
                </a:solidFill>
                <a:latin typeface="Segoe UI"/>
              </a:rPr>
              <a:t>Wrong seat total (string concat)</a:t>
            </a:r>
          </a:p>
        </p:txBody>
      </p:sp>
      <p:sp>
        <p:nvSpPr>
          <p:cNvPr id="45" name="Oval 44"/>
          <p:cNvSpPr/>
          <p:nvPr/>
        </p:nvSpPr>
        <p:spPr>
          <a:xfrm>
            <a:off x="6355080" y="5276088"/>
            <a:ext cx="457200" cy="45720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5276088"/>
            <a:ext cx="457200" cy="457200"/>
          </a:xfrm>
          <a:prstGeom prst="rect">
            <a:avLst/>
          </a:prstGeom>
          <a:noFill/>
        </p:spPr>
        <p:txBody>
          <a:bodyPr wrap="none" anchor="ctr" lIns="0" rIns="0" tIns="0" bIns="0">
            <a:spAutoFit/>
          </a:bodyPr>
          <a:lstStyle/>
          <a:p>
            <a:pPr algn="ctr"/>
            <a:r>
              <a:rPr sz="1600">
                <a:solidFill>
                  <a:srgbClr val="FFFFFF"/>
                </a:solidFill>
                <a:latin typeface="Segoe UI Emoji"/>
              </a:rPr>
              <a:t>✅</a:t>
            </a:r>
          </a:p>
        </p:txBody>
      </p:sp>
      <p:sp>
        <p:nvSpPr>
          <p:cNvPr id="47" name="TextBox 46"/>
          <p:cNvSpPr txBox="1"/>
          <p:nvPr/>
        </p:nvSpPr>
        <p:spPr>
          <a:xfrm>
            <a:off x="6903720" y="5257800"/>
            <a:ext cx="4617720" cy="548640"/>
          </a:xfrm>
          <a:prstGeom prst="rect">
            <a:avLst/>
          </a:prstGeom>
          <a:noFill/>
        </p:spPr>
        <p:txBody>
          <a:bodyPr wrap="square" anchor="t" lIns="0" rIns="0" tIns="0" bIns="0">
            <a:spAutoFit/>
          </a:bodyPr>
          <a:lstStyle/>
          <a:p>
            <a:pPr algn="l"/>
            <a:r>
              <a:rPr sz="1050" b="0" i="0">
                <a:solidFill>
                  <a:srgbClr val="5A6474"/>
                </a:solidFill>
                <a:latin typeface="Segoe UI"/>
              </a:rPr>
              <a:t>Wrapped values with Number() before arithmetic in JavaScript</a:t>
            </a:r>
          </a:p>
        </p:txBody>
      </p:sp>
      <p:sp>
        <p:nvSpPr>
          <p:cNvPr id="48" name="TextBox 47"/>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13</a:t>
            </a:r>
          </a:p>
        </p:txBody>
      </p:sp>
      <p:sp>
        <p:nvSpPr>
          <p:cNvPr id="49" name="TextBox 48"/>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QUALITY ASSURANCE</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Testing</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62940" y="1531620"/>
            <a:ext cx="502920" cy="5029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 y="1531620"/>
            <a:ext cx="502920" cy="50292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8" name="Rounded Rectangle 7"/>
          <p:cNvSpPr/>
          <p:nvPr/>
        </p:nvSpPr>
        <p:spPr>
          <a:xfrm>
            <a:off x="1325880" y="1463040"/>
            <a:ext cx="10332720" cy="777240"/>
          </a:xfrm>
          <a:prstGeom prst="roundRect">
            <a:avLst>
              <a:gd name="adj" fmla="val 14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554480"/>
            <a:ext cx="3200400" cy="320040"/>
          </a:xfrm>
          <a:prstGeom prst="rect">
            <a:avLst/>
          </a:prstGeom>
          <a:noFill/>
        </p:spPr>
        <p:txBody>
          <a:bodyPr wrap="square" anchor="t" lIns="0" rIns="0" tIns="0" bIns="0">
            <a:spAutoFit/>
          </a:bodyPr>
          <a:lstStyle/>
          <a:p>
            <a:pPr algn="l"/>
            <a:r>
              <a:rPr sz="1400" b="1" i="0">
                <a:solidFill>
                  <a:srgbClr val="0B1F3F"/>
                </a:solidFill>
                <a:latin typeface="Segoe UI"/>
              </a:rPr>
              <a:t>Registration Testing</a:t>
            </a:r>
          </a:p>
        </p:txBody>
      </p:sp>
      <p:sp>
        <p:nvSpPr>
          <p:cNvPr id="10" name="TextBox 9"/>
          <p:cNvSpPr txBox="1"/>
          <p:nvPr/>
        </p:nvSpPr>
        <p:spPr>
          <a:xfrm>
            <a:off x="1600200" y="1883664"/>
            <a:ext cx="9875520" cy="320040"/>
          </a:xfrm>
          <a:prstGeom prst="rect">
            <a:avLst/>
          </a:prstGeom>
          <a:noFill/>
        </p:spPr>
        <p:txBody>
          <a:bodyPr wrap="square" anchor="t" lIns="0" rIns="0" tIns="0" bIns="0">
            <a:spAutoFit/>
          </a:bodyPr>
          <a:lstStyle/>
          <a:p>
            <a:pPr algn="l"/>
            <a:r>
              <a:rPr sz="1100" b="0" i="0">
                <a:solidFill>
                  <a:srgbClr val="5A6474"/>
                </a:solidFill>
                <a:latin typeface="Segoe UI"/>
              </a:rPr>
              <a:t>Duplicate e-mail rejected; password-mismatch rejected</a:t>
            </a:r>
          </a:p>
        </p:txBody>
      </p:sp>
      <p:sp>
        <p:nvSpPr>
          <p:cNvPr id="11" name="Oval 10"/>
          <p:cNvSpPr/>
          <p:nvPr/>
        </p:nvSpPr>
        <p:spPr>
          <a:xfrm>
            <a:off x="662940" y="2446020"/>
            <a:ext cx="502920" cy="5029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 y="2446020"/>
            <a:ext cx="502920" cy="50292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3" name="Rounded Rectangle 12"/>
          <p:cNvSpPr/>
          <p:nvPr/>
        </p:nvSpPr>
        <p:spPr>
          <a:xfrm>
            <a:off x="1325880" y="2377440"/>
            <a:ext cx="10332720" cy="777240"/>
          </a:xfrm>
          <a:prstGeom prst="roundRect">
            <a:avLst>
              <a:gd name="adj" fmla="val 14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468880"/>
            <a:ext cx="3200400" cy="320040"/>
          </a:xfrm>
          <a:prstGeom prst="rect">
            <a:avLst/>
          </a:prstGeom>
          <a:noFill/>
        </p:spPr>
        <p:txBody>
          <a:bodyPr wrap="square" anchor="t" lIns="0" rIns="0" tIns="0" bIns="0">
            <a:spAutoFit/>
          </a:bodyPr>
          <a:lstStyle/>
          <a:p>
            <a:pPr algn="l"/>
            <a:r>
              <a:rPr sz="1400" b="1" i="0">
                <a:solidFill>
                  <a:srgbClr val="0B1F3F"/>
                </a:solidFill>
                <a:latin typeface="Segoe UI"/>
              </a:rPr>
              <a:t>Login Testing</a:t>
            </a:r>
          </a:p>
        </p:txBody>
      </p:sp>
      <p:sp>
        <p:nvSpPr>
          <p:cNvPr id="15" name="TextBox 14"/>
          <p:cNvSpPr txBox="1"/>
          <p:nvPr/>
        </p:nvSpPr>
        <p:spPr>
          <a:xfrm>
            <a:off x="1600200" y="2798064"/>
            <a:ext cx="9875520" cy="320040"/>
          </a:xfrm>
          <a:prstGeom prst="rect">
            <a:avLst/>
          </a:prstGeom>
          <a:noFill/>
        </p:spPr>
        <p:txBody>
          <a:bodyPr wrap="square" anchor="t" lIns="0" rIns="0" tIns="0" bIns="0">
            <a:spAutoFit/>
          </a:bodyPr>
          <a:lstStyle/>
          <a:p>
            <a:pPr algn="l"/>
            <a:r>
              <a:rPr sz="1100" b="0" i="0">
                <a:solidFill>
                  <a:srgbClr val="5A6474"/>
                </a:solidFill>
                <a:latin typeface="Segoe UI"/>
              </a:rPr>
              <a:t>Valid/invalid credentials; SQL-injection attempt blocked</a:t>
            </a:r>
          </a:p>
        </p:txBody>
      </p:sp>
      <p:sp>
        <p:nvSpPr>
          <p:cNvPr id="16" name="Oval 15"/>
          <p:cNvSpPr/>
          <p:nvPr/>
        </p:nvSpPr>
        <p:spPr>
          <a:xfrm>
            <a:off x="662940" y="3360420"/>
            <a:ext cx="502920" cy="5029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 y="3360420"/>
            <a:ext cx="502920" cy="50292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8" name="Rounded Rectangle 17"/>
          <p:cNvSpPr/>
          <p:nvPr/>
        </p:nvSpPr>
        <p:spPr>
          <a:xfrm>
            <a:off x="1325880" y="3291840"/>
            <a:ext cx="10332720" cy="777240"/>
          </a:xfrm>
          <a:prstGeom prst="roundRect">
            <a:avLst>
              <a:gd name="adj" fmla="val 14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383280"/>
            <a:ext cx="3200400" cy="320040"/>
          </a:xfrm>
          <a:prstGeom prst="rect">
            <a:avLst/>
          </a:prstGeom>
          <a:noFill/>
        </p:spPr>
        <p:txBody>
          <a:bodyPr wrap="square" anchor="t" lIns="0" rIns="0" tIns="0" bIns="0">
            <a:spAutoFit/>
          </a:bodyPr>
          <a:lstStyle/>
          <a:p>
            <a:pPr algn="l"/>
            <a:r>
              <a:rPr sz="1400" b="1" i="0">
                <a:solidFill>
                  <a:srgbClr val="0B1F3F"/>
                </a:solidFill>
                <a:latin typeface="Segoe UI"/>
              </a:rPr>
              <a:t>Search Testing</a:t>
            </a:r>
          </a:p>
        </p:txBody>
      </p:sp>
      <p:sp>
        <p:nvSpPr>
          <p:cNvPr id="20" name="TextBox 19"/>
          <p:cNvSpPr txBox="1"/>
          <p:nvPr/>
        </p:nvSpPr>
        <p:spPr>
          <a:xfrm>
            <a:off x="1600200" y="3712464"/>
            <a:ext cx="9875520" cy="320040"/>
          </a:xfrm>
          <a:prstGeom prst="rect">
            <a:avLst/>
          </a:prstGeom>
          <a:noFill/>
        </p:spPr>
        <p:txBody>
          <a:bodyPr wrap="square" anchor="t" lIns="0" rIns="0" tIns="0" bIns="0">
            <a:spAutoFit/>
          </a:bodyPr>
          <a:lstStyle/>
          <a:p>
            <a:pPr algn="l"/>
            <a:r>
              <a:rPr sz="1100" b="0" i="0">
                <a:solidFill>
                  <a:srgbClr val="5A6474"/>
                </a:solidFill>
                <a:latin typeface="Segoe UI"/>
              </a:rPr>
              <a:t>Valid route returns buses; unknown route shows clear message</a:t>
            </a:r>
          </a:p>
        </p:txBody>
      </p:sp>
      <p:sp>
        <p:nvSpPr>
          <p:cNvPr id="21" name="Oval 20"/>
          <p:cNvSpPr/>
          <p:nvPr/>
        </p:nvSpPr>
        <p:spPr>
          <a:xfrm>
            <a:off x="662940" y="4274820"/>
            <a:ext cx="502920" cy="5029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 y="4274820"/>
            <a:ext cx="502920" cy="50292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3" name="Rounded Rectangle 22"/>
          <p:cNvSpPr/>
          <p:nvPr/>
        </p:nvSpPr>
        <p:spPr>
          <a:xfrm>
            <a:off x="1325880" y="4206240"/>
            <a:ext cx="10332720" cy="777240"/>
          </a:xfrm>
          <a:prstGeom prst="roundRect">
            <a:avLst>
              <a:gd name="adj" fmla="val 14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297680"/>
            <a:ext cx="3200400" cy="320040"/>
          </a:xfrm>
          <a:prstGeom prst="rect">
            <a:avLst/>
          </a:prstGeom>
          <a:noFill/>
        </p:spPr>
        <p:txBody>
          <a:bodyPr wrap="square" anchor="t" lIns="0" rIns="0" tIns="0" bIns="0">
            <a:spAutoFit/>
          </a:bodyPr>
          <a:lstStyle/>
          <a:p>
            <a:pPr algn="l"/>
            <a:r>
              <a:rPr sz="1400" b="1" i="0">
                <a:solidFill>
                  <a:srgbClr val="0B1F3F"/>
                </a:solidFill>
                <a:latin typeface="Segoe UI"/>
              </a:rPr>
              <a:t>Booking Testing</a:t>
            </a:r>
          </a:p>
        </p:txBody>
      </p:sp>
      <p:sp>
        <p:nvSpPr>
          <p:cNvPr id="25" name="TextBox 24"/>
          <p:cNvSpPr txBox="1"/>
          <p:nvPr/>
        </p:nvSpPr>
        <p:spPr>
          <a:xfrm>
            <a:off x="1600200" y="4626864"/>
            <a:ext cx="9875520" cy="320040"/>
          </a:xfrm>
          <a:prstGeom prst="rect">
            <a:avLst/>
          </a:prstGeom>
          <a:noFill/>
        </p:spPr>
        <p:txBody>
          <a:bodyPr wrap="square" anchor="t" lIns="0" rIns="0" tIns="0" bIns="0">
            <a:spAutoFit/>
          </a:bodyPr>
          <a:lstStyle/>
          <a:p>
            <a:pPr algn="l"/>
            <a:r>
              <a:rPr sz="1100" b="0" i="0">
                <a:solidFill>
                  <a:srgbClr val="5A6474"/>
                </a:solidFill>
                <a:latin typeface="Segoe UI"/>
              </a:rPr>
              <a:t>Full flow (search → seats → pay → confirm) verified end-to-end</a:t>
            </a:r>
          </a:p>
        </p:txBody>
      </p:sp>
      <p:sp>
        <p:nvSpPr>
          <p:cNvPr id="26" name="Oval 25"/>
          <p:cNvSpPr/>
          <p:nvPr/>
        </p:nvSpPr>
        <p:spPr>
          <a:xfrm>
            <a:off x="662940" y="5189220"/>
            <a:ext cx="502920" cy="5029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 y="5189220"/>
            <a:ext cx="502920" cy="50292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8" name="Rounded Rectangle 27"/>
          <p:cNvSpPr/>
          <p:nvPr/>
        </p:nvSpPr>
        <p:spPr>
          <a:xfrm>
            <a:off x="1325880" y="5120640"/>
            <a:ext cx="10332720" cy="777240"/>
          </a:xfrm>
          <a:prstGeom prst="roundRect">
            <a:avLst>
              <a:gd name="adj" fmla="val 14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212080"/>
            <a:ext cx="3200400" cy="320040"/>
          </a:xfrm>
          <a:prstGeom prst="rect">
            <a:avLst/>
          </a:prstGeom>
          <a:noFill/>
        </p:spPr>
        <p:txBody>
          <a:bodyPr wrap="square" anchor="t" lIns="0" rIns="0" tIns="0" bIns="0">
            <a:spAutoFit/>
          </a:bodyPr>
          <a:lstStyle/>
          <a:p>
            <a:pPr algn="l"/>
            <a:r>
              <a:rPr sz="1400" b="1" i="0">
                <a:solidFill>
                  <a:srgbClr val="0B1F3F"/>
                </a:solidFill>
                <a:latin typeface="Segoe UI"/>
              </a:rPr>
              <a:t>Database Testing</a:t>
            </a:r>
          </a:p>
        </p:txBody>
      </p:sp>
      <p:sp>
        <p:nvSpPr>
          <p:cNvPr id="30" name="TextBox 29"/>
          <p:cNvSpPr txBox="1"/>
          <p:nvPr/>
        </p:nvSpPr>
        <p:spPr>
          <a:xfrm>
            <a:off x="1600200" y="5541264"/>
            <a:ext cx="9875520" cy="320040"/>
          </a:xfrm>
          <a:prstGeom prst="rect">
            <a:avLst/>
          </a:prstGeom>
          <a:noFill/>
        </p:spPr>
        <p:txBody>
          <a:bodyPr wrap="square" anchor="t" lIns="0" rIns="0" tIns="0" bIns="0">
            <a:spAutoFit/>
          </a:bodyPr>
          <a:lstStyle/>
          <a:p>
            <a:pPr algn="l"/>
            <a:r>
              <a:rPr sz="1100" b="0" i="0">
                <a:solidFill>
                  <a:srgbClr val="5A6474"/>
                </a:solidFill>
                <a:latin typeface="Segoe UI"/>
              </a:rPr>
              <a:t>Verified rows in database.db using DB Browser for SQLite</a:t>
            </a:r>
          </a:p>
        </p:txBody>
      </p:sp>
      <p:sp>
        <p:nvSpPr>
          <p:cNvPr id="31" name="TextBox 30"/>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14</a:t>
            </a:r>
          </a:p>
        </p:txBody>
      </p:sp>
      <p:sp>
        <p:nvSpPr>
          <p:cNvPr id="32" name="TextBox 31"/>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GROWTH</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Learning Outcomes</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71600"/>
            <a:ext cx="5486400" cy="4892040"/>
          </a:xfrm>
          <a:prstGeom prst="roundRect">
            <a:avLst>
              <a:gd name="adj" fmla="val 5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72768"/>
            <a:ext cx="4937760" cy="365760"/>
          </a:xfrm>
          <a:prstGeom prst="rect">
            <a:avLst/>
          </a:prstGeom>
          <a:noFill/>
        </p:spPr>
        <p:txBody>
          <a:bodyPr wrap="square" anchor="t" lIns="0" rIns="0" tIns="0" bIns="0">
            <a:spAutoFit/>
          </a:bodyPr>
          <a:lstStyle/>
          <a:p>
            <a:pPr algn="l"/>
            <a:r>
              <a:rPr sz="1600" b="1" i="0">
                <a:solidFill>
                  <a:srgbClr val="0B1F3F"/>
                </a:solidFill>
                <a:latin typeface="Segoe UI"/>
              </a:rPr>
              <a:t>Technical Skills</a:t>
            </a:r>
          </a:p>
        </p:txBody>
      </p:sp>
      <p:sp>
        <p:nvSpPr>
          <p:cNvPr id="8" name="TextBox 7"/>
          <p:cNvSpPr txBox="1"/>
          <p:nvPr/>
        </p:nvSpPr>
        <p:spPr>
          <a:xfrm>
            <a:off x="777240" y="2011680"/>
            <a:ext cx="4937760" cy="3931920"/>
          </a:xfrm>
          <a:prstGeom prst="rect">
            <a:avLst/>
          </a:prstGeom>
          <a:noFill/>
        </p:spPr>
        <p:txBody>
          <a:bodyPr wrap="square">
            <a:spAutoFit/>
          </a:bodyPr>
          <a:lstStyle/>
          <a:p>
            <a:pPr>
              <a:lnSpc>
                <a:spcPct val="112000"/>
              </a:lnSpc>
              <a:spcAft>
                <a:spcPts val="1400"/>
              </a:spcAft>
            </a:pPr>
            <a:r>
              <a:rPr sz="1350" b="0">
                <a:solidFill>
                  <a:srgbClr val="202838"/>
                </a:solidFill>
                <a:latin typeface="Segoe UI"/>
              </a:rPr>
              <a:t>■  Flask routing, sessions &amp; the request-response cycle</a:t>
            </a:r>
          </a:p>
          <a:p>
            <a:pPr>
              <a:lnSpc>
                <a:spcPct val="112000"/>
              </a:lnSpc>
              <a:spcAft>
                <a:spcPts val="1400"/>
              </a:spcAft>
            </a:pPr>
            <a:r>
              <a:rPr sz="1350" b="0">
                <a:solidFill>
                  <a:srgbClr val="202838"/>
                </a:solidFill>
                <a:latin typeface="Segoe UI"/>
              </a:rPr>
              <a:t>■  SQLite database design, CRUD &amp; JOIN queries</a:t>
            </a:r>
          </a:p>
          <a:p>
            <a:pPr>
              <a:lnSpc>
                <a:spcPct val="112000"/>
              </a:lnSpc>
              <a:spcAft>
                <a:spcPts val="1400"/>
              </a:spcAft>
            </a:pPr>
            <a:r>
              <a:rPr sz="1350" b="0">
                <a:solidFill>
                  <a:srgbClr val="202838"/>
                </a:solidFill>
                <a:latin typeface="Segoe UI"/>
              </a:rPr>
              <a:t>■  HTML5, hand-written CSS3 (Flexbox / Grid)</a:t>
            </a:r>
          </a:p>
          <a:p>
            <a:pPr>
              <a:lnSpc>
                <a:spcPct val="112000"/>
              </a:lnSpc>
              <a:spcAft>
                <a:spcPts val="1400"/>
              </a:spcAft>
            </a:pPr>
            <a:r>
              <a:rPr sz="1350" b="0">
                <a:solidFill>
                  <a:srgbClr val="202838"/>
                </a:solidFill>
                <a:latin typeface="Segoe UI"/>
              </a:rPr>
              <a:t>■  Jinja2 template inheritance</a:t>
            </a:r>
          </a:p>
          <a:p>
            <a:pPr>
              <a:lnSpc>
                <a:spcPct val="112000"/>
              </a:lnSpc>
              <a:spcAft>
                <a:spcPts val="1400"/>
              </a:spcAft>
            </a:pPr>
            <a:r>
              <a:rPr sz="1350" b="0">
                <a:solidFill>
                  <a:srgbClr val="202838"/>
                </a:solidFill>
                <a:latin typeface="Segoe UI"/>
              </a:rPr>
              <a:t>■  Systematic debugging using tracebacks</a:t>
            </a:r>
          </a:p>
        </p:txBody>
      </p:sp>
      <p:sp>
        <p:nvSpPr>
          <p:cNvPr id="9" name="Rounded Rectangle 8"/>
          <p:cNvSpPr/>
          <p:nvPr/>
        </p:nvSpPr>
        <p:spPr>
          <a:xfrm>
            <a:off x="6263640" y="1371600"/>
            <a:ext cx="5394960" cy="4892040"/>
          </a:xfrm>
          <a:prstGeom prst="roundRect">
            <a:avLst>
              <a:gd name="adj" fmla="val 5000"/>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572768"/>
            <a:ext cx="4937760" cy="365760"/>
          </a:xfrm>
          <a:prstGeom prst="rect">
            <a:avLst/>
          </a:prstGeom>
          <a:noFill/>
        </p:spPr>
        <p:txBody>
          <a:bodyPr wrap="square" anchor="t" lIns="0" rIns="0" tIns="0" bIns="0">
            <a:spAutoFit/>
          </a:bodyPr>
          <a:lstStyle/>
          <a:p>
            <a:pPr algn="l"/>
            <a:r>
              <a:rPr sz="1600" b="1" i="0">
                <a:solidFill>
                  <a:srgbClr val="33A7E0"/>
                </a:solidFill>
                <a:latin typeface="Segoe UI"/>
              </a:rPr>
              <a:t>Professional Skills</a:t>
            </a:r>
          </a:p>
        </p:txBody>
      </p:sp>
      <p:sp>
        <p:nvSpPr>
          <p:cNvPr id="11" name="TextBox 10"/>
          <p:cNvSpPr txBox="1"/>
          <p:nvPr/>
        </p:nvSpPr>
        <p:spPr>
          <a:xfrm>
            <a:off x="6537960" y="2011680"/>
            <a:ext cx="4937760" cy="3931920"/>
          </a:xfrm>
          <a:prstGeom prst="rect">
            <a:avLst/>
          </a:prstGeom>
          <a:noFill/>
        </p:spPr>
        <p:txBody>
          <a:bodyPr wrap="square">
            <a:spAutoFit/>
          </a:bodyPr>
          <a:lstStyle/>
          <a:p>
            <a:pPr>
              <a:spcAft>
                <a:spcPts val="1400"/>
              </a:spcAft>
            </a:pPr>
            <a:r>
              <a:rPr sz="1350">
                <a:solidFill>
                  <a:srgbClr val="FFFFFF"/>
                </a:solidFill>
                <a:latin typeface="Segoe UI"/>
              </a:rPr>
              <a:t>■  Problem solving under real constraints</a:t>
            </a:r>
          </a:p>
          <a:p>
            <a:pPr>
              <a:spcAft>
                <a:spcPts val="1400"/>
              </a:spcAft>
            </a:pPr>
            <a:r>
              <a:rPr sz="1350">
                <a:solidFill>
                  <a:srgbClr val="FFFFFF"/>
                </a:solidFill>
                <a:latin typeface="Segoe UI"/>
              </a:rPr>
              <a:t>■  Structuring &amp; organising a full project</a:t>
            </a:r>
          </a:p>
          <a:p>
            <a:pPr>
              <a:spcAft>
                <a:spcPts val="1400"/>
              </a:spcAft>
            </a:pPr>
            <a:r>
              <a:rPr sz="1350">
                <a:solidFill>
                  <a:srgbClr val="FFFFFF"/>
                </a:solidFill>
                <a:latin typeface="Segoe UI"/>
              </a:rPr>
              <a:t>■  Following the software development lifecycle</a:t>
            </a:r>
          </a:p>
          <a:p>
            <a:pPr>
              <a:spcAft>
                <a:spcPts val="1400"/>
              </a:spcAft>
            </a:pPr>
            <a:r>
              <a:rPr sz="1350">
                <a:solidFill>
                  <a:srgbClr val="FFFFFF"/>
                </a:solidFill>
                <a:latin typeface="Segoe UI"/>
              </a:rPr>
              <a:t>■  Reporting progress &amp; issues honestly</a:t>
            </a:r>
          </a:p>
          <a:p>
            <a:pPr>
              <a:spcAft>
                <a:spcPts val="1400"/>
              </a:spcAft>
            </a:pPr>
            <a:r>
              <a:rPr sz="1350">
                <a:solidFill>
                  <a:srgbClr val="FFFFFF"/>
                </a:solidFill>
                <a:latin typeface="Segoe UI"/>
              </a:rPr>
              <a:t>■  Time management against weekly deadlines</a:t>
            </a:r>
          </a:p>
        </p:txBody>
      </p:sp>
      <p:sp>
        <p:nvSpPr>
          <p:cNvPr id="12" name="TextBox 11"/>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15</a:t>
            </a:r>
          </a:p>
        </p:txBody>
      </p:sp>
      <p:sp>
        <p:nvSpPr>
          <p:cNvPr id="13" name="TextBox 12"/>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ROADMAP</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Future Enhancements</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6304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100" y="178308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 y="178308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9" name="TextBox 8"/>
          <p:cNvSpPr txBox="1"/>
          <p:nvPr/>
        </p:nvSpPr>
        <p:spPr>
          <a:xfrm>
            <a:off x="1508760" y="146304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Payment Gateway</a:t>
            </a:r>
          </a:p>
        </p:txBody>
      </p:sp>
      <p:sp>
        <p:nvSpPr>
          <p:cNvPr id="10" name="Rounded Rectangle 9"/>
          <p:cNvSpPr/>
          <p:nvPr/>
        </p:nvSpPr>
        <p:spPr>
          <a:xfrm>
            <a:off x="3337560" y="146304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34740" y="178308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4740" y="178308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3" name="TextBox 12"/>
          <p:cNvSpPr txBox="1"/>
          <p:nvPr/>
        </p:nvSpPr>
        <p:spPr>
          <a:xfrm>
            <a:off x="4343400" y="146304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QR Ticket</a:t>
            </a:r>
          </a:p>
        </p:txBody>
      </p:sp>
      <p:sp>
        <p:nvSpPr>
          <p:cNvPr id="14" name="Rounded Rectangle 13"/>
          <p:cNvSpPr/>
          <p:nvPr/>
        </p:nvSpPr>
        <p:spPr>
          <a:xfrm>
            <a:off x="6172200" y="146304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9380" y="178308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9380" y="178308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17" name="TextBox 16"/>
          <p:cNvSpPr txBox="1"/>
          <p:nvPr/>
        </p:nvSpPr>
        <p:spPr>
          <a:xfrm>
            <a:off x="7178040" y="146304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Live Bus Tracking</a:t>
            </a:r>
          </a:p>
        </p:txBody>
      </p:sp>
      <p:sp>
        <p:nvSpPr>
          <p:cNvPr id="18" name="Rounded Rectangle 17"/>
          <p:cNvSpPr/>
          <p:nvPr/>
        </p:nvSpPr>
        <p:spPr>
          <a:xfrm>
            <a:off x="9006840" y="146304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04020" y="178308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04020" y="178308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1" name="TextBox 20"/>
          <p:cNvSpPr txBox="1"/>
          <p:nvPr/>
        </p:nvSpPr>
        <p:spPr>
          <a:xfrm>
            <a:off x="10012680" y="146304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OTP Login</a:t>
            </a:r>
          </a:p>
        </p:txBody>
      </p:sp>
      <p:sp>
        <p:nvSpPr>
          <p:cNvPr id="22" name="Rounded Rectangle 21"/>
          <p:cNvSpPr/>
          <p:nvPr/>
        </p:nvSpPr>
        <p:spPr>
          <a:xfrm>
            <a:off x="502920" y="288036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100" y="320040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 y="320040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5" name="TextBox 24"/>
          <p:cNvSpPr txBox="1"/>
          <p:nvPr/>
        </p:nvSpPr>
        <p:spPr>
          <a:xfrm>
            <a:off x="1508760" y="288036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Email Notifications</a:t>
            </a:r>
          </a:p>
        </p:txBody>
      </p:sp>
      <p:sp>
        <p:nvSpPr>
          <p:cNvPr id="26" name="Rounded Rectangle 25"/>
          <p:cNvSpPr/>
          <p:nvPr/>
        </p:nvSpPr>
        <p:spPr>
          <a:xfrm>
            <a:off x="3337560" y="288036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634740" y="320040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34740" y="320040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29" name="TextBox 28"/>
          <p:cNvSpPr txBox="1"/>
          <p:nvPr/>
        </p:nvSpPr>
        <p:spPr>
          <a:xfrm>
            <a:off x="4343400" y="288036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Ratings &amp; Reviews</a:t>
            </a:r>
          </a:p>
        </p:txBody>
      </p:sp>
      <p:sp>
        <p:nvSpPr>
          <p:cNvPr id="30" name="Rounded Rectangle 29"/>
          <p:cNvSpPr/>
          <p:nvPr/>
        </p:nvSpPr>
        <p:spPr>
          <a:xfrm>
            <a:off x="6172200" y="288036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9380" y="320040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9380" y="320040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33" name="TextBox 32"/>
          <p:cNvSpPr txBox="1"/>
          <p:nvPr/>
        </p:nvSpPr>
        <p:spPr>
          <a:xfrm>
            <a:off x="7178040" y="288036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Admin Dashboard</a:t>
            </a:r>
          </a:p>
        </p:txBody>
      </p:sp>
      <p:sp>
        <p:nvSpPr>
          <p:cNvPr id="34" name="Rounded Rectangle 33"/>
          <p:cNvSpPr/>
          <p:nvPr/>
        </p:nvSpPr>
        <p:spPr>
          <a:xfrm>
            <a:off x="9006840" y="288036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304020" y="320040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04020" y="320040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37" name="TextBox 36"/>
          <p:cNvSpPr txBox="1"/>
          <p:nvPr/>
        </p:nvSpPr>
        <p:spPr>
          <a:xfrm>
            <a:off x="10012680" y="288036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Booking Analytics</a:t>
            </a:r>
          </a:p>
        </p:txBody>
      </p:sp>
      <p:sp>
        <p:nvSpPr>
          <p:cNvPr id="38" name="Rounded Rectangle 37"/>
          <p:cNvSpPr/>
          <p:nvPr/>
        </p:nvSpPr>
        <p:spPr>
          <a:xfrm>
            <a:off x="502920" y="429768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0100" y="461772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0100" y="461772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41" name="TextBox 40"/>
          <p:cNvSpPr txBox="1"/>
          <p:nvPr/>
        </p:nvSpPr>
        <p:spPr>
          <a:xfrm>
            <a:off x="1508760" y="429768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Cloud Deployment</a:t>
            </a:r>
          </a:p>
        </p:txBody>
      </p:sp>
      <p:sp>
        <p:nvSpPr>
          <p:cNvPr id="42" name="Rounded Rectangle 41"/>
          <p:cNvSpPr/>
          <p:nvPr/>
        </p:nvSpPr>
        <p:spPr>
          <a:xfrm>
            <a:off x="3337560" y="429768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634740" y="461772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34740" y="461772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45" name="TextBox 44"/>
          <p:cNvSpPr txBox="1"/>
          <p:nvPr/>
        </p:nvSpPr>
        <p:spPr>
          <a:xfrm>
            <a:off x="4343400" y="429768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AI Chatbot Support</a:t>
            </a:r>
          </a:p>
        </p:txBody>
      </p:sp>
      <p:sp>
        <p:nvSpPr>
          <p:cNvPr id="46" name="Rounded Rectangle 45"/>
          <p:cNvSpPr/>
          <p:nvPr/>
        </p:nvSpPr>
        <p:spPr>
          <a:xfrm>
            <a:off x="6172200" y="429768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69380" y="461772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9380" y="461772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49" name="TextBox 48"/>
          <p:cNvSpPr txBox="1"/>
          <p:nvPr/>
        </p:nvSpPr>
        <p:spPr>
          <a:xfrm>
            <a:off x="7178040" y="429768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Password Hashing</a:t>
            </a:r>
          </a:p>
        </p:txBody>
      </p:sp>
      <p:sp>
        <p:nvSpPr>
          <p:cNvPr id="50" name="Rounded Rectangle 49"/>
          <p:cNvSpPr/>
          <p:nvPr/>
        </p:nvSpPr>
        <p:spPr>
          <a:xfrm>
            <a:off x="9006840" y="4297680"/>
            <a:ext cx="2697480" cy="1234440"/>
          </a:xfrm>
          <a:prstGeom prst="roundRect">
            <a:avLst>
              <a:gd name="adj" fmla="val 16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304020" y="4617720"/>
            <a:ext cx="594360" cy="5943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04020" y="4617720"/>
            <a:ext cx="594360" cy="594360"/>
          </a:xfrm>
          <a:prstGeom prst="rect">
            <a:avLst/>
          </a:prstGeom>
          <a:noFill/>
        </p:spPr>
        <p:txBody>
          <a:bodyPr wrap="none" anchor="ctr" lIns="0" rIns="0" tIns="0" bIns="0">
            <a:spAutoFit/>
          </a:bodyPr>
          <a:lstStyle/>
          <a:p>
            <a:pPr algn="ctr"/>
            <a:r>
              <a:rPr sz="2000">
                <a:solidFill>
                  <a:srgbClr val="FFFFFF"/>
                </a:solidFill>
                <a:latin typeface="Segoe UI Emoji"/>
              </a:rPr>
              <a:t>🗑</a:t>
            </a:r>
          </a:p>
        </p:txBody>
      </p:sp>
      <p:sp>
        <p:nvSpPr>
          <p:cNvPr id="53" name="TextBox 52"/>
          <p:cNvSpPr txBox="1"/>
          <p:nvPr/>
        </p:nvSpPr>
        <p:spPr>
          <a:xfrm>
            <a:off x="10012680" y="4297680"/>
            <a:ext cx="1554480" cy="1234440"/>
          </a:xfrm>
          <a:prstGeom prst="rect">
            <a:avLst/>
          </a:prstGeom>
          <a:noFill/>
        </p:spPr>
        <p:txBody>
          <a:bodyPr wrap="square" anchor="ctr" lIns="0" rIns="0" tIns="0" bIns="0">
            <a:spAutoFit/>
          </a:bodyPr>
          <a:lstStyle/>
          <a:p>
            <a:pPr algn="l"/>
            <a:r>
              <a:rPr sz="1250" b="1" i="0">
                <a:solidFill>
                  <a:srgbClr val="0B1F3F"/>
                </a:solidFill>
                <a:latin typeface="Segoe UI"/>
              </a:rPr>
              <a:t>Online Cancellation</a:t>
            </a:r>
          </a:p>
        </p:txBody>
      </p:sp>
      <p:sp>
        <p:nvSpPr>
          <p:cNvPr id="54" name="TextBox 53"/>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16</a:t>
            </a:r>
          </a:p>
        </p:txBody>
      </p:sp>
      <p:sp>
        <p:nvSpPr>
          <p:cNvPr id="55" name="TextBox 54"/>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F3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LIVE WALKTHROUGH</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Project Demonstration</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71600"/>
            <a:ext cx="11155680" cy="457200"/>
          </a:xfrm>
          <a:prstGeom prst="rect">
            <a:avLst/>
          </a:prstGeom>
          <a:noFill/>
        </p:spPr>
        <p:txBody>
          <a:bodyPr wrap="square" anchor="t" lIns="0" rIns="0" tIns="0" bIns="0">
            <a:spAutoFit/>
          </a:bodyPr>
          <a:lstStyle/>
          <a:p>
            <a:pPr algn="l"/>
            <a:r>
              <a:rPr sz="1500" b="0" i="0">
                <a:solidFill>
                  <a:srgbClr val="33A7E0"/>
                </a:solidFill>
                <a:latin typeface="Segoe UI"/>
              </a:rPr>
              <a:t>Live demo will show the complete booking journey on the running application.</a:t>
            </a:r>
          </a:p>
        </p:txBody>
      </p:sp>
      <p:sp>
        <p:nvSpPr>
          <p:cNvPr id="7" name="Rounded Rectangle 6"/>
          <p:cNvSpPr/>
          <p:nvPr/>
        </p:nvSpPr>
        <p:spPr>
          <a:xfrm>
            <a:off x="289408" y="2103120"/>
            <a:ext cx="1783080" cy="1371600"/>
          </a:xfrm>
          <a:prstGeom prst="roundRect">
            <a:avLst>
              <a:gd name="adj" fmla="val 15000"/>
            </a:avLst>
          </a:prstGeom>
          <a:solidFill>
            <a:srgbClr val="112B54"/>
          </a:solidFill>
          <a:ln w="12700">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6628" y="2286000"/>
            <a:ext cx="548640" cy="5486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6628" y="2286000"/>
            <a:ext cx="548640" cy="54864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10" name="TextBox 9"/>
          <p:cNvSpPr txBox="1"/>
          <p:nvPr/>
        </p:nvSpPr>
        <p:spPr>
          <a:xfrm>
            <a:off x="335128" y="2971800"/>
            <a:ext cx="1691640" cy="457200"/>
          </a:xfrm>
          <a:prstGeom prst="rect">
            <a:avLst/>
          </a:prstGeom>
          <a:noFill/>
        </p:spPr>
        <p:txBody>
          <a:bodyPr wrap="square" anchor="t" lIns="0" rIns="0" tIns="0" bIns="0">
            <a:spAutoFit/>
          </a:bodyPr>
          <a:lstStyle/>
          <a:p>
            <a:pPr algn="ctr"/>
            <a:r>
              <a:rPr sz="1150" b="1" i="0">
                <a:solidFill>
                  <a:srgbClr val="FFFFFF"/>
                </a:solidFill>
                <a:latin typeface="Segoe UI"/>
              </a:rPr>
              <a:t>Registration</a:t>
            </a:r>
          </a:p>
        </p:txBody>
      </p:sp>
      <p:sp>
        <p:nvSpPr>
          <p:cNvPr id="11" name="Rounded Rectangle 10"/>
          <p:cNvSpPr/>
          <p:nvPr/>
        </p:nvSpPr>
        <p:spPr>
          <a:xfrm>
            <a:off x="2255368" y="2103120"/>
            <a:ext cx="1783080" cy="1371600"/>
          </a:xfrm>
          <a:prstGeom prst="roundRect">
            <a:avLst>
              <a:gd name="adj" fmla="val 15000"/>
            </a:avLst>
          </a:prstGeom>
          <a:solidFill>
            <a:srgbClr val="112B54"/>
          </a:solidFill>
          <a:ln w="12700">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72588" y="2286000"/>
            <a:ext cx="548640" cy="5486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2588" y="2286000"/>
            <a:ext cx="548640" cy="54864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14" name="TextBox 13"/>
          <p:cNvSpPr txBox="1"/>
          <p:nvPr/>
        </p:nvSpPr>
        <p:spPr>
          <a:xfrm>
            <a:off x="2301088" y="2971800"/>
            <a:ext cx="1691640" cy="457200"/>
          </a:xfrm>
          <a:prstGeom prst="rect">
            <a:avLst/>
          </a:prstGeom>
          <a:noFill/>
        </p:spPr>
        <p:txBody>
          <a:bodyPr wrap="square" anchor="t" lIns="0" rIns="0" tIns="0" bIns="0">
            <a:spAutoFit/>
          </a:bodyPr>
          <a:lstStyle/>
          <a:p>
            <a:pPr algn="ctr"/>
            <a:r>
              <a:rPr sz="1150" b="1" i="0">
                <a:solidFill>
                  <a:srgbClr val="FFFFFF"/>
                </a:solidFill>
                <a:latin typeface="Segoe UI"/>
              </a:rPr>
              <a:t>Login</a:t>
            </a:r>
          </a:p>
        </p:txBody>
      </p:sp>
      <p:sp>
        <p:nvSpPr>
          <p:cNvPr id="15" name="Rounded Rectangle 14"/>
          <p:cNvSpPr/>
          <p:nvPr/>
        </p:nvSpPr>
        <p:spPr>
          <a:xfrm>
            <a:off x="4221328" y="2103120"/>
            <a:ext cx="1783080" cy="1371600"/>
          </a:xfrm>
          <a:prstGeom prst="roundRect">
            <a:avLst>
              <a:gd name="adj" fmla="val 15000"/>
            </a:avLst>
          </a:prstGeom>
          <a:solidFill>
            <a:srgbClr val="112B54"/>
          </a:solidFill>
          <a:ln w="12700">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38548" y="2286000"/>
            <a:ext cx="548640" cy="5486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38548" y="2286000"/>
            <a:ext cx="548640" cy="54864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18" name="TextBox 17"/>
          <p:cNvSpPr txBox="1"/>
          <p:nvPr/>
        </p:nvSpPr>
        <p:spPr>
          <a:xfrm>
            <a:off x="4267048" y="2971800"/>
            <a:ext cx="1691640" cy="457200"/>
          </a:xfrm>
          <a:prstGeom prst="rect">
            <a:avLst/>
          </a:prstGeom>
          <a:noFill/>
        </p:spPr>
        <p:txBody>
          <a:bodyPr wrap="square" anchor="t" lIns="0" rIns="0" tIns="0" bIns="0">
            <a:spAutoFit/>
          </a:bodyPr>
          <a:lstStyle/>
          <a:p>
            <a:pPr algn="ctr"/>
            <a:r>
              <a:rPr sz="1150" b="1" i="0">
                <a:solidFill>
                  <a:srgbClr val="FFFFFF"/>
                </a:solidFill>
                <a:latin typeface="Segoe UI"/>
              </a:rPr>
              <a:t>Search &amp;</a:t>
            </a:r>
          </a:p>
          <a:p>
            <a:pPr algn="ctr"/>
            <a:r>
              <a:rPr sz="1150" b="1" i="0">
                <a:solidFill>
                  <a:srgbClr val="FFFFFF"/>
                </a:solidFill>
                <a:latin typeface="Segoe UI"/>
              </a:rPr>
              <a:t>Booking</a:t>
            </a:r>
          </a:p>
        </p:txBody>
      </p:sp>
      <p:sp>
        <p:nvSpPr>
          <p:cNvPr id="19" name="Rounded Rectangle 18"/>
          <p:cNvSpPr/>
          <p:nvPr/>
        </p:nvSpPr>
        <p:spPr>
          <a:xfrm>
            <a:off x="6187288" y="2103120"/>
            <a:ext cx="1783080" cy="1371600"/>
          </a:xfrm>
          <a:prstGeom prst="roundRect">
            <a:avLst>
              <a:gd name="adj" fmla="val 15000"/>
            </a:avLst>
          </a:prstGeom>
          <a:solidFill>
            <a:srgbClr val="112B54"/>
          </a:solidFill>
          <a:ln w="12700">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04508" y="2286000"/>
            <a:ext cx="548640" cy="5486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4508" y="2286000"/>
            <a:ext cx="548640" cy="54864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22" name="TextBox 21"/>
          <p:cNvSpPr txBox="1"/>
          <p:nvPr/>
        </p:nvSpPr>
        <p:spPr>
          <a:xfrm>
            <a:off x="6233008" y="2971800"/>
            <a:ext cx="1691640" cy="457200"/>
          </a:xfrm>
          <a:prstGeom prst="rect">
            <a:avLst/>
          </a:prstGeom>
          <a:noFill/>
        </p:spPr>
        <p:txBody>
          <a:bodyPr wrap="square" anchor="t" lIns="0" rIns="0" tIns="0" bIns="0">
            <a:spAutoFit/>
          </a:bodyPr>
          <a:lstStyle/>
          <a:p>
            <a:pPr algn="ctr"/>
            <a:r>
              <a:rPr sz="1150" b="1" i="0">
                <a:solidFill>
                  <a:srgbClr val="FFFFFF"/>
                </a:solidFill>
                <a:latin typeface="Segoe UI"/>
              </a:rPr>
              <a:t>Payment</a:t>
            </a:r>
          </a:p>
        </p:txBody>
      </p:sp>
      <p:sp>
        <p:nvSpPr>
          <p:cNvPr id="23" name="Rounded Rectangle 22"/>
          <p:cNvSpPr/>
          <p:nvPr/>
        </p:nvSpPr>
        <p:spPr>
          <a:xfrm>
            <a:off x="8153248" y="2103120"/>
            <a:ext cx="1783080" cy="1371600"/>
          </a:xfrm>
          <a:prstGeom prst="roundRect">
            <a:avLst>
              <a:gd name="adj" fmla="val 15000"/>
            </a:avLst>
          </a:prstGeom>
          <a:solidFill>
            <a:srgbClr val="112B54"/>
          </a:solidFill>
          <a:ln w="12700">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0468" y="2286000"/>
            <a:ext cx="548640" cy="5486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0468" y="2286000"/>
            <a:ext cx="548640" cy="54864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26" name="TextBox 25"/>
          <p:cNvSpPr txBox="1"/>
          <p:nvPr/>
        </p:nvSpPr>
        <p:spPr>
          <a:xfrm>
            <a:off x="8198968" y="2971800"/>
            <a:ext cx="1691640" cy="457200"/>
          </a:xfrm>
          <a:prstGeom prst="rect">
            <a:avLst/>
          </a:prstGeom>
          <a:noFill/>
        </p:spPr>
        <p:txBody>
          <a:bodyPr wrap="square" anchor="t" lIns="0" rIns="0" tIns="0" bIns="0">
            <a:spAutoFit/>
          </a:bodyPr>
          <a:lstStyle/>
          <a:p>
            <a:pPr algn="ctr"/>
            <a:r>
              <a:rPr sz="1150" b="1" i="0">
                <a:solidFill>
                  <a:srgbClr val="FFFFFF"/>
                </a:solidFill>
                <a:latin typeface="Segoe UI"/>
              </a:rPr>
              <a:t>Success</a:t>
            </a:r>
          </a:p>
          <a:p>
            <a:pPr algn="ctr"/>
            <a:r>
              <a:rPr sz="1150" b="1" i="0">
                <a:solidFill>
                  <a:srgbClr val="FFFFFF"/>
                </a:solidFill>
                <a:latin typeface="Segoe UI"/>
              </a:rPr>
              <a:t>Page</a:t>
            </a:r>
          </a:p>
        </p:txBody>
      </p:sp>
      <p:sp>
        <p:nvSpPr>
          <p:cNvPr id="27" name="Rounded Rectangle 26"/>
          <p:cNvSpPr/>
          <p:nvPr/>
        </p:nvSpPr>
        <p:spPr>
          <a:xfrm>
            <a:off x="10119208" y="2103120"/>
            <a:ext cx="1783080" cy="1371600"/>
          </a:xfrm>
          <a:prstGeom prst="roundRect">
            <a:avLst>
              <a:gd name="adj" fmla="val 15000"/>
            </a:avLst>
          </a:prstGeom>
          <a:solidFill>
            <a:srgbClr val="112B54"/>
          </a:solidFill>
          <a:ln w="12700">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736428" y="2286000"/>
            <a:ext cx="548640" cy="5486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36428" y="2286000"/>
            <a:ext cx="548640" cy="548640"/>
          </a:xfrm>
          <a:prstGeom prst="rect">
            <a:avLst/>
          </a:prstGeom>
          <a:noFill/>
        </p:spPr>
        <p:txBody>
          <a:bodyPr wrap="none" anchor="ctr" lIns="0" rIns="0" tIns="0" bIns="0">
            <a:spAutoFit/>
          </a:bodyPr>
          <a:lstStyle/>
          <a:p>
            <a:pPr algn="ctr"/>
            <a:r>
              <a:rPr sz="1800">
                <a:solidFill>
                  <a:srgbClr val="FFFFFF"/>
                </a:solidFill>
                <a:latin typeface="Segoe UI Emoji"/>
              </a:rPr>
              <a:t>▶</a:t>
            </a:r>
          </a:p>
        </p:txBody>
      </p:sp>
      <p:sp>
        <p:nvSpPr>
          <p:cNvPr id="30" name="TextBox 29"/>
          <p:cNvSpPr txBox="1"/>
          <p:nvPr/>
        </p:nvSpPr>
        <p:spPr>
          <a:xfrm>
            <a:off x="10164928" y="2971800"/>
            <a:ext cx="1691640" cy="457200"/>
          </a:xfrm>
          <a:prstGeom prst="rect">
            <a:avLst/>
          </a:prstGeom>
          <a:noFill/>
        </p:spPr>
        <p:txBody>
          <a:bodyPr wrap="square" anchor="t" lIns="0" rIns="0" tIns="0" bIns="0">
            <a:spAutoFit/>
          </a:bodyPr>
          <a:lstStyle/>
          <a:p>
            <a:pPr algn="ctr"/>
            <a:r>
              <a:rPr sz="1150" b="1" i="0">
                <a:solidFill>
                  <a:srgbClr val="FFFFFF"/>
                </a:solidFill>
                <a:latin typeface="Segoe UI"/>
              </a:rPr>
              <a:t>My</a:t>
            </a:r>
          </a:p>
          <a:p>
            <a:pPr algn="ctr"/>
            <a:r>
              <a:rPr sz="1150" b="1" i="0">
                <a:solidFill>
                  <a:srgbClr val="FFFFFF"/>
                </a:solidFill>
                <a:latin typeface="Segoe UI"/>
              </a:rPr>
              <a:t>Bookings</a:t>
            </a:r>
          </a:p>
        </p:txBody>
      </p:sp>
      <p:sp>
        <p:nvSpPr>
          <p:cNvPr id="31" name="Rounded Rectangle 30"/>
          <p:cNvSpPr/>
          <p:nvPr/>
        </p:nvSpPr>
        <p:spPr>
          <a:xfrm>
            <a:off x="502920" y="3931920"/>
            <a:ext cx="11201400" cy="2331720"/>
          </a:xfrm>
          <a:prstGeom prst="roundRect">
            <a:avLst>
              <a:gd name="adj" fmla="val 5000"/>
            </a:avLst>
          </a:prstGeom>
          <a:solidFill>
            <a:srgbClr val="112B54"/>
          </a:solidFill>
          <a:ln w="9525">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114800"/>
            <a:ext cx="10607040" cy="365760"/>
          </a:xfrm>
          <a:prstGeom prst="rect">
            <a:avLst/>
          </a:prstGeom>
          <a:noFill/>
        </p:spPr>
        <p:txBody>
          <a:bodyPr wrap="square" anchor="t" lIns="0" rIns="0" tIns="0" bIns="0">
            <a:spAutoFit/>
          </a:bodyPr>
          <a:lstStyle/>
          <a:p>
            <a:pPr algn="l"/>
            <a:r>
              <a:rPr sz="1500" b="1" i="0">
                <a:solidFill>
                  <a:srgbClr val="F28C28"/>
                </a:solidFill>
                <a:latin typeface="Segoe UI"/>
              </a:rPr>
              <a:t>Talking Points During Demo</a:t>
            </a:r>
          </a:p>
        </p:txBody>
      </p:sp>
      <p:sp>
        <p:nvSpPr>
          <p:cNvPr id="33" name="TextBox 32"/>
          <p:cNvSpPr txBox="1"/>
          <p:nvPr/>
        </p:nvSpPr>
        <p:spPr>
          <a:xfrm>
            <a:off x="777240" y="4526280"/>
            <a:ext cx="10607040" cy="1645920"/>
          </a:xfrm>
          <a:prstGeom prst="rect">
            <a:avLst/>
          </a:prstGeom>
          <a:noFill/>
        </p:spPr>
        <p:txBody>
          <a:bodyPr wrap="square">
            <a:spAutoFit/>
          </a:bodyPr>
          <a:lstStyle/>
          <a:p>
            <a:pPr>
              <a:lnSpc>
                <a:spcPct val="112000"/>
              </a:lnSpc>
              <a:spcAft>
                <a:spcPts val="1000"/>
              </a:spcAft>
            </a:pPr>
            <a:r>
              <a:rPr sz="1300" b="0">
                <a:solidFill>
                  <a:srgbClr val="FFFFFF"/>
                </a:solidFill>
                <a:latin typeface="Segoe UI"/>
              </a:rPr>
              <a:t>■  Point out the seat-count restriction enforced during seat selection</a:t>
            </a:r>
          </a:p>
          <a:p>
            <a:pPr>
              <a:lnSpc>
                <a:spcPct val="112000"/>
              </a:lnSpc>
              <a:spcAft>
                <a:spcPts val="1000"/>
              </a:spcAft>
            </a:pPr>
            <a:r>
              <a:rPr sz="1300" b="0">
                <a:solidFill>
                  <a:srgbClr val="FFFFFF"/>
                </a:solidFill>
                <a:latin typeface="Segoe UI"/>
              </a:rPr>
              <a:t>■  Show the e-ticket generated immediately after payment confirmation</a:t>
            </a:r>
          </a:p>
          <a:p>
            <a:pPr>
              <a:lnSpc>
                <a:spcPct val="112000"/>
              </a:lnSpc>
              <a:spcAft>
                <a:spcPts val="1000"/>
              </a:spcAft>
            </a:pPr>
            <a:r>
              <a:rPr sz="1300" b="0">
                <a:solidFill>
                  <a:srgbClr val="FFFFFF"/>
                </a:solidFill>
                <a:latin typeface="Segoe UI"/>
              </a:rPr>
              <a:t>■  Open My Bookings to prove the record was saved permanently in SQLite</a:t>
            </a:r>
          </a:p>
        </p:txBody>
      </p:sp>
      <p:sp>
        <p:nvSpPr>
          <p:cNvPr id="34" name="TextBox 33"/>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17</a:t>
            </a:r>
          </a:p>
        </p:txBody>
      </p:sp>
      <p:sp>
        <p:nvSpPr>
          <p:cNvPr id="35" name="TextBox 34"/>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WRAP-UP</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Conclusion</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371600"/>
            <a:ext cx="11201400" cy="91440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8096" y="154533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545336"/>
            <a:ext cx="566928" cy="566928"/>
          </a:xfrm>
          <a:prstGeom prst="rect">
            <a:avLst/>
          </a:prstGeom>
          <a:noFill/>
        </p:spPr>
        <p:txBody>
          <a:bodyPr wrap="none" anchor="ctr" lIns="0" rIns="0" tIns="0" bIns="0">
            <a:spAutoFit/>
          </a:bodyPr>
          <a:lstStyle/>
          <a:p>
            <a:pPr algn="ctr"/>
            <a:r>
              <a:rPr sz="2200">
                <a:solidFill>
                  <a:srgbClr val="FFFFFF"/>
                </a:solidFill>
                <a:latin typeface="Segoe UI Emoji"/>
              </a:rPr>
              <a:t>🎓</a:t>
            </a:r>
          </a:p>
        </p:txBody>
      </p:sp>
      <p:sp>
        <p:nvSpPr>
          <p:cNvPr id="9" name="TextBox 8"/>
          <p:cNvSpPr txBox="1"/>
          <p:nvPr/>
        </p:nvSpPr>
        <p:spPr>
          <a:xfrm>
            <a:off x="1508760" y="1463040"/>
            <a:ext cx="3017520" cy="365760"/>
          </a:xfrm>
          <a:prstGeom prst="rect">
            <a:avLst/>
          </a:prstGeom>
          <a:noFill/>
        </p:spPr>
        <p:txBody>
          <a:bodyPr wrap="square" anchor="t" lIns="0" rIns="0" tIns="0" bIns="0">
            <a:spAutoFit/>
          </a:bodyPr>
          <a:lstStyle/>
          <a:p>
            <a:pPr algn="l"/>
            <a:r>
              <a:rPr sz="1350" b="1" i="0">
                <a:solidFill>
                  <a:srgbClr val="0B1F3F"/>
                </a:solidFill>
                <a:latin typeface="Segoe UI"/>
              </a:rPr>
              <a:t>Internship Experience</a:t>
            </a:r>
          </a:p>
        </p:txBody>
      </p:sp>
      <p:sp>
        <p:nvSpPr>
          <p:cNvPr id="10" name="TextBox 9"/>
          <p:cNvSpPr txBox="1"/>
          <p:nvPr/>
        </p:nvSpPr>
        <p:spPr>
          <a:xfrm>
            <a:off x="1508760" y="1783080"/>
            <a:ext cx="9875520" cy="457200"/>
          </a:xfrm>
          <a:prstGeom prst="rect">
            <a:avLst/>
          </a:prstGeom>
          <a:noFill/>
        </p:spPr>
        <p:txBody>
          <a:bodyPr wrap="square" anchor="t" lIns="0" rIns="0" tIns="0" bIns="0">
            <a:spAutoFit/>
          </a:bodyPr>
          <a:lstStyle/>
          <a:p>
            <a:pPr algn="l"/>
            <a:r>
              <a:rPr sz="1050" b="0" i="0">
                <a:solidFill>
                  <a:srgbClr val="5A6474"/>
                </a:solidFill>
                <a:latin typeface="Segoe UI"/>
              </a:rPr>
              <a:t>Hands-on exposure to a real development process,  weekly reviews and mentor feedback</a:t>
            </a:r>
          </a:p>
        </p:txBody>
      </p:sp>
      <p:sp>
        <p:nvSpPr>
          <p:cNvPr id="11" name="Rounded Rectangle 10"/>
          <p:cNvSpPr/>
          <p:nvPr/>
        </p:nvSpPr>
        <p:spPr>
          <a:xfrm>
            <a:off x="502920" y="2377440"/>
            <a:ext cx="11201400" cy="91440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8096" y="255117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551176"/>
            <a:ext cx="566928" cy="566928"/>
          </a:xfrm>
          <a:prstGeom prst="rect">
            <a:avLst/>
          </a:prstGeom>
          <a:noFill/>
        </p:spPr>
        <p:txBody>
          <a:bodyPr wrap="none" anchor="ctr" lIns="0" rIns="0" tIns="0" bIns="0">
            <a:spAutoFit/>
          </a:bodyPr>
          <a:lstStyle/>
          <a:p>
            <a:pPr algn="ctr"/>
            <a:r>
              <a:rPr sz="2200">
                <a:solidFill>
                  <a:srgbClr val="FFFFFF"/>
                </a:solidFill>
                <a:latin typeface="Segoe UI Emoji"/>
              </a:rPr>
              <a:t>💡</a:t>
            </a:r>
          </a:p>
        </p:txBody>
      </p:sp>
      <p:sp>
        <p:nvSpPr>
          <p:cNvPr id="14" name="TextBox 13"/>
          <p:cNvSpPr txBox="1"/>
          <p:nvPr/>
        </p:nvSpPr>
        <p:spPr>
          <a:xfrm>
            <a:off x="1508760" y="2468880"/>
            <a:ext cx="3017520" cy="365760"/>
          </a:xfrm>
          <a:prstGeom prst="rect">
            <a:avLst/>
          </a:prstGeom>
          <a:noFill/>
        </p:spPr>
        <p:txBody>
          <a:bodyPr wrap="square" anchor="t" lIns="0" rIns="0" tIns="0" bIns="0">
            <a:spAutoFit/>
          </a:bodyPr>
          <a:lstStyle/>
          <a:p>
            <a:pPr algn="l"/>
            <a:r>
              <a:rPr sz="1350" b="1" i="0">
                <a:solidFill>
                  <a:srgbClr val="0B1F3F"/>
                </a:solidFill>
                <a:latin typeface="Segoe UI"/>
              </a:rPr>
              <a:t>Knowledge Gained</a:t>
            </a:r>
          </a:p>
        </p:txBody>
      </p:sp>
      <p:sp>
        <p:nvSpPr>
          <p:cNvPr id="15" name="TextBox 14"/>
          <p:cNvSpPr txBox="1"/>
          <p:nvPr/>
        </p:nvSpPr>
        <p:spPr>
          <a:xfrm>
            <a:off x="1508760" y="2788920"/>
            <a:ext cx="9875520" cy="457200"/>
          </a:xfrm>
          <a:prstGeom prst="rect">
            <a:avLst/>
          </a:prstGeom>
          <a:noFill/>
        </p:spPr>
        <p:txBody>
          <a:bodyPr wrap="square" anchor="t" lIns="0" rIns="0" tIns="0" bIns="0">
            <a:spAutoFit/>
          </a:bodyPr>
          <a:lstStyle/>
          <a:p>
            <a:pPr algn="l"/>
            <a:r>
              <a:rPr sz="1050" b="0" i="0">
                <a:solidFill>
                  <a:srgbClr val="5A6474"/>
                </a:solidFill>
                <a:latin typeface="Segoe UI"/>
              </a:rPr>
              <a:t>Full-stack fundamentals: Flask, SQLite, HTML/CSS,  Jinja2, debugging &amp; testing</a:t>
            </a:r>
          </a:p>
        </p:txBody>
      </p:sp>
      <p:sp>
        <p:nvSpPr>
          <p:cNvPr id="16" name="Rounded Rectangle 15"/>
          <p:cNvSpPr/>
          <p:nvPr/>
        </p:nvSpPr>
        <p:spPr>
          <a:xfrm>
            <a:off x="502920" y="3383280"/>
            <a:ext cx="11201400" cy="91440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8096" y="355701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557016"/>
            <a:ext cx="566928" cy="566928"/>
          </a:xfrm>
          <a:prstGeom prst="rect">
            <a:avLst/>
          </a:prstGeom>
          <a:noFill/>
        </p:spPr>
        <p:txBody>
          <a:bodyPr wrap="none" anchor="ctr" lIns="0" rIns="0" tIns="0" bIns="0">
            <a:spAutoFit/>
          </a:bodyPr>
          <a:lstStyle/>
          <a:p>
            <a:pPr algn="ctr"/>
            <a:r>
              <a:rPr sz="2200">
                <a:solidFill>
                  <a:srgbClr val="FFFFFF"/>
                </a:solidFill>
                <a:latin typeface="Segoe UI Emoji"/>
              </a:rPr>
              <a:t>🏁</a:t>
            </a:r>
          </a:p>
        </p:txBody>
      </p:sp>
      <p:sp>
        <p:nvSpPr>
          <p:cNvPr id="19" name="TextBox 18"/>
          <p:cNvSpPr txBox="1"/>
          <p:nvPr/>
        </p:nvSpPr>
        <p:spPr>
          <a:xfrm>
            <a:off x="1508760" y="3474720"/>
            <a:ext cx="3017520" cy="365760"/>
          </a:xfrm>
          <a:prstGeom prst="rect">
            <a:avLst/>
          </a:prstGeom>
          <a:noFill/>
        </p:spPr>
        <p:txBody>
          <a:bodyPr wrap="square" anchor="t" lIns="0" rIns="0" tIns="0" bIns="0">
            <a:spAutoFit/>
          </a:bodyPr>
          <a:lstStyle/>
          <a:p>
            <a:pPr algn="l"/>
            <a:r>
              <a:rPr sz="1350" b="1" i="0">
                <a:solidFill>
                  <a:srgbClr val="0B1F3F"/>
                </a:solidFill>
                <a:latin typeface="Segoe UI"/>
              </a:rPr>
              <a:t>Project Outcome</a:t>
            </a:r>
          </a:p>
        </p:txBody>
      </p:sp>
      <p:sp>
        <p:nvSpPr>
          <p:cNvPr id="20" name="TextBox 19"/>
          <p:cNvSpPr txBox="1"/>
          <p:nvPr/>
        </p:nvSpPr>
        <p:spPr>
          <a:xfrm>
            <a:off x="1508760" y="3794760"/>
            <a:ext cx="9875520" cy="457200"/>
          </a:xfrm>
          <a:prstGeom prst="rect">
            <a:avLst/>
          </a:prstGeom>
          <a:noFill/>
        </p:spPr>
        <p:txBody>
          <a:bodyPr wrap="square" anchor="t" lIns="0" rIns="0" tIns="0" bIns="0">
            <a:spAutoFit/>
          </a:bodyPr>
          <a:lstStyle/>
          <a:p>
            <a:pPr algn="l"/>
            <a:r>
              <a:rPr sz="1050" b="0" i="0">
                <a:solidFill>
                  <a:srgbClr val="5A6474"/>
                </a:solidFill>
                <a:latin typeface="Segoe UI"/>
              </a:rPr>
              <a:t>A fully working, end-to-end bus booking application  delivered and demonstrated</a:t>
            </a:r>
          </a:p>
        </p:txBody>
      </p:sp>
      <p:sp>
        <p:nvSpPr>
          <p:cNvPr id="21" name="Rounded Rectangle 20"/>
          <p:cNvSpPr/>
          <p:nvPr/>
        </p:nvSpPr>
        <p:spPr>
          <a:xfrm>
            <a:off x="502920" y="4389120"/>
            <a:ext cx="11201400" cy="91440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8096" y="456285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562856"/>
            <a:ext cx="566928" cy="566928"/>
          </a:xfrm>
          <a:prstGeom prst="rect">
            <a:avLst/>
          </a:prstGeom>
          <a:noFill/>
        </p:spPr>
        <p:txBody>
          <a:bodyPr wrap="none" anchor="ctr" lIns="0" rIns="0" tIns="0" bIns="0">
            <a:spAutoFit/>
          </a:bodyPr>
          <a:lstStyle/>
          <a:p>
            <a:pPr algn="ctr"/>
            <a:r>
              <a:rPr sz="2200">
                <a:solidFill>
                  <a:srgbClr val="FFFFFF"/>
                </a:solidFill>
                <a:latin typeface="Segoe UI Emoji"/>
              </a:rPr>
              <a:t>🌱</a:t>
            </a:r>
          </a:p>
        </p:txBody>
      </p:sp>
      <p:sp>
        <p:nvSpPr>
          <p:cNvPr id="24" name="TextBox 23"/>
          <p:cNvSpPr txBox="1"/>
          <p:nvPr/>
        </p:nvSpPr>
        <p:spPr>
          <a:xfrm>
            <a:off x="1508760" y="4480560"/>
            <a:ext cx="3017520" cy="365760"/>
          </a:xfrm>
          <a:prstGeom prst="rect">
            <a:avLst/>
          </a:prstGeom>
          <a:noFill/>
        </p:spPr>
        <p:txBody>
          <a:bodyPr wrap="square" anchor="t" lIns="0" rIns="0" tIns="0" bIns="0">
            <a:spAutoFit/>
          </a:bodyPr>
          <a:lstStyle/>
          <a:p>
            <a:pPr algn="l"/>
            <a:r>
              <a:rPr sz="1350" b="1" i="0">
                <a:solidFill>
                  <a:srgbClr val="0B1F3F"/>
                </a:solidFill>
                <a:latin typeface="Segoe UI"/>
              </a:rPr>
              <a:t>Personal Growth</a:t>
            </a:r>
          </a:p>
        </p:txBody>
      </p:sp>
      <p:sp>
        <p:nvSpPr>
          <p:cNvPr id="25" name="TextBox 24"/>
          <p:cNvSpPr txBox="1"/>
          <p:nvPr/>
        </p:nvSpPr>
        <p:spPr>
          <a:xfrm>
            <a:off x="1508760" y="4800600"/>
            <a:ext cx="9875520" cy="457200"/>
          </a:xfrm>
          <a:prstGeom prst="rect">
            <a:avLst/>
          </a:prstGeom>
          <a:noFill/>
        </p:spPr>
        <p:txBody>
          <a:bodyPr wrap="square" anchor="t" lIns="0" rIns="0" tIns="0" bIns="0">
            <a:spAutoFit/>
          </a:bodyPr>
          <a:lstStyle/>
          <a:p>
            <a:pPr algn="l"/>
            <a:r>
              <a:rPr sz="1050" b="0" i="0">
                <a:solidFill>
                  <a:srgbClr val="5A6474"/>
                </a:solidFill>
                <a:latin typeface="Segoe UI"/>
              </a:rPr>
              <a:t>Improved patience, discipline and honest  self-assessment while debugging</a:t>
            </a:r>
          </a:p>
        </p:txBody>
      </p:sp>
      <p:sp>
        <p:nvSpPr>
          <p:cNvPr id="26" name="Rounded Rectangle 25"/>
          <p:cNvSpPr/>
          <p:nvPr/>
        </p:nvSpPr>
        <p:spPr>
          <a:xfrm>
            <a:off x="502920" y="5394960"/>
            <a:ext cx="11201400" cy="914400"/>
          </a:xfrm>
          <a:prstGeom prst="roundRect">
            <a:avLst>
              <a:gd name="adj" fmla="val 10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8096" y="5568696"/>
            <a:ext cx="566928" cy="566928"/>
          </a:xfrm>
          <a:prstGeom prst="ellipse">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568696"/>
            <a:ext cx="566928" cy="566928"/>
          </a:xfrm>
          <a:prstGeom prst="rect">
            <a:avLst/>
          </a:prstGeom>
          <a:noFill/>
        </p:spPr>
        <p:txBody>
          <a:bodyPr wrap="none" anchor="ctr" lIns="0" rIns="0" tIns="0" bIns="0">
            <a:spAutoFit/>
          </a:bodyPr>
          <a:lstStyle/>
          <a:p>
            <a:pPr algn="ctr"/>
            <a:r>
              <a:rPr sz="2200">
                <a:solidFill>
                  <a:srgbClr val="FFFFFF"/>
                </a:solidFill>
                <a:latin typeface="Segoe UI Emoji"/>
              </a:rPr>
              <a:t>💼</a:t>
            </a:r>
          </a:p>
        </p:txBody>
      </p:sp>
      <p:sp>
        <p:nvSpPr>
          <p:cNvPr id="29" name="TextBox 28"/>
          <p:cNvSpPr txBox="1"/>
          <p:nvPr/>
        </p:nvSpPr>
        <p:spPr>
          <a:xfrm>
            <a:off x="1508760" y="5486400"/>
            <a:ext cx="3017520" cy="365760"/>
          </a:xfrm>
          <a:prstGeom prst="rect">
            <a:avLst/>
          </a:prstGeom>
          <a:noFill/>
        </p:spPr>
        <p:txBody>
          <a:bodyPr wrap="square" anchor="t" lIns="0" rIns="0" tIns="0" bIns="0">
            <a:spAutoFit/>
          </a:bodyPr>
          <a:lstStyle/>
          <a:p>
            <a:pPr algn="l"/>
            <a:r>
              <a:rPr sz="1350" b="1" i="0">
                <a:solidFill>
                  <a:srgbClr val="0B1F3F"/>
                </a:solidFill>
                <a:latin typeface="Segoe UI"/>
              </a:rPr>
              <a:t>Career Impact</a:t>
            </a:r>
          </a:p>
        </p:txBody>
      </p:sp>
      <p:sp>
        <p:nvSpPr>
          <p:cNvPr id="30" name="TextBox 29"/>
          <p:cNvSpPr txBox="1"/>
          <p:nvPr/>
        </p:nvSpPr>
        <p:spPr>
          <a:xfrm>
            <a:off x="1508760" y="5806440"/>
            <a:ext cx="9875520" cy="457200"/>
          </a:xfrm>
          <a:prstGeom prst="rect">
            <a:avLst/>
          </a:prstGeom>
          <a:noFill/>
        </p:spPr>
        <p:txBody>
          <a:bodyPr wrap="square" anchor="t" lIns="0" rIns="0" tIns="0" bIns="0">
            <a:spAutoFit/>
          </a:bodyPr>
          <a:lstStyle/>
          <a:p>
            <a:pPr algn="l"/>
            <a:r>
              <a:rPr sz="1050" b="0" i="0">
                <a:solidFill>
                  <a:srgbClr val="5A6474"/>
                </a:solidFill>
                <a:latin typeface="Segoe UI"/>
              </a:rPr>
              <a:t>A concrete, explainable project for interviews and  a clearer sense of web development as a career path</a:t>
            </a:r>
          </a:p>
        </p:txBody>
      </p:sp>
      <p:sp>
        <p:nvSpPr>
          <p:cNvPr id="31" name="TextBox 30"/>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18</a:t>
            </a:r>
          </a:p>
        </p:txBody>
      </p:sp>
      <p:sp>
        <p:nvSpPr>
          <p:cNvPr id="32" name="TextBox 31"/>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F3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058400" cy="292608"/>
          </a:xfrm>
          <a:prstGeom prst="rect">
            <a:avLst/>
          </a:prstGeom>
          <a:noFill/>
        </p:spPr>
        <p:txBody>
          <a:bodyPr wrap="square" anchor="t" lIns="0" rIns="0" tIns="0" bIns="0">
            <a:spAutoFit/>
          </a:bodyPr>
          <a:lstStyle/>
          <a:p>
            <a:pPr algn="l"/>
            <a:r>
              <a:rPr sz="1200" b="1" i="0">
                <a:solidFill>
                  <a:srgbClr val="33A7E0"/>
                </a:solidFill>
                <a:latin typeface="Segoe UI"/>
              </a:rPr>
              <a:t>GRATITUDE</a:t>
            </a:r>
          </a:p>
        </p:txBody>
      </p:sp>
      <p:sp>
        <p:nvSpPr>
          <p:cNvPr id="4" name="TextBox 3"/>
          <p:cNvSpPr txBox="1"/>
          <p:nvPr/>
        </p:nvSpPr>
        <p:spPr>
          <a:xfrm>
            <a:off x="484632" y="457200"/>
            <a:ext cx="10515600" cy="502920"/>
          </a:xfrm>
          <a:prstGeom prst="rect">
            <a:avLst/>
          </a:prstGeom>
          <a:noFill/>
        </p:spPr>
        <p:txBody>
          <a:bodyPr wrap="square" anchor="t" lIns="0" rIns="0" tIns="0" bIns="0">
            <a:spAutoFit/>
          </a:bodyPr>
          <a:lstStyle/>
          <a:p>
            <a:pPr algn="l"/>
            <a:r>
              <a:rPr sz="2600" b="1" i="0">
                <a:solidFill>
                  <a:srgbClr val="FFFFFF"/>
                </a:solidFill>
                <a:latin typeface="Segoe UI"/>
              </a:rPr>
              <a:t>Acknowledgement</a:t>
            </a:r>
          </a:p>
        </p:txBody>
      </p:sp>
      <p:sp>
        <p:nvSpPr>
          <p:cNvPr id="5" name="Rectangle 4"/>
          <p:cNvSpPr/>
          <p:nvPr/>
        </p:nvSpPr>
        <p:spPr>
          <a:xfrm>
            <a:off x="502920" y="1042415"/>
            <a:ext cx="502920" cy="508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3611880" cy="2286000"/>
          </a:xfrm>
          <a:prstGeom prst="roundRect">
            <a:avLst>
              <a:gd name="adj" fmla="val 8000"/>
            </a:avLst>
          </a:prstGeom>
          <a:solidFill>
            <a:srgbClr val="112B54"/>
          </a:solidFill>
          <a:ln w="9525">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011680" y="1668780"/>
            <a:ext cx="685800" cy="6858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166878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9" name="TextBox 8"/>
          <p:cNvSpPr txBox="1"/>
          <p:nvPr/>
        </p:nvSpPr>
        <p:spPr>
          <a:xfrm>
            <a:off x="685800" y="2514600"/>
            <a:ext cx="3337560" cy="457200"/>
          </a:xfrm>
          <a:prstGeom prst="rect">
            <a:avLst/>
          </a:prstGeom>
          <a:noFill/>
        </p:spPr>
        <p:txBody>
          <a:bodyPr wrap="square" anchor="t" lIns="0" rIns="0" tIns="0" bIns="0">
            <a:spAutoFit/>
          </a:bodyPr>
          <a:lstStyle/>
          <a:p>
            <a:pPr algn="ctr"/>
            <a:r>
              <a:rPr sz="1300" b="1" i="0">
                <a:solidFill>
                  <a:srgbClr val="FFFFFF"/>
                </a:solidFill>
                <a:latin typeface="Segoe UI"/>
              </a:rPr>
              <a:t>DayLearner Private Limited</a:t>
            </a:r>
          </a:p>
        </p:txBody>
      </p:sp>
      <p:sp>
        <p:nvSpPr>
          <p:cNvPr id="10" name="TextBox 9"/>
          <p:cNvSpPr txBox="1"/>
          <p:nvPr/>
        </p:nvSpPr>
        <p:spPr>
          <a:xfrm>
            <a:off x="731520" y="2971800"/>
            <a:ext cx="3246120" cy="640080"/>
          </a:xfrm>
          <a:prstGeom prst="rect">
            <a:avLst/>
          </a:prstGeom>
          <a:noFill/>
        </p:spPr>
        <p:txBody>
          <a:bodyPr wrap="square" anchor="t" lIns="0" rIns="0" tIns="0" bIns="0">
            <a:spAutoFit/>
          </a:bodyPr>
          <a:lstStyle/>
          <a:p>
            <a:pPr algn="ctr"/>
            <a:r>
              <a:rPr sz="1050" b="0" i="0">
                <a:solidFill>
                  <a:srgbClr val="33A7E0"/>
                </a:solidFill>
                <a:latin typeface="Segoe UI"/>
              </a:rPr>
              <a:t>For the opportunity to work on a real project</a:t>
            </a:r>
          </a:p>
        </p:txBody>
      </p:sp>
      <p:sp>
        <p:nvSpPr>
          <p:cNvPr id="11" name="Rounded Rectangle 10"/>
          <p:cNvSpPr/>
          <p:nvPr/>
        </p:nvSpPr>
        <p:spPr>
          <a:xfrm>
            <a:off x="4343400" y="1463040"/>
            <a:ext cx="3611880" cy="2286000"/>
          </a:xfrm>
          <a:prstGeom prst="roundRect">
            <a:avLst>
              <a:gd name="adj" fmla="val 8000"/>
            </a:avLst>
          </a:prstGeom>
          <a:solidFill>
            <a:srgbClr val="112B54"/>
          </a:solidFill>
          <a:ln w="9525">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06440" y="1668780"/>
            <a:ext cx="685800" cy="6858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06440" y="166878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14" name="TextBox 13"/>
          <p:cNvSpPr txBox="1"/>
          <p:nvPr/>
        </p:nvSpPr>
        <p:spPr>
          <a:xfrm>
            <a:off x="4480560" y="2514600"/>
            <a:ext cx="3337560" cy="457200"/>
          </a:xfrm>
          <a:prstGeom prst="rect">
            <a:avLst/>
          </a:prstGeom>
          <a:noFill/>
        </p:spPr>
        <p:txBody>
          <a:bodyPr wrap="square" anchor="t" lIns="0" rIns="0" tIns="0" bIns="0">
            <a:spAutoFit/>
          </a:bodyPr>
          <a:lstStyle/>
          <a:p>
            <a:pPr algn="ctr"/>
            <a:r>
              <a:rPr sz="1300" b="1" i="0">
                <a:solidFill>
                  <a:srgbClr val="FFFFFF"/>
                </a:solidFill>
                <a:latin typeface="Segoe UI"/>
              </a:rPr>
              <a:t>Mentor</a:t>
            </a:r>
          </a:p>
        </p:txBody>
      </p:sp>
      <p:sp>
        <p:nvSpPr>
          <p:cNvPr id="15" name="TextBox 14"/>
          <p:cNvSpPr txBox="1"/>
          <p:nvPr/>
        </p:nvSpPr>
        <p:spPr>
          <a:xfrm>
            <a:off x="4526280" y="2971800"/>
            <a:ext cx="3246120" cy="640080"/>
          </a:xfrm>
          <a:prstGeom prst="rect">
            <a:avLst/>
          </a:prstGeom>
          <a:noFill/>
        </p:spPr>
        <p:txBody>
          <a:bodyPr wrap="square" anchor="t" lIns="0" rIns="0" tIns="0" bIns="0">
            <a:spAutoFit/>
          </a:bodyPr>
          <a:lstStyle/>
          <a:p>
            <a:pPr algn="ctr"/>
            <a:r>
              <a:rPr sz="1050" b="0" i="0">
                <a:solidFill>
                  <a:srgbClr val="33A7E0"/>
                </a:solidFill>
                <a:latin typeface="Segoe UI"/>
              </a:rPr>
              <a:t>For weekly guidance, code reviews &amp; honest feedback</a:t>
            </a:r>
          </a:p>
        </p:txBody>
      </p:sp>
      <p:sp>
        <p:nvSpPr>
          <p:cNvPr id="16" name="Rounded Rectangle 15"/>
          <p:cNvSpPr/>
          <p:nvPr/>
        </p:nvSpPr>
        <p:spPr>
          <a:xfrm>
            <a:off x="8138160" y="1463040"/>
            <a:ext cx="3611880" cy="2286000"/>
          </a:xfrm>
          <a:prstGeom prst="roundRect">
            <a:avLst>
              <a:gd name="adj" fmla="val 8000"/>
            </a:avLst>
          </a:prstGeom>
          <a:solidFill>
            <a:srgbClr val="112B54"/>
          </a:solidFill>
          <a:ln w="9525">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01200" y="1668780"/>
            <a:ext cx="685800" cy="6858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166878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19" name="TextBox 18"/>
          <p:cNvSpPr txBox="1"/>
          <p:nvPr/>
        </p:nvSpPr>
        <p:spPr>
          <a:xfrm>
            <a:off x="8275320" y="2514600"/>
            <a:ext cx="3337560" cy="457200"/>
          </a:xfrm>
          <a:prstGeom prst="rect">
            <a:avLst/>
          </a:prstGeom>
          <a:noFill/>
        </p:spPr>
        <p:txBody>
          <a:bodyPr wrap="square" anchor="t" lIns="0" rIns="0" tIns="0" bIns="0">
            <a:spAutoFit/>
          </a:bodyPr>
          <a:lstStyle/>
          <a:p>
            <a:pPr algn="ctr"/>
            <a:r>
              <a:rPr sz="1300" b="1" i="0">
                <a:solidFill>
                  <a:srgbClr val="FFFFFF"/>
                </a:solidFill>
                <a:latin typeface="Segoe UI"/>
              </a:rPr>
              <a:t>GITAM University &amp; Faculty</a:t>
            </a:r>
          </a:p>
        </p:txBody>
      </p:sp>
      <p:sp>
        <p:nvSpPr>
          <p:cNvPr id="20" name="TextBox 19"/>
          <p:cNvSpPr txBox="1"/>
          <p:nvPr/>
        </p:nvSpPr>
        <p:spPr>
          <a:xfrm>
            <a:off x="8321040" y="2971800"/>
            <a:ext cx="3246120" cy="640080"/>
          </a:xfrm>
          <a:prstGeom prst="rect">
            <a:avLst/>
          </a:prstGeom>
          <a:noFill/>
        </p:spPr>
        <p:txBody>
          <a:bodyPr wrap="square" anchor="t" lIns="0" rIns="0" tIns="0" bIns="0">
            <a:spAutoFit/>
          </a:bodyPr>
          <a:lstStyle/>
          <a:p>
            <a:pPr algn="ctr"/>
            <a:r>
              <a:rPr sz="1050" b="0" i="0">
                <a:solidFill>
                  <a:srgbClr val="33A7E0"/>
                </a:solidFill>
                <a:latin typeface="Segoe UI"/>
              </a:rPr>
              <a:t>For academic supervision and support throughout</a:t>
            </a:r>
          </a:p>
        </p:txBody>
      </p:sp>
      <p:sp>
        <p:nvSpPr>
          <p:cNvPr id="21" name="Rounded Rectangle 20"/>
          <p:cNvSpPr/>
          <p:nvPr/>
        </p:nvSpPr>
        <p:spPr>
          <a:xfrm>
            <a:off x="548640" y="3977640"/>
            <a:ext cx="3611880" cy="2286000"/>
          </a:xfrm>
          <a:prstGeom prst="roundRect">
            <a:avLst>
              <a:gd name="adj" fmla="val 8000"/>
            </a:avLst>
          </a:prstGeom>
          <a:solidFill>
            <a:srgbClr val="112B54"/>
          </a:solidFill>
          <a:ln w="9525">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011680" y="4183380"/>
            <a:ext cx="685800" cy="6858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0" y="418338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24" name="TextBox 23"/>
          <p:cNvSpPr txBox="1"/>
          <p:nvPr/>
        </p:nvSpPr>
        <p:spPr>
          <a:xfrm>
            <a:off x="685800" y="5029200"/>
            <a:ext cx="3337560" cy="457200"/>
          </a:xfrm>
          <a:prstGeom prst="rect">
            <a:avLst/>
          </a:prstGeom>
          <a:noFill/>
        </p:spPr>
        <p:txBody>
          <a:bodyPr wrap="square" anchor="t" lIns="0" rIns="0" tIns="0" bIns="0">
            <a:spAutoFit/>
          </a:bodyPr>
          <a:lstStyle/>
          <a:p>
            <a:pPr algn="ctr"/>
            <a:r>
              <a:rPr sz="1300" b="1" i="0">
                <a:solidFill>
                  <a:srgbClr val="FFFFFF"/>
                </a:solidFill>
                <a:latin typeface="Segoe UI"/>
              </a:rPr>
              <a:t>Friends</a:t>
            </a:r>
          </a:p>
        </p:txBody>
      </p:sp>
      <p:sp>
        <p:nvSpPr>
          <p:cNvPr id="25" name="TextBox 24"/>
          <p:cNvSpPr txBox="1"/>
          <p:nvPr/>
        </p:nvSpPr>
        <p:spPr>
          <a:xfrm>
            <a:off x="731520" y="5486400"/>
            <a:ext cx="3246120" cy="640080"/>
          </a:xfrm>
          <a:prstGeom prst="rect">
            <a:avLst/>
          </a:prstGeom>
          <a:noFill/>
        </p:spPr>
        <p:txBody>
          <a:bodyPr wrap="square" anchor="t" lIns="0" rIns="0" tIns="0" bIns="0">
            <a:spAutoFit/>
          </a:bodyPr>
          <a:lstStyle/>
          <a:p>
            <a:pPr algn="ctr"/>
            <a:r>
              <a:rPr sz="1050" b="0" i="0">
                <a:solidFill>
                  <a:srgbClr val="33A7E0"/>
                </a:solidFill>
                <a:latin typeface="Segoe UI"/>
              </a:rPr>
              <a:t>For testing the application and reporting issues</a:t>
            </a:r>
          </a:p>
        </p:txBody>
      </p:sp>
      <p:sp>
        <p:nvSpPr>
          <p:cNvPr id="26" name="Rounded Rectangle 25"/>
          <p:cNvSpPr/>
          <p:nvPr/>
        </p:nvSpPr>
        <p:spPr>
          <a:xfrm>
            <a:off x="4343400" y="3977640"/>
            <a:ext cx="3611880" cy="2286000"/>
          </a:xfrm>
          <a:prstGeom prst="roundRect">
            <a:avLst>
              <a:gd name="adj" fmla="val 8000"/>
            </a:avLst>
          </a:prstGeom>
          <a:solidFill>
            <a:srgbClr val="112B54"/>
          </a:solidFill>
          <a:ln w="9525">
            <a:solidFill>
              <a:srgbClr val="33A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06440" y="4183380"/>
            <a:ext cx="685800" cy="6858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06440" y="4183380"/>
            <a:ext cx="685800" cy="685800"/>
          </a:xfrm>
          <a:prstGeom prst="rect">
            <a:avLst/>
          </a:prstGeom>
          <a:noFill/>
        </p:spPr>
        <p:txBody>
          <a:bodyPr wrap="none" anchor="ctr" lIns="0" rIns="0" tIns="0" bIns="0">
            <a:spAutoFit/>
          </a:bodyPr>
          <a:lstStyle/>
          <a:p>
            <a:pPr algn="ctr"/>
            <a:r>
              <a:rPr sz="2600">
                <a:solidFill>
                  <a:srgbClr val="FFFFFF"/>
                </a:solidFill>
                <a:latin typeface="Segoe UI Emoji"/>
              </a:rPr>
              <a:t>❤</a:t>
            </a:r>
          </a:p>
        </p:txBody>
      </p:sp>
      <p:sp>
        <p:nvSpPr>
          <p:cNvPr id="29" name="TextBox 28"/>
          <p:cNvSpPr txBox="1"/>
          <p:nvPr/>
        </p:nvSpPr>
        <p:spPr>
          <a:xfrm>
            <a:off x="4480560" y="5029200"/>
            <a:ext cx="3337560" cy="457200"/>
          </a:xfrm>
          <a:prstGeom prst="rect">
            <a:avLst/>
          </a:prstGeom>
          <a:noFill/>
        </p:spPr>
        <p:txBody>
          <a:bodyPr wrap="square" anchor="t" lIns="0" rIns="0" tIns="0" bIns="0">
            <a:spAutoFit/>
          </a:bodyPr>
          <a:lstStyle/>
          <a:p>
            <a:pPr algn="ctr"/>
            <a:r>
              <a:rPr sz="1300" b="1" i="0">
                <a:solidFill>
                  <a:srgbClr val="FFFFFF"/>
                </a:solidFill>
                <a:latin typeface="Segoe UI"/>
              </a:rPr>
              <a:t>Parents</a:t>
            </a:r>
          </a:p>
        </p:txBody>
      </p:sp>
      <p:sp>
        <p:nvSpPr>
          <p:cNvPr id="30" name="TextBox 29"/>
          <p:cNvSpPr txBox="1"/>
          <p:nvPr/>
        </p:nvSpPr>
        <p:spPr>
          <a:xfrm>
            <a:off x="4526280" y="5486400"/>
            <a:ext cx="3246120" cy="640080"/>
          </a:xfrm>
          <a:prstGeom prst="rect">
            <a:avLst/>
          </a:prstGeom>
          <a:noFill/>
        </p:spPr>
        <p:txBody>
          <a:bodyPr wrap="square" anchor="t" lIns="0" rIns="0" tIns="0" bIns="0">
            <a:spAutoFit/>
          </a:bodyPr>
          <a:lstStyle/>
          <a:p>
            <a:pPr algn="ctr"/>
            <a:r>
              <a:rPr sz="1050" b="0" i="0">
                <a:solidFill>
                  <a:srgbClr val="33A7E0"/>
                </a:solidFill>
                <a:latin typeface="Segoe UI"/>
              </a:rPr>
              <a:t>For constant encouragement and patience</a:t>
            </a:r>
          </a:p>
        </p:txBody>
      </p:sp>
      <p:sp>
        <p:nvSpPr>
          <p:cNvPr id="31" name="TextBox 30"/>
          <p:cNvSpPr txBox="1"/>
          <p:nvPr/>
        </p:nvSpPr>
        <p:spPr>
          <a:xfrm>
            <a:off x="11475720" y="6528816"/>
            <a:ext cx="548640" cy="274320"/>
          </a:xfrm>
          <a:prstGeom prst="rect">
            <a:avLst/>
          </a:prstGeom>
          <a:noFill/>
        </p:spPr>
        <p:txBody>
          <a:bodyPr wrap="square" anchor="t" lIns="0" rIns="0" tIns="0" bIns="0">
            <a:spAutoFit/>
          </a:bodyPr>
          <a:lstStyle/>
          <a:p>
            <a:pPr algn="r"/>
            <a:r>
              <a:rPr sz="1100" b="0" i="0">
                <a:solidFill>
                  <a:srgbClr val="5A6474"/>
                </a:solidFill>
                <a:latin typeface="Segoe UI"/>
              </a:rPr>
              <a:t>19</a:t>
            </a:r>
          </a:p>
        </p:txBody>
      </p:sp>
      <p:sp>
        <p:nvSpPr>
          <p:cNvPr id="32" name="TextBox 31"/>
          <p:cNvSpPr txBox="1"/>
          <p:nvPr/>
        </p:nvSpPr>
        <p:spPr>
          <a:xfrm>
            <a:off x="502920" y="6528816"/>
            <a:ext cx="3657600" cy="274320"/>
          </a:xfrm>
          <a:prstGeom prst="rect">
            <a:avLst/>
          </a:prstGeom>
          <a:noFill/>
        </p:spPr>
        <p:txBody>
          <a:bodyPr wrap="square" anchor="t" lIns="0" rIns="0" tIns="0" bIns="0">
            <a:spAutoFit/>
          </a:bodyPr>
          <a:lstStyle/>
          <a:p>
            <a:pPr algn="l"/>
            <a:r>
              <a:rPr sz="1100" b="0" i="0">
                <a:solidFill>
                  <a:srgbClr val="5A6474"/>
                </a:solidFill>
                <a:latin typeface="Segoe UI"/>
              </a:rPr>
              <a:t>EasyBus Pro  |  Internship Project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F3F"/>
        </a:solidFill>
        <a:effectLst/>
      </p:bgPr>
    </p:bg>
    <p:spTree>
      <p:nvGrpSpPr>
        <p:cNvPr id="1" name=""/>
        <p:cNvGrpSpPr/>
        <p:nvPr/>
      </p:nvGrpSpPr>
      <p:grpSpPr/>
      <p:sp>
        <p:nvSpPr>
          <p:cNvPr id="2" name="Oval 1"/>
          <p:cNvSpPr/>
          <p:nvPr/>
        </p:nvSpPr>
        <p:spPr>
          <a:xfrm>
            <a:off x="8961120" y="-1371600"/>
            <a:ext cx="4114800" cy="4114800"/>
          </a:xfrm>
          <a:prstGeom prst="ellipse">
            <a:avLst/>
          </a:prstGeom>
          <a:solidFill>
            <a:srgbClr val="112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389120"/>
            <a:ext cx="3291840" cy="3291840"/>
          </a:xfrm>
          <a:prstGeom prst="ellipse">
            <a:avLst/>
          </a:prstGeom>
          <a:solidFill>
            <a:srgbClr val="112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638648" y="1508760"/>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38648" y="1508760"/>
            <a:ext cx="914400" cy="914400"/>
          </a:xfrm>
          <a:prstGeom prst="rect">
            <a:avLst/>
          </a:prstGeom>
          <a:noFill/>
        </p:spPr>
        <p:txBody>
          <a:bodyPr wrap="none" anchor="ctr" lIns="0" rIns="0" tIns="0" bIns="0">
            <a:spAutoFit/>
          </a:bodyPr>
          <a:lstStyle/>
          <a:p>
            <a:pPr algn="ctr"/>
            <a:r>
              <a:rPr sz="3400">
                <a:solidFill>
                  <a:srgbClr val="FFFFFF"/>
                </a:solidFill>
                <a:latin typeface="Segoe UI Emoji"/>
              </a:rPr>
              <a:t>🚌</a:t>
            </a:r>
          </a:p>
        </p:txBody>
      </p:sp>
      <p:sp>
        <p:nvSpPr>
          <p:cNvPr id="6" name="TextBox 5"/>
          <p:cNvSpPr txBox="1"/>
          <p:nvPr/>
        </p:nvSpPr>
        <p:spPr>
          <a:xfrm>
            <a:off x="0" y="2606040"/>
            <a:ext cx="12191695" cy="914400"/>
          </a:xfrm>
          <a:prstGeom prst="rect">
            <a:avLst/>
          </a:prstGeom>
          <a:noFill/>
        </p:spPr>
        <p:txBody>
          <a:bodyPr wrap="square" anchor="t" lIns="0" rIns="0" tIns="0" bIns="0">
            <a:spAutoFit/>
          </a:bodyPr>
          <a:lstStyle/>
          <a:p>
            <a:pPr algn="ctr"/>
            <a:r>
              <a:rPr sz="4800" b="1" i="0">
                <a:solidFill>
                  <a:srgbClr val="FFFFFF"/>
                </a:solidFill>
                <a:latin typeface="Segoe UI"/>
              </a:rPr>
              <a:t>Thank You</a:t>
            </a:r>
          </a:p>
        </p:txBody>
      </p:sp>
      <p:sp>
        <p:nvSpPr>
          <p:cNvPr id="7" name="TextBox 6"/>
          <p:cNvSpPr txBox="1"/>
          <p:nvPr/>
        </p:nvSpPr>
        <p:spPr>
          <a:xfrm>
            <a:off x="0" y="3383280"/>
            <a:ext cx="12191695" cy="457200"/>
          </a:xfrm>
          <a:prstGeom prst="rect">
            <a:avLst/>
          </a:prstGeom>
          <a:noFill/>
        </p:spPr>
        <p:txBody>
          <a:bodyPr wrap="square" anchor="t" lIns="0" rIns="0" tIns="0" bIns="0">
            <a:spAutoFit/>
          </a:bodyPr>
          <a:lstStyle/>
          <a:p>
            <a:pPr algn="ctr"/>
            <a:r>
              <a:rPr sz="1800" b="0" i="0">
                <a:solidFill>
                  <a:srgbClr val="33A7E0"/>
                </a:solidFill>
                <a:latin typeface="Segoe UI"/>
              </a:rPr>
              <a:t>Questions &amp; Discussion Welcome</a:t>
            </a:r>
          </a:p>
        </p:txBody>
      </p:sp>
      <p:sp>
        <p:nvSpPr>
          <p:cNvPr id="8" name="Rectangle 7"/>
          <p:cNvSpPr/>
          <p:nvPr/>
        </p:nvSpPr>
        <p:spPr>
          <a:xfrm>
            <a:off x="5364328" y="3977639"/>
            <a:ext cx="1463040" cy="381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0" y="4297680"/>
            <a:ext cx="12191695" cy="365760"/>
          </a:xfrm>
          <a:prstGeom prst="rect">
            <a:avLst/>
          </a:prstGeom>
          <a:noFill/>
        </p:spPr>
        <p:txBody>
          <a:bodyPr wrap="square" anchor="t" lIns="0" rIns="0" tIns="0" bIns="0">
            <a:spAutoFit/>
          </a:bodyPr>
          <a:lstStyle/>
          <a:p>
            <a:pPr algn="ctr"/>
            <a:r>
              <a:rPr sz="1400" b="0" i="0">
                <a:solidFill>
                  <a:srgbClr val="FFFFFF"/>
                </a:solidFill>
                <a:latin typeface="Segoe UI"/>
              </a:rPr>
              <a:t>S. Sowmya  |  2023003449</a:t>
            </a:r>
          </a:p>
        </p:txBody>
      </p:sp>
      <p:sp>
        <p:nvSpPr>
          <p:cNvPr id="10" name="TextBox 9"/>
          <p:cNvSpPr txBox="1"/>
          <p:nvPr/>
        </p:nvSpPr>
        <p:spPr>
          <a:xfrm>
            <a:off x="0" y="4663440"/>
            <a:ext cx="12191695" cy="365760"/>
          </a:xfrm>
          <a:prstGeom prst="rect">
            <a:avLst/>
          </a:prstGeom>
          <a:noFill/>
        </p:spPr>
        <p:txBody>
          <a:bodyPr wrap="square" anchor="t" lIns="0" rIns="0" tIns="0" bIns="0">
            <a:spAutoFit/>
          </a:bodyPr>
          <a:lstStyle/>
          <a:p>
            <a:pPr algn="ctr"/>
            <a:r>
              <a:rPr sz="1250" b="0" i="0">
                <a:solidFill>
                  <a:srgbClr val="33A7E0"/>
                </a:solidFill>
                <a:latin typeface="Segoe UI"/>
              </a:rPr>
              <a:t>GITAM (Deemed to be University), Hyderabad</a:t>
            </a:r>
          </a:p>
        </p:txBody>
      </p:sp>
      <p:sp>
        <p:nvSpPr>
          <p:cNvPr id="11" name="TextBox 10"/>
          <p:cNvSpPr txBox="1"/>
          <p:nvPr/>
        </p:nvSpPr>
        <p:spPr>
          <a:xfrm>
            <a:off x="0" y="4983480"/>
            <a:ext cx="12191695" cy="365760"/>
          </a:xfrm>
          <a:prstGeom prst="rect">
            <a:avLst/>
          </a:prstGeom>
          <a:noFill/>
        </p:spPr>
        <p:txBody>
          <a:bodyPr wrap="square" anchor="t" lIns="0" rIns="0" tIns="0" bIns="0">
            <a:spAutoFit/>
          </a:bodyPr>
          <a:lstStyle/>
          <a:p>
            <a:pPr algn="ctr"/>
            <a:r>
              <a:rPr sz="1250" b="0" i="0">
                <a:solidFill>
                  <a:srgbClr val="33A7E0"/>
                </a:solidFill>
                <a:latin typeface="Segoe UI"/>
              </a:rPr>
              <a:t>Internship Project: EasyBus Pro  |  DayLearner Private Limited</a:t>
            </a:r>
          </a:p>
        </p:txBody>
      </p:sp>
      <p:sp>
        <p:nvSpPr>
          <p:cNvPr id="12" name="TextBox 11"/>
          <p:cNvSpPr txBox="1"/>
          <p:nvPr/>
        </p:nvSpPr>
        <p:spPr>
          <a:xfrm>
            <a:off x="0" y="5394960"/>
            <a:ext cx="12191695" cy="365760"/>
          </a:xfrm>
          <a:prstGeom prst="rect">
            <a:avLst/>
          </a:prstGeom>
          <a:noFill/>
        </p:spPr>
        <p:txBody>
          <a:bodyPr wrap="square" anchor="t" lIns="0" rIns="0" tIns="0" bIns="0">
            <a:spAutoFit/>
          </a:bodyPr>
          <a:lstStyle/>
          <a:p>
            <a:pPr algn="ctr"/>
            <a:r>
              <a:rPr sz="1150" b="0" i="1">
                <a:solidFill>
                  <a:srgbClr val="5A6474"/>
                </a:solidFill>
                <a:latin typeface="Segoe UI"/>
              </a:rPr>
              <a:t>&lt;&lt; student e-mail / contact placeholder &gt;&gt;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